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 id="2147483657" r:id="rId5"/>
  </p:sldMasterIdLst>
  <p:notesMasterIdLst>
    <p:notesMasterId r:id="rId46"/>
  </p:notesMasterIdLst>
  <p:sldIdLst>
    <p:sldId id="361" r:id="rId6"/>
    <p:sldId id="409" r:id="rId7"/>
    <p:sldId id="423" r:id="rId8"/>
    <p:sldId id="424" r:id="rId9"/>
    <p:sldId id="425" r:id="rId10"/>
    <p:sldId id="456" r:id="rId11"/>
    <p:sldId id="457" r:id="rId12"/>
    <p:sldId id="458" r:id="rId13"/>
    <p:sldId id="459" r:id="rId14"/>
    <p:sldId id="447" r:id="rId15"/>
    <p:sldId id="436" r:id="rId16"/>
    <p:sldId id="437" r:id="rId17"/>
    <p:sldId id="438" r:id="rId18"/>
    <p:sldId id="426" r:id="rId19"/>
    <p:sldId id="435" r:id="rId20"/>
    <p:sldId id="429" r:id="rId21"/>
    <p:sldId id="427" r:id="rId22"/>
    <p:sldId id="430" r:id="rId23"/>
    <p:sldId id="431" r:id="rId24"/>
    <p:sldId id="439" r:id="rId25"/>
    <p:sldId id="440" r:id="rId26"/>
    <p:sldId id="441" r:id="rId27"/>
    <p:sldId id="442" r:id="rId28"/>
    <p:sldId id="443" r:id="rId29"/>
    <p:sldId id="444" r:id="rId30"/>
    <p:sldId id="445" r:id="rId31"/>
    <p:sldId id="446" r:id="rId32"/>
    <p:sldId id="460" r:id="rId33"/>
    <p:sldId id="461" r:id="rId34"/>
    <p:sldId id="448" r:id="rId35"/>
    <p:sldId id="449" r:id="rId36"/>
    <p:sldId id="450" r:id="rId37"/>
    <p:sldId id="451" r:id="rId38"/>
    <p:sldId id="452" r:id="rId39"/>
    <p:sldId id="453" r:id="rId40"/>
    <p:sldId id="454" r:id="rId41"/>
    <p:sldId id="455" r:id="rId42"/>
    <p:sldId id="310" r:id="rId43"/>
    <p:sldId id="311" r:id="rId44"/>
    <p:sldId id="313" r:id="rId45"/>
  </p:sldIdLst>
  <p:sldSz cx="9144000" cy="5143500" type="screen16x9"/>
  <p:notesSz cx="6858000" cy="9144000"/>
  <p:embeddedFontLst>
    <p:embeddedFont>
      <p:font typeface="Proxima Nova" panose="020B0604020202020204" charset="0"/>
      <p:regular r:id="rId47"/>
      <p:bold r:id="rId48"/>
      <p:italic r:id="rId49"/>
      <p:boldItalic r:id="rId50"/>
    </p:embeddedFont>
    <p:embeddedFont>
      <p:font typeface="Proxima Nova Semibold" panose="020B0604020202020204" charset="0"/>
      <p:regular r:id="rId51"/>
      <p:bold r:id="rId52"/>
      <p:boldItalic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95" roundtripDataSignature="AMtx7miPhXGxc0iE9gpBlCh+HQf++GaLa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1958573-18DD-4F4F-87A5-23D0A4D2D5AC}">
  <a:tblStyle styleId="{51958573-18DD-4F4F-87A5-23D0A4D2D5AC}"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b="off" i="off"/>
      <a:tcStyle>
        <a:tcBdr/>
        <a:fill>
          <a:solidFill>
            <a:srgbClr val="D0DEEF"/>
          </a:solidFill>
        </a:fill>
      </a:tcStyle>
    </a:band1H>
    <a:band2H>
      <a:tcTxStyle b="off" i="off"/>
      <a:tcStyle>
        <a:tcBdr/>
      </a:tcStyle>
    </a:band2H>
    <a:band1V>
      <a:tcTxStyle b="off" i="off"/>
      <a:tcStyle>
        <a:tcBdr/>
        <a:fill>
          <a:solidFill>
            <a:srgbClr val="D0DEEF"/>
          </a:solidFill>
        </a:fill>
      </a:tcStyle>
    </a:band1V>
    <a:band2V>
      <a:tcTxStyle b="off" i="off"/>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7FDA3176-15EB-4DB9-A849-97660B76C8F7}" styleName="Table_1">
    <a:wholeTbl>
      <a:tcTxStyle b="off" i="off">
        <a:font>
          <a:latin typeface="Arial"/>
          <a:ea typeface="Arial"/>
          <a:cs typeface="Arial"/>
        </a:font>
        <a:srgbClr val="000000"/>
      </a:tcTxStyle>
      <a:tcStyle>
        <a:tcBdr>
          <a:left>
            <a:ln w="9525" cap="flat" cmpd="sng">
              <a:solidFill>
                <a:srgbClr val="4472C4"/>
              </a:solidFill>
              <a:prstDash val="solid"/>
              <a:round/>
              <a:headEnd type="none" w="sm" len="sm"/>
              <a:tailEnd type="none" w="sm" len="sm"/>
            </a:ln>
          </a:left>
          <a:right>
            <a:ln w="9525" cap="flat" cmpd="sng">
              <a:solidFill>
                <a:srgbClr val="4472C4"/>
              </a:solidFill>
              <a:prstDash val="solid"/>
              <a:round/>
              <a:headEnd type="none" w="sm" len="sm"/>
              <a:tailEnd type="none" w="sm" len="sm"/>
            </a:ln>
          </a:right>
          <a:top>
            <a:ln w="9525" cap="flat" cmpd="sng">
              <a:solidFill>
                <a:srgbClr val="4472C4"/>
              </a:solidFill>
              <a:prstDash val="solid"/>
              <a:round/>
              <a:headEnd type="none" w="sm" len="sm"/>
              <a:tailEnd type="none" w="sm" len="sm"/>
            </a:ln>
          </a:top>
          <a:bottom>
            <a:ln w="9525" cap="flat" cmpd="sng">
              <a:solidFill>
                <a:srgbClr val="4472C4"/>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op>
            <a:ln w="9525" cap="flat" cmpd="sng">
              <a:solidFill>
                <a:srgbClr val="4472C4"/>
              </a:solidFill>
              <a:prstDash val="solid"/>
              <a:round/>
              <a:headEnd type="none" w="sm" len="sm"/>
              <a:tailEnd type="none" w="sm" len="sm"/>
            </a:ln>
          </a:top>
          <a:bottom>
            <a:ln w="9525" cap="flat" cmpd="sng">
              <a:solidFill>
                <a:srgbClr val="4472C4"/>
              </a:solidFill>
              <a:prstDash val="solid"/>
              <a:round/>
              <a:headEnd type="none" w="sm" len="sm"/>
              <a:tailEnd type="none" w="sm" len="sm"/>
            </a:ln>
          </a:bottom>
        </a:tcBdr>
      </a:tcStyle>
    </a:band1H>
    <a:band2H>
      <a:tcTxStyle b="off" i="off"/>
      <a:tcStyle>
        <a:tcBdr/>
      </a:tcStyle>
    </a:band2H>
    <a:band1V>
      <a:tcTxStyle b="off" i="off"/>
      <a:tcStyle>
        <a:tcBdr>
          <a:left>
            <a:ln w="9525" cap="flat" cmpd="sng">
              <a:solidFill>
                <a:srgbClr val="4472C4"/>
              </a:solidFill>
              <a:prstDash val="solid"/>
              <a:round/>
              <a:headEnd type="none" w="sm" len="sm"/>
              <a:tailEnd type="none" w="sm" len="sm"/>
            </a:ln>
          </a:left>
          <a:right>
            <a:ln w="9525" cap="flat" cmpd="sng">
              <a:solidFill>
                <a:srgbClr val="4472C4"/>
              </a:solidFill>
              <a:prstDash val="solid"/>
              <a:round/>
              <a:headEnd type="none" w="sm" len="sm"/>
              <a:tailEnd type="none" w="sm" len="sm"/>
            </a:ln>
          </a:right>
        </a:tcBdr>
      </a:tcStyle>
    </a:band1V>
    <a:band2V>
      <a:tcTxStyle b="off" i="off"/>
      <a:tcStyle>
        <a:tcBdr>
          <a:left>
            <a:ln w="9525" cap="flat" cmpd="sng">
              <a:solidFill>
                <a:srgbClr val="4472C4"/>
              </a:solidFill>
              <a:prstDash val="solid"/>
              <a:round/>
              <a:headEnd type="none" w="sm" len="sm"/>
              <a:tailEnd type="none" w="sm" len="sm"/>
            </a:ln>
          </a:left>
          <a:right>
            <a:ln w="9525" cap="flat" cmpd="sng">
              <a:solidFill>
                <a:srgbClr val="4472C4"/>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rgbClr val="4472C4"/>
              </a:solidFill>
              <a:prstDash val="solid"/>
              <a:round/>
              <a:headEnd type="none" w="sm" len="sm"/>
              <a:tailEnd type="none" w="sm" len="sm"/>
            </a:ln>
          </a:top>
        </a:tcBdr>
      </a:tcStyle>
    </a:lastRow>
    <a:seCell>
      <a:tcTxStyle b="off" i="off"/>
      <a:tcStyle>
        <a:tcBdr/>
      </a:tcStyle>
    </a:seCell>
    <a:swCell>
      <a:tcTxStyle b="off" i="off"/>
      <a:tcStyle>
        <a:tcBdr/>
      </a:tcStyle>
    </a:swCell>
    <a:firstRow>
      <a:tcTxStyle b="on" i="off">
        <a:font>
          <a:latin typeface="Arial"/>
          <a:ea typeface="Arial"/>
          <a:cs typeface="Arial"/>
        </a:font>
        <a:srgbClr val="FFFFFF"/>
      </a:tcTxStyle>
      <a:tcStyle>
        <a:tcBdr/>
        <a:fill>
          <a:solidFill>
            <a:srgbClr val="4472C4"/>
          </a:solidFill>
        </a:fill>
      </a:tcStyle>
    </a:firstRow>
    <a:neCell>
      <a:tcTxStyle b="off" i="off"/>
      <a:tcStyle>
        <a:tcBdr/>
      </a:tcStyle>
    </a:neCell>
    <a:nwCell>
      <a:tcTxStyle b="off" i="off"/>
      <a:tcStyle>
        <a:tcBdr/>
      </a:tcStyle>
    </a:nwCell>
  </a:tblStyle>
  <a:tblStyle styleId="{1B9BAF51-D252-47A5-B818-23F1545D66B1}" styleName="Table_2">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428" autoAdjust="0"/>
    <p:restoredTop sz="94660"/>
  </p:normalViewPr>
  <p:slideViewPr>
    <p:cSldViewPr snapToGrid="0">
      <p:cViewPr>
        <p:scale>
          <a:sx n="100" d="100"/>
          <a:sy n="100" d="100"/>
        </p:scale>
        <p:origin x="725" y="30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font" Target="fonts/font1.fntdata"/><Relationship Id="rId50" Type="http://schemas.openxmlformats.org/officeDocument/2006/relationships/font" Target="fonts/font4.fntdata"/><Relationship Id="rId97"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9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font" Target="fonts/font7.fntdata"/><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font" Target="fonts/font3.fntdata"/><Relationship Id="rId95" Type="http://customschemas.google.com/relationships/presentationmetadata" Target="metadata"/><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font" Target="fonts/font6.fntdata"/><Relationship Id="rId9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font" Target="fonts/font2.fntdata"/><Relationship Id="rId8" Type="http://schemas.openxmlformats.org/officeDocument/2006/relationships/slide" Target="slides/slide3.xml"/><Relationship Id="rId51" Type="http://schemas.openxmlformats.org/officeDocument/2006/relationships/font" Target="fonts/font5.fntdata"/><Relationship Id="rId98" Type="http://schemas.openxmlformats.org/officeDocument/2006/relationships/theme" Target="theme/theme1.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13576357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27625e78053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1" name="Google Shape;401;g27625e78053_0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479070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AC0383B5-4664-4866-600C-C0746F9D598B}"/>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8A882935-B114-2F97-E82F-DA1E4E1087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7D816E20-B882-4520-C67D-515BB9F4417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253238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441060CC-7012-7EEC-FCBE-8463D2EBB8E9}"/>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8A91854B-F7D8-F4C5-D203-B3699FB700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1A18499E-34C3-228D-DD10-4754C27BA54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613778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D657B304-06CC-1F92-6DEB-B4DFE63CE5DF}"/>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729502BC-5CC0-A495-ACB7-FD79178357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E1D9B119-91B9-C431-50AF-94680A16315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355516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558ED6EE-D096-9DA9-3D90-FBCC2B6E0F34}"/>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BDE9BBB2-50EF-6500-14EC-5F0F1E73E7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D79F2AB3-4874-9633-A325-E6066318F83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508044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E01E2498-4A47-EDEC-B5F6-44EF87DCA533}"/>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C804BD90-C2A7-6451-6C02-D010FD3E5B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EBA936D2-DCC7-FB99-87D4-E1A90AF368F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699862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F35B4E4B-2A41-F0D3-3DE9-4D58D564861A}"/>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AAB4BA1A-7E1C-9AE7-4040-AF51B8FD0E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C778331B-9CBE-E500-4899-66BAD586754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662159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81193754-DCF8-1FD2-D66E-720BF9D0B587}"/>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A734FA76-A8E7-D01F-DE52-5FF4C493B8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32A4FF14-50D9-BD17-0BC6-238A5EC48B4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628130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D9E3F1C0-5507-1921-653A-4DC4B57FCE14}"/>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8FD500C2-69E5-D8C7-CC37-2B0A4CA480A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103E8B55-42B8-106C-6BAD-C4A9A639447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727531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a:extLst>
            <a:ext uri="{FF2B5EF4-FFF2-40B4-BE49-F238E27FC236}">
              <a16:creationId xmlns:a16="http://schemas.microsoft.com/office/drawing/2014/main" id="{276DC3EA-02F8-82AC-981C-E9834A54214B}"/>
            </a:ext>
          </a:extLst>
        </p:cNvPr>
        <p:cNvGrpSpPr/>
        <p:nvPr/>
      </p:nvGrpSpPr>
      <p:grpSpPr>
        <a:xfrm>
          <a:off x="0" y="0"/>
          <a:ext cx="0" cy="0"/>
          <a:chOff x="0" y="0"/>
          <a:chExt cx="0" cy="0"/>
        </a:xfrm>
      </p:grpSpPr>
      <p:sp>
        <p:nvSpPr>
          <p:cNvPr id="400" name="Google Shape;400;g27625e78053_0_64:notes">
            <a:extLst>
              <a:ext uri="{FF2B5EF4-FFF2-40B4-BE49-F238E27FC236}">
                <a16:creationId xmlns:a16="http://schemas.microsoft.com/office/drawing/2014/main" id="{2F786310-607E-0DD8-50B3-11649EEA08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1" name="Google Shape;401;g27625e78053_0_64:notes">
            <a:extLst>
              <a:ext uri="{FF2B5EF4-FFF2-40B4-BE49-F238E27FC236}">
                <a16:creationId xmlns:a16="http://schemas.microsoft.com/office/drawing/2014/main" id="{2F92E187-A5A3-6DE4-9D0D-08E8F0E6E2E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28459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4D9AE60D-AEAA-8E99-0736-4346A7CCB36F}"/>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18263AB0-970A-B240-D210-8044E18C64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0A74480F-5EBC-DBCE-0E2D-838703BB368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182974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5AE7C29F-19FB-2819-B83F-2F060F635E6D}"/>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7221E553-8A7E-FDF8-48F9-B84261603C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E9DAE275-C021-9BD9-860D-8946E18CA8B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1431349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E55B9A9E-1DB6-4878-F247-FC4FEAA925CF}"/>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874B68D9-B2B4-B72D-31D8-1CA18A2D49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13B6927D-1998-D825-89A2-E84B45DE8EB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672501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76A1AE19-94EC-7B1D-7CB9-C4A17BDABEE1}"/>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45590C2F-75D3-651E-BC36-22E9D4CEE4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3E1365EF-8E04-5618-EB5A-3522DECC0EA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761325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B0255974-E6D2-2D7B-A76D-B2ADD48BC94E}"/>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CC4A332E-A19A-C5C0-C585-D269C20A97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7070075B-0126-AD10-C15E-8EEB9FB327E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863650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328460DB-AC9E-B79E-21FA-9274FEB19B94}"/>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0AEC31C0-1C09-925B-91BA-0AFC051752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B254FB3F-5937-16F9-195E-59C6FBC8D47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360365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E89173FC-01EA-D499-E6D1-7579AD1415B9}"/>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CC27A8F2-0D31-E32E-C6B1-6D33D364B7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82DE3696-8407-2B1D-EC5B-0546372532F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602413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3172799F-AAD0-6C6D-F94C-596329C4DF09}"/>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FE56D4D7-1265-390A-3187-DDA6573C3D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8A218B0D-0A27-2A72-4629-5B055618E77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561830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0C0B97E8-0A93-0284-58EE-AECD15442C69}"/>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691124BC-F7B2-C4D5-21E6-63ACB06B17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626FCB00-2273-6BFA-9595-38368C585C9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44688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E1B6AD1B-F070-E32C-56B8-99D82F66F8FC}"/>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D125FB43-9F97-AC3A-9A74-806439743B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0D579901-9B98-E0B8-99A8-64A08A4738E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178835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0F488A36-39A0-BE7A-9129-37E0A5691821}"/>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6F58FCF8-28F3-355A-7E82-7BBDE3FC0B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DB3BF7C9-3D5F-FBB6-F264-380AD1EC0CD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045492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D01916E3-2794-598E-BC40-DCBBF6203FD7}"/>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99DF3EC6-CDEE-8F7B-EFB9-792D71F176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947CB3CA-27BF-5B0C-2803-F5F5D1E7216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979589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720A5764-56E1-C2AC-4230-E3B2154EBFF1}"/>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21FF3708-0B0B-D904-740A-770B723EA30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9F0312A4-CB73-B288-2603-AABDA8A8DBB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676847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1527E98D-71FC-4927-9B88-E524C02EC7D7}"/>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3381B028-1CA7-E783-F8F5-FFD2A31827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DE05CD42-C0B8-7FE6-7A44-3178E575049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080837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E187B698-66F1-5244-6254-86189999FF3B}"/>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168B62DA-1FF0-B0B1-A92A-C754EEC3BE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F4412C6B-876D-9AA3-D595-E58F8C23492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663831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A68E7500-2DE5-6BB1-2645-307CEF3A5A3C}"/>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081C45B1-C54D-C00D-D16F-5E316028BF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1300F45D-CEDB-C4E6-AC69-31CF0BE126B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1115804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F2094248-14D4-4979-D526-87D5735EAB27}"/>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0733983F-6CF1-9EAF-7D6B-F9AB5C01A3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757578BB-552F-6D19-59BA-2247C49D36D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405157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E918DA78-C079-5D63-DEBD-DE25E76266E7}"/>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4CC28718-FBFC-6FCE-1D30-85118B35F2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C34A956D-737B-B54E-CAB6-1A398F265A0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061742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0A14E9EB-A015-3ADD-CB0E-237F35F07DE8}"/>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5FAF9529-2213-85FF-B3D9-6F9494F988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988D6D77-CB5B-DA6D-63C1-9C739FC2AF8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628320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43AF2EE0-0987-7E2B-C916-7F073EC57A34}"/>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331BC6C7-0D3A-ED5A-F61E-18F0DD90CC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C8F5920A-706A-3E99-FE32-B801CA500F6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497948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06D5196F-722B-176A-F754-249ECA5CA276}"/>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F7ADDFFA-0488-4417-EA2A-C04EBFB82FA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4EC3B6CB-84E2-459F-6334-ADCA5AD1D1E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850314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6A0CF60C-C598-FF8E-0FA5-9100A24DFEEF}"/>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EB8B77B9-C566-8E67-EBCD-FD450E4B6C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29359D03-BDAE-F7CD-8138-FFA9B54445F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889259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F45C47D9-642E-572E-A704-41DA2EDAAFD1}"/>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C5A891E6-AEDB-255E-A6CD-D0CFD5CEFB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A1A53C62-1D39-3E06-A9F2-D03FD8D8D15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471307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5FB0763F-E8D0-036A-5E1A-CAE53078BB36}"/>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8B9A62C9-5957-3587-A565-D0A940F346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A893B4EA-842C-53CE-63A9-A232941CC6D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514013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FBBA5103-6BC6-A217-F632-C959F7C88D45}"/>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11BFC3BA-E111-F980-6B49-0D33FB80128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9B0063BC-20DC-7E16-6FC9-E200970915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579042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69BFDC2A-2EA6-EB62-D98F-17B14B116DEB}"/>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8380CBE9-4700-D247-6ACF-8C079F8A73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B59779F0-B84A-60BA-DB2C-65D38980FB7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130157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B5A9461B-08BA-74C6-10A8-C11A7EFFD68C}"/>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8AF1D32C-2EAF-D7DD-C504-696AD05E3F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F2075403-A745-C30E-A878-61F9BA68506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2099407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7" name="Google Shape;487;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4286067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5" name="Google Shape;495;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998637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7" name="Google Shape;507;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295000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break  - White ">
  <p:cSld name="TITLE_1_1_1_1_1_1_1_1_1_1_1_1_1_2">
    <p:bg>
      <p:bgPr>
        <a:noFill/>
        <a:effectLst/>
      </p:bgPr>
    </p:bg>
    <p:spTree>
      <p:nvGrpSpPr>
        <p:cNvPr id="1" name="Shape 12"/>
        <p:cNvGrpSpPr/>
        <p:nvPr/>
      </p:nvGrpSpPr>
      <p:grpSpPr>
        <a:xfrm>
          <a:off x="0" y="0"/>
          <a:ext cx="0" cy="0"/>
          <a:chOff x="0" y="0"/>
          <a:chExt cx="0" cy="0"/>
        </a:xfrm>
      </p:grpSpPr>
      <p:sp>
        <p:nvSpPr>
          <p:cNvPr id="13" name="Google Shape;13;p20"/>
          <p:cNvSpPr txBox="1">
            <a:spLocks noGrp="1"/>
          </p:cNvSpPr>
          <p:nvPr>
            <p:ph type="title"/>
          </p:nvPr>
        </p:nvSpPr>
        <p:spPr>
          <a:xfrm>
            <a:off x="457200" y="1070150"/>
            <a:ext cx="4769100" cy="2555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4000"/>
              <a:buFont typeface="Proxima Nova"/>
              <a:buNone/>
              <a:defRPr sz="4000" b="0"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4" name="Google Shape;14;p20"/>
          <p:cNvSpPr/>
          <p:nvPr/>
        </p:nvSpPr>
        <p:spPr>
          <a:xfrm rot="10800000" flipH="1">
            <a:off x="457200" y="809428"/>
            <a:ext cx="3276300" cy="104400"/>
          </a:xfrm>
          <a:prstGeom prst="rect">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roxima Nova"/>
              <a:ea typeface="Proxima Nova"/>
              <a:cs typeface="Proxima Nova"/>
              <a:sym typeface="Proxima Nova"/>
            </a:endParaRPr>
          </a:p>
        </p:txBody>
      </p:sp>
    </p:spTree>
  </p:cSld>
  <p:clrMapOvr>
    <a:masterClrMapping/>
  </p:clrMapOvr>
  <p:extLst>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hank you 1">
  <p:cSld name="CUSTOM_2">
    <p:spTree>
      <p:nvGrpSpPr>
        <p:cNvPr id="1" name="Shape 18"/>
        <p:cNvGrpSpPr/>
        <p:nvPr/>
      </p:nvGrpSpPr>
      <p:grpSpPr>
        <a:xfrm>
          <a:off x="0" y="0"/>
          <a:ext cx="0" cy="0"/>
          <a:chOff x="0" y="0"/>
          <a:chExt cx="0" cy="0"/>
        </a:xfrm>
      </p:grpSpPr>
      <p:sp>
        <p:nvSpPr>
          <p:cNvPr id="19" name="Google Shape;19;p23"/>
          <p:cNvSpPr txBox="1"/>
          <p:nvPr/>
        </p:nvSpPr>
        <p:spPr>
          <a:xfrm>
            <a:off x="2099100" y="1456925"/>
            <a:ext cx="5262000" cy="800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4400"/>
              <a:buFont typeface="Arial"/>
              <a:buNone/>
            </a:pPr>
            <a:r>
              <a:rPr lang="en" sz="4400" b="0" i="0" u="none" strike="noStrike" cap="none">
                <a:solidFill>
                  <a:schemeClr val="accent1"/>
                </a:solidFill>
                <a:latin typeface="Proxima Nova"/>
                <a:ea typeface="Proxima Nova"/>
                <a:cs typeface="Proxima Nova"/>
                <a:sym typeface="Proxima Nova"/>
              </a:rPr>
              <a:t>THANK YOU</a:t>
            </a:r>
            <a:endParaRPr sz="4400" b="0" i="0" u="none" strike="noStrike" cap="none">
              <a:solidFill>
                <a:schemeClr val="accent1"/>
              </a:solidFill>
              <a:latin typeface="Proxima Nova"/>
              <a:ea typeface="Proxima Nova"/>
              <a:cs typeface="Proxima Nova"/>
              <a:sym typeface="Proxima Nova"/>
            </a:endParaRPr>
          </a:p>
        </p:txBody>
      </p:sp>
      <p:sp>
        <p:nvSpPr>
          <p:cNvPr id="20" name="Google Shape;20;p23"/>
          <p:cNvSpPr txBox="1">
            <a:spLocks noGrp="1"/>
          </p:cNvSpPr>
          <p:nvPr>
            <p:ph type="subTitle" idx="1"/>
          </p:nvPr>
        </p:nvSpPr>
        <p:spPr>
          <a:xfrm>
            <a:off x="2092775" y="2305650"/>
            <a:ext cx="5271900" cy="3207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2pPr>
            <a:lvl3pPr marR="0" lvl="2"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3pPr>
            <a:lvl4pPr marR="0" lvl="3"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4pPr>
            <a:lvl5pPr marR="0" lvl="4"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5pPr>
            <a:lvl6pPr marR="0" lvl="5"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6pPr>
            <a:lvl7pPr marR="0" lvl="6"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7pPr>
            <a:lvl8pPr marR="0" lvl="7"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8pPr>
            <a:lvl9pPr marR="0" lvl="8"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9pPr>
          </a:lstStyle>
          <a:p>
            <a:endParaRPr/>
          </a:p>
        </p:txBody>
      </p:sp>
      <p:sp>
        <p:nvSpPr>
          <p:cNvPr id="23" name="Google Shape;23;p23"/>
          <p:cNvSpPr/>
          <p:nvPr/>
        </p:nvSpPr>
        <p:spPr>
          <a:xfrm>
            <a:off x="2166199" y="3057550"/>
            <a:ext cx="6492300" cy="27900"/>
          </a:xfrm>
          <a:prstGeom prst="rect">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roxima Nova"/>
              <a:ea typeface="Proxima Nova"/>
              <a:cs typeface="Proxima Nova"/>
              <a:sym typeface="Proxima Nova"/>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ouble coulmn">
  <p:cSld name="TITLE_1_1_1_1_1_1">
    <p:bg>
      <p:bgPr>
        <a:noFill/>
        <a:effectLst/>
      </p:bgPr>
    </p:bg>
    <p:spTree>
      <p:nvGrpSpPr>
        <p:cNvPr id="1" name="Shape 33"/>
        <p:cNvGrpSpPr/>
        <p:nvPr/>
      </p:nvGrpSpPr>
      <p:grpSpPr>
        <a:xfrm>
          <a:off x="0" y="0"/>
          <a:ext cx="0" cy="0"/>
          <a:chOff x="0" y="0"/>
          <a:chExt cx="0" cy="0"/>
        </a:xfrm>
      </p:grpSpPr>
      <p:sp>
        <p:nvSpPr>
          <p:cNvPr id="34" name="Google Shape;34;p25"/>
          <p:cNvSpPr txBox="1">
            <a:spLocks noGrp="1"/>
          </p:cNvSpPr>
          <p:nvPr>
            <p:ph type="subTitle" idx="1"/>
          </p:nvPr>
        </p:nvSpPr>
        <p:spPr>
          <a:xfrm>
            <a:off x="460075" y="929725"/>
            <a:ext cx="37572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5" name="Google Shape;35;p25"/>
          <p:cNvSpPr txBox="1">
            <a:spLocks noGrp="1"/>
          </p:cNvSpPr>
          <p:nvPr>
            <p:ph type="body" idx="2"/>
          </p:nvPr>
        </p:nvSpPr>
        <p:spPr>
          <a:xfrm>
            <a:off x="450500" y="1293950"/>
            <a:ext cx="38532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sp>
        <p:nvSpPr>
          <p:cNvPr id="36" name="Google Shape;36;p25"/>
          <p:cNvSpPr txBox="1">
            <a:spLocks noGrp="1"/>
          </p:cNvSpPr>
          <p:nvPr>
            <p:ph type="subTitle" idx="3"/>
          </p:nvPr>
        </p:nvSpPr>
        <p:spPr>
          <a:xfrm>
            <a:off x="4843175" y="929725"/>
            <a:ext cx="37572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7" name="Google Shape;37;p25"/>
          <p:cNvSpPr txBox="1">
            <a:spLocks noGrp="1"/>
          </p:cNvSpPr>
          <p:nvPr>
            <p:ph type="body" idx="4"/>
          </p:nvPr>
        </p:nvSpPr>
        <p:spPr>
          <a:xfrm>
            <a:off x="4833600" y="1293950"/>
            <a:ext cx="38532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sp>
        <p:nvSpPr>
          <p:cNvPr id="39" name="Google Shape;39;p25"/>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
        <p:nvSpPr>
          <p:cNvPr id="40" name="Google Shape;40;p25"/>
          <p:cNvSpPr txBox="1"/>
          <p:nvPr/>
        </p:nvSpPr>
        <p:spPr>
          <a:xfrm>
            <a:off x="3763400"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
        <p:nvSpPr>
          <p:cNvPr id="42" name="Google Shape;42;p25"/>
          <p:cNvSpPr txBox="1">
            <a:spLocks noGrp="1"/>
          </p:cNvSpPr>
          <p:nvPr>
            <p:ph type="title"/>
          </p:nvPr>
        </p:nvSpPr>
        <p:spPr>
          <a:xfrm>
            <a:off x="469650" y="287550"/>
            <a:ext cx="82173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ingle column with image">
  <p:cSld name="TITLE_1_1_1_1_1_1_1">
    <p:bg>
      <p:bgPr>
        <a:noFill/>
        <a:effectLst/>
      </p:bgPr>
    </p:bg>
    <p:spTree>
      <p:nvGrpSpPr>
        <p:cNvPr id="1" name="Shape 43"/>
        <p:cNvGrpSpPr/>
        <p:nvPr/>
      </p:nvGrpSpPr>
      <p:grpSpPr>
        <a:xfrm>
          <a:off x="0" y="0"/>
          <a:ext cx="0" cy="0"/>
          <a:chOff x="0" y="0"/>
          <a:chExt cx="0" cy="0"/>
        </a:xfrm>
      </p:grpSpPr>
      <p:sp>
        <p:nvSpPr>
          <p:cNvPr id="44" name="Google Shape;44;p26"/>
          <p:cNvSpPr>
            <a:spLocks noGrp="1"/>
          </p:cNvSpPr>
          <p:nvPr>
            <p:ph type="pic" idx="2"/>
          </p:nvPr>
        </p:nvSpPr>
        <p:spPr>
          <a:xfrm>
            <a:off x="5027125" y="0"/>
            <a:ext cx="4116900" cy="5143500"/>
          </a:xfrm>
          <a:prstGeom prst="rect">
            <a:avLst/>
          </a:prstGeom>
          <a:noFill/>
          <a:ln>
            <a:noFill/>
          </a:ln>
        </p:spPr>
      </p:sp>
      <p:sp>
        <p:nvSpPr>
          <p:cNvPr id="45" name="Google Shape;45;p26"/>
          <p:cNvSpPr txBox="1"/>
          <p:nvPr/>
        </p:nvSpPr>
        <p:spPr>
          <a:xfrm>
            <a:off x="3423325"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
        <p:nvSpPr>
          <p:cNvPr id="46" name="Google Shape;46;p26"/>
          <p:cNvSpPr txBox="1">
            <a:spLocks noGrp="1"/>
          </p:cNvSpPr>
          <p:nvPr>
            <p:ph type="subTitle" idx="1"/>
          </p:nvPr>
        </p:nvSpPr>
        <p:spPr>
          <a:xfrm>
            <a:off x="460075" y="1082125"/>
            <a:ext cx="37572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7" name="Google Shape;47;p26"/>
          <p:cNvSpPr txBox="1">
            <a:spLocks noGrp="1"/>
          </p:cNvSpPr>
          <p:nvPr>
            <p:ph type="body" idx="3"/>
          </p:nvPr>
        </p:nvSpPr>
        <p:spPr>
          <a:xfrm>
            <a:off x="450500" y="1446350"/>
            <a:ext cx="38532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sp>
        <p:nvSpPr>
          <p:cNvPr id="49" name="Google Shape;49;p26"/>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
        <p:nvSpPr>
          <p:cNvPr id="51" name="Google Shape;51;p26"/>
          <p:cNvSpPr txBox="1">
            <a:spLocks noGrp="1"/>
          </p:cNvSpPr>
          <p:nvPr>
            <p:ph type="title"/>
          </p:nvPr>
        </p:nvSpPr>
        <p:spPr>
          <a:xfrm>
            <a:off x="469650" y="287550"/>
            <a:ext cx="42846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rofile desciption">
  <p:cSld name="TITLE_1_1_1_1_1_1_1_1_1">
    <p:bg>
      <p:bgPr>
        <a:noFill/>
        <a:effectLst/>
      </p:bgPr>
    </p:bg>
    <p:spTree>
      <p:nvGrpSpPr>
        <p:cNvPr id="1" name="Shape 52"/>
        <p:cNvGrpSpPr/>
        <p:nvPr/>
      </p:nvGrpSpPr>
      <p:grpSpPr>
        <a:xfrm>
          <a:off x="0" y="0"/>
          <a:ext cx="0" cy="0"/>
          <a:chOff x="0" y="0"/>
          <a:chExt cx="0" cy="0"/>
        </a:xfrm>
      </p:grpSpPr>
      <p:sp>
        <p:nvSpPr>
          <p:cNvPr id="53" name="Google Shape;53;p27"/>
          <p:cNvSpPr txBox="1">
            <a:spLocks noGrp="1"/>
          </p:cNvSpPr>
          <p:nvPr>
            <p:ph type="subTitle" idx="1"/>
          </p:nvPr>
        </p:nvSpPr>
        <p:spPr>
          <a:xfrm>
            <a:off x="460075" y="929725"/>
            <a:ext cx="82173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4" name="Google Shape;54;p27"/>
          <p:cNvSpPr/>
          <p:nvPr/>
        </p:nvSpPr>
        <p:spPr>
          <a:xfrm>
            <a:off x="896150" y="1428175"/>
            <a:ext cx="1437900" cy="1437900"/>
          </a:xfrm>
          <a:prstGeom prst="donut">
            <a:avLst>
              <a:gd name="adj" fmla="val 5329"/>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27"/>
          <p:cNvSpPr>
            <a:spLocks noGrp="1"/>
          </p:cNvSpPr>
          <p:nvPr>
            <p:ph type="pic" idx="2"/>
          </p:nvPr>
        </p:nvSpPr>
        <p:spPr>
          <a:xfrm>
            <a:off x="953750" y="1485825"/>
            <a:ext cx="1322700" cy="1322700"/>
          </a:xfrm>
          <a:prstGeom prst="ellipse">
            <a:avLst/>
          </a:prstGeom>
          <a:noFill/>
          <a:ln>
            <a:noFill/>
          </a:ln>
        </p:spPr>
      </p:sp>
      <p:sp>
        <p:nvSpPr>
          <p:cNvPr id="56" name="Google Shape;56;p27"/>
          <p:cNvSpPr txBox="1">
            <a:spLocks noGrp="1"/>
          </p:cNvSpPr>
          <p:nvPr>
            <p:ph type="body" idx="3"/>
          </p:nvPr>
        </p:nvSpPr>
        <p:spPr>
          <a:xfrm>
            <a:off x="450500" y="2952050"/>
            <a:ext cx="2329200" cy="1437900"/>
          </a:xfrm>
          <a:prstGeom prst="rect">
            <a:avLst/>
          </a:prstGeom>
          <a:noFill/>
          <a:ln>
            <a:noFill/>
          </a:ln>
        </p:spPr>
        <p:txBody>
          <a:bodyPr spcFirstLastPara="1" wrap="square" lIns="0" tIns="0" rIns="0" bIns="0" anchor="t" anchorCtr="0">
            <a:noAutofit/>
          </a:bodyPr>
          <a:lstStyle>
            <a:lvl1pPr marL="457200" marR="0" lvl="0" indent="-304800" algn="ctr" rtl="0">
              <a:lnSpc>
                <a:spcPct val="100000"/>
              </a:lnSpc>
              <a:spcBef>
                <a:spcPts val="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1pPr>
            <a:lvl2pPr marL="914400" marR="0" lvl="1"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2pPr>
            <a:lvl3pPr marL="1371600" marR="0" lvl="2"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3pPr>
            <a:lvl4pPr marL="1828800" marR="0" lvl="3"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4pPr>
            <a:lvl5pPr marL="2286000" marR="0" lvl="4"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5pPr>
            <a:lvl6pPr marL="2743200" marR="0" lvl="5"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6pPr>
            <a:lvl7pPr marL="3200400" marR="0" lvl="6"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7pPr>
            <a:lvl8pPr marL="3657600" marR="0" lvl="7"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8pPr>
            <a:lvl9pPr marL="4114800" marR="0" lvl="8" indent="-304800" algn="ctr" rtl="0">
              <a:lnSpc>
                <a:spcPct val="100000"/>
              </a:lnSpc>
              <a:spcBef>
                <a:spcPts val="400"/>
              </a:spcBef>
              <a:spcAft>
                <a:spcPts val="40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9pPr>
          </a:lstStyle>
          <a:p>
            <a:endParaRPr/>
          </a:p>
        </p:txBody>
      </p:sp>
      <p:sp>
        <p:nvSpPr>
          <p:cNvPr id="57" name="Google Shape;57;p27"/>
          <p:cNvSpPr/>
          <p:nvPr/>
        </p:nvSpPr>
        <p:spPr>
          <a:xfrm>
            <a:off x="3859350" y="1428175"/>
            <a:ext cx="1437900" cy="1437900"/>
          </a:xfrm>
          <a:prstGeom prst="donut">
            <a:avLst>
              <a:gd name="adj" fmla="val 5329"/>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27"/>
          <p:cNvSpPr>
            <a:spLocks noGrp="1"/>
          </p:cNvSpPr>
          <p:nvPr>
            <p:ph type="pic" idx="4"/>
          </p:nvPr>
        </p:nvSpPr>
        <p:spPr>
          <a:xfrm>
            <a:off x="3916950" y="1485825"/>
            <a:ext cx="1322700" cy="1322700"/>
          </a:xfrm>
          <a:prstGeom prst="ellipse">
            <a:avLst/>
          </a:prstGeom>
          <a:noFill/>
          <a:ln>
            <a:noFill/>
          </a:ln>
        </p:spPr>
      </p:sp>
      <p:sp>
        <p:nvSpPr>
          <p:cNvPr id="59" name="Google Shape;59;p27"/>
          <p:cNvSpPr txBox="1">
            <a:spLocks noGrp="1"/>
          </p:cNvSpPr>
          <p:nvPr>
            <p:ph type="body" idx="5"/>
          </p:nvPr>
        </p:nvSpPr>
        <p:spPr>
          <a:xfrm>
            <a:off x="3413700" y="2952050"/>
            <a:ext cx="2329200" cy="1437900"/>
          </a:xfrm>
          <a:prstGeom prst="rect">
            <a:avLst/>
          </a:prstGeom>
          <a:noFill/>
          <a:ln>
            <a:noFill/>
          </a:ln>
        </p:spPr>
        <p:txBody>
          <a:bodyPr spcFirstLastPara="1" wrap="square" lIns="0" tIns="0" rIns="0" bIns="0" anchor="t" anchorCtr="0">
            <a:noAutofit/>
          </a:bodyPr>
          <a:lstStyle>
            <a:lvl1pPr marL="457200" marR="0" lvl="0" indent="-304800" algn="ctr" rtl="0">
              <a:lnSpc>
                <a:spcPct val="100000"/>
              </a:lnSpc>
              <a:spcBef>
                <a:spcPts val="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1pPr>
            <a:lvl2pPr marL="914400" marR="0" lvl="1"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2pPr>
            <a:lvl3pPr marL="1371600" marR="0" lvl="2"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3pPr>
            <a:lvl4pPr marL="1828800" marR="0" lvl="3"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4pPr>
            <a:lvl5pPr marL="2286000" marR="0" lvl="4"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5pPr>
            <a:lvl6pPr marL="2743200" marR="0" lvl="5"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6pPr>
            <a:lvl7pPr marL="3200400" marR="0" lvl="6"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7pPr>
            <a:lvl8pPr marL="3657600" marR="0" lvl="7"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8pPr>
            <a:lvl9pPr marL="4114800" marR="0" lvl="8" indent="-304800" algn="ctr" rtl="0">
              <a:lnSpc>
                <a:spcPct val="100000"/>
              </a:lnSpc>
              <a:spcBef>
                <a:spcPts val="400"/>
              </a:spcBef>
              <a:spcAft>
                <a:spcPts val="40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9pPr>
          </a:lstStyle>
          <a:p>
            <a:endParaRPr/>
          </a:p>
        </p:txBody>
      </p:sp>
      <p:sp>
        <p:nvSpPr>
          <p:cNvPr id="60" name="Google Shape;60;p27"/>
          <p:cNvSpPr/>
          <p:nvPr/>
        </p:nvSpPr>
        <p:spPr>
          <a:xfrm>
            <a:off x="6793825" y="1428175"/>
            <a:ext cx="1437900" cy="1437900"/>
          </a:xfrm>
          <a:prstGeom prst="donut">
            <a:avLst>
              <a:gd name="adj" fmla="val 5329"/>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27"/>
          <p:cNvSpPr>
            <a:spLocks noGrp="1"/>
          </p:cNvSpPr>
          <p:nvPr>
            <p:ph type="pic" idx="6"/>
          </p:nvPr>
        </p:nvSpPr>
        <p:spPr>
          <a:xfrm>
            <a:off x="6851425" y="1485825"/>
            <a:ext cx="1322700" cy="1322700"/>
          </a:xfrm>
          <a:prstGeom prst="ellipse">
            <a:avLst/>
          </a:prstGeom>
          <a:noFill/>
          <a:ln>
            <a:noFill/>
          </a:ln>
        </p:spPr>
      </p:sp>
      <p:sp>
        <p:nvSpPr>
          <p:cNvPr id="62" name="Google Shape;62;p27"/>
          <p:cNvSpPr txBox="1">
            <a:spLocks noGrp="1"/>
          </p:cNvSpPr>
          <p:nvPr>
            <p:ph type="body" idx="7"/>
          </p:nvPr>
        </p:nvSpPr>
        <p:spPr>
          <a:xfrm>
            <a:off x="6348175" y="2952050"/>
            <a:ext cx="2329200" cy="1437900"/>
          </a:xfrm>
          <a:prstGeom prst="rect">
            <a:avLst/>
          </a:prstGeom>
          <a:noFill/>
          <a:ln>
            <a:noFill/>
          </a:ln>
        </p:spPr>
        <p:txBody>
          <a:bodyPr spcFirstLastPara="1" wrap="square" lIns="0" tIns="0" rIns="0" bIns="0" anchor="t" anchorCtr="0">
            <a:noAutofit/>
          </a:bodyPr>
          <a:lstStyle>
            <a:lvl1pPr marL="457200" marR="0" lvl="0" indent="-304800" algn="ctr" rtl="0">
              <a:lnSpc>
                <a:spcPct val="100000"/>
              </a:lnSpc>
              <a:spcBef>
                <a:spcPts val="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1pPr>
            <a:lvl2pPr marL="914400" marR="0" lvl="1"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2pPr>
            <a:lvl3pPr marL="1371600" marR="0" lvl="2"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3pPr>
            <a:lvl4pPr marL="1828800" marR="0" lvl="3"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4pPr>
            <a:lvl5pPr marL="2286000" marR="0" lvl="4"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5pPr>
            <a:lvl6pPr marL="2743200" marR="0" lvl="5"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6pPr>
            <a:lvl7pPr marL="3200400" marR="0" lvl="6"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7pPr>
            <a:lvl8pPr marL="3657600" marR="0" lvl="7"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8pPr>
            <a:lvl9pPr marL="4114800" marR="0" lvl="8" indent="-304800" algn="ctr" rtl="0">
              <a:lnSpc>
                <a:spcPct val="100000"/>
              </a:lnSpc>
              <a:spcBef>
                <a:spcPts val="400"/>
              </a:spcBef>
              <a:spcAft>
                <a:spcPts val="40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9pPr>
          </a:lstStyle>
          <a:p>
            <a:endParaRPr/>
          </a:p>
        </p:txBody>
      </p:sp>
      <p:sp>
        <p:nvSpPr>
          <p:cNvPr id="64" name="Google Shape;64;p27"/>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
        <p:nvSpPr>
          <p:cNvPr id="65" name="Google Shape;65;p27"/>
          <p:cNvSpPr txBox="1"/>
          <p:nvPr/>
        </p:nvSpPr>
        <p:spPr>
          <a:xfrm>
            <a:off x="3763400"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
        <p:nvSpPr>
          <p:cNvPr id="67" name="Google Shape;67;p27"/>
          <p:cNvSpPr txBox="1">
            <a:spLocks noGrp="1"/>
          </p:cNvSpPr>
          <p:nvPr>
            <p:ph type="title"/>
          </p:nvPr>
        </p:nvSpPr>
        <p:spPr>
          <a:xfrm>
            <a:off x="469650" y="287550"/>
            <a:ext cx="82173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p:cSld name="Pre -Test">
    <p:bg>
      <p:bgPr>
        <a:blipFill>
          <a:blip r:embed="rId2">
            <a:alphaModFix/>
          </a:blip>
          <a:stretch>
            <a:fillRect/>
          </a:stretch>
        </a:blipFill>
        <a:effectLst/>
      </p:bgPr>
    </p:bg>
    <p:spTree>
      <p:nvGrpSpPr>
        <p:cNvPr id="1" name="Shape 68"/>
        <p:cNvGrpSpPr/>
        <p:nvPr/>
      </p:nvGrpSpPr>
      <p:grpSpPr>
        <a:xfrm>
          <a:off x="0" y="0"/>
          <a:ext cx="0" cy="0"/>
          <a:chOff x="0" y="0"/>
          <a:chExt cx="0" cy="0"/>
        </a:xfrm>
      </p:grpSpPr>
      <p:sp>
        <p:nvSpPr>
          <p:cNvPr id="69" name="Google Shape;69;p28"/>
          <p:cNvSpPr txBox="1">
            <a:spLocks noGrp="1"/>
          </p:cNvSpPr>
          <p:nvPr>
            <p:ph type="title"/>
          </p:nvPr>
        </p:nvSpPr>
        <p:spPr>
          <a:xfrm>
            <a:off x="424543" y="143088"/>
            <a:ext cx="8319300" cy="497700"/>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0"/>
              </a:spcBef>
              <a:spcAft>
                <a:spcPts val="0"/>
              </a:spcAft>
              <a:buClr>
                <a:srgbClr val="000000"/>
              </a:buClr>
              <a:buSzPts val="1100"/>
              <a:buFont typeface="Arial"/>
              <a:buNone/>
              <a:defRPr sz="2400" b="1" i="0" u="none" strike="noStrike" cap="none">
                <a:solidFill>
                  <a:srgbClr val="323F4F"/>
                </a:solidFill>
                <a:latin typeface="Calibri"/>
                <a:ea typeface="Calibri"/>
                <a:cs typeface="Calibri"/>
                <a:sym typeface="Calibri"/>
              </a:defRPr>
            </a:lvl1pPr>
            <a:lvl2pPr marR="0" lvl="1"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9pPr>
          </a:lstStyle>
          <a:p>
            <a:endParaRPr/>
          </a:p>
        </p:txBody>
      </p:sp>
      <p:sp>
        <p:nvSpPr>
          <p:cNvPr id="70" name="Google Shape;70;p2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888888"/>
              </a:buClr>
              <a:buSzPts val="1100"/>
              <a:buFont typeface="Calibri"/>
              <a:buNone/>
              <a:defRPr sz="11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9pPr>
          </a:lstStyle>
          <a:p>
            <a:endParaRPr/>
          </a:p>
        </p:txBody>
      </p:sp>
      <p:sp>
        <p:nvSpPr>
          <p:cNvPr id="71" name="Google Shape;71;p2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888888"/>
              </a:buClr>
              <a:buSzPts val="1100"/>
              <a:buFont typeface="Calibri"/>
              <a:buNone/>
              <a:defRPr sz="11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9pPr>
          </a:lstStyle>
          <a:p>
            <a:endParaRPr/>
          </a:p>
        </p:txBody>
      </p:sp>
      <p:sp>
        <p:nvSpPr>
          <p:cNvPr id="72" name="Google Shape;72;p28"/>
          <p:cNvSpPr txBox="1">
            <a:spLocks noGrp="1"/>
          </p:cNvSpPr>
          <p:nvPr>
            <p:ph type="sldNum" idx="12"/>
          </p:nvPr>
        </p:nvSpPr>
        <p:spPr>
          <a:xfrm>
            <a:off x="689491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pic>
        <p:nvPicPr>
          <p:cNvPr id="73" name="Google Shape;73;p28" descr="C:\Users\rajthilaks\Desktop\LogoPNG.png"/>
          <p:cNvPicPr preferRelativeResize="0"/>
          <p:nvPr/>
        </p:nvPicPr>
        <p:blipFill rotWithShape="1">
          <a:blip r:embed="rId3">
            <a:alphaModFix/>
          </a:blip>
          <a:srcRect b="23652"/>
          <a:stretch/>
        </p:blipFill>
        <p:spPr>
          <a:xfrm>
            <a:off x="8398669" y="139151"/>
            <a:ext cx="579129" cy="236405"/>
          </a:xfrm>
          <a:prstGeom prst="rect">
            <a:avLst/>
          </a:prstGeom>
          <a:noFill/>
          <a:ln>
            <a:noFill/>
          </a:ln>
        </p:spPr>
      </p:pic>
      <p:graphicFrame>
        <p:nvGraphicFramePr>
          <p:cNvPr id="74" name="Google Shape;74;p28"/>
          <p:cNvGraphicFramePr/>
          <p:nvPr/>
        </p:nvGraphicFramePr>
        <p:xfrm>
          <a:off x="1317713" y="833000"/>
          <a:ext cx="6221200" cy="3742000"/>
        </p:xfrm>
        <a:graphic>
          <a:graphicData uri="http://schemas.openxmlformats.org/drawingml/2006/table">
            <a:tbl>
              <a:tblPr firstRow="1" bandRow="1">
                <a:noFill/>
                <a:tableStyleId>{51958573-18DD-4F4F-87A5-23D0A4D2D5AC}</a:tableStyleId>
              </a:tblPr>
              <a:tblGrid>
                <a:gridCol w="592250">
                  <a:extLst>
                    <a:ext uri="{9D8B030D-6E8A-4147-A177-3AD203B41FA5}">
                      <a16:colId xmlns:a16="http://schemas.microsoft.com/office/drawing/2014/main" val="20000"/>
                    </a:ext>
                  </a:extLst>
                </a:gridCol>
                <a:gridCol w="2702325">
                  <a:extLst>
                    <a:ext uri="{9D8B030D-6E8A-4147-A177-3AD203B41FA5}">
                      <a16:colId xmlns:a16="http://schemas.microsoft.com/office/drawing/2014/main" val="20001"/>
                    </a:ext>
                  </a:extLst>
                </a:gridCol>
                <a:gridCol w="2926625">
                  <a:extLst>
                    <a:ext uri="{9D8B030D-6E8A-4147-A177-3AD203B41FA5}">
                      <a16:colId xmlns:a16="http://schemas.microsoft.com/office/drawing/2014/main" val="20002"/>
                    </a:ext>
                  </a:extLst>
                </a:gridCol>
              </a:tblGrid>
              <a:tr h="467750">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S.No.</a:t>
                      </a: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Question </a:t>
                      </a: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Answer Options</a:t>
                      </a:r>
                      <a:endParaRPr sz="1100" u="none" strike="noStrike" cap="none"/>
                    </a:p>
                  </a:txBody>
                  <a:tcPr marL="68600" marR="68600" marT="34300" marB="34300"/>
                </a:tc>
                <a:extLst>
                  <a:ext uri="{0D108BD9-81ED-4DB2-BD59-A6C34878D82A}">
                    <a16:rowId xmlns:a16="http://schemas.microsoft.com/office/drawing/2014/main" val="10000"/>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a16="http://schemas.microsoft.com/office/drawing/2014/main" val="10001"/>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a16="http://schemas.microsoft.com/office/drawing/2014/main" val="10002"/>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a16="http://schemas.microsoft.com/office/drawing/2014/main" val="10003"/>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a16="http://schemas.microsoft.com/office/drawing/2014/main" val="10004"/>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a16="http://schemas.microsoft.com/office/drawing/2014/main" val="10005"/>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a16="http://schemas.microsoft.com/office/drawing/2014/main" val="10006"/>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a16="http://schemas.microsoft.com/office/drawing/2014/main" val="10007"/>
                  </a:ext>
                </a:extLst>
              </a:tr>
            </a:tbl>
          </a:graphicData>
        </a:graphic>
      </p:graphicFrame>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break  - White ">
  <p:cSld name="TITLE_1_1_1_1_1_1_1_1_1_1_1_1_1_2">
    <p:bg>
      <p:bgPr>
        <a:noFill/>
        <a:effectLst/>
      </p:bgPr>
    </p:bg>
    <p:spTree>
      <p:nvGrpSpPr>
        <p:cNvPr id="1" name="Shape 76"/>
        <p:cNvGrpSpPr/>
        <p:nvPr/>
      </p:nvGrpSpPr>
      <p:grpSpPr>
        <a:xfrm>
          <a:off x="0" y="0"/>
          <a:ext cx="0" cy="0"/>
          <a:chOff x="0" y="0"/>
          <a:chExt cx="0" cy="0"/>
        </a:xfrm>
      </p:grpSpPr>
      <p:sp>
        <p:nvSpPr>
          <p:cNvPr id="77" name="Google Shape;77;p22"/>
          <p:cNvSpPr txBox="1">
            <a:spLocks noGrp="1"/>
          </p:cNvSpPr>
          <p:nvPr>
            <p:ph type="title"/>
          </p:nvPr>
        </p:nvSpPr>
        <p:spPr>
          <a:xfrm>
            <a:off x="457200" y="1070150"/>
            <a:ext cx="4769100" cy="2555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4000"/>
              <a:buFont typeface="Proxima Nova"/>
              <a:buNone/>
              <a:defRPr sz="4000" b="0"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pic>
        <p:nvPicPr>
          <p:cNvPr id="78" name="Google Shape;78;p22"/>
          <p:cNvPicPr preferRelativeResize="0"/>
          <p:nvPr/>
        </p:nvPicPr>
        <p:blipFill rotWithShape="1">
          <a:blip r:embed="rId2">
            <a:alphaModFix/>
          </a:blip>
          <a:srcRect t="835" b="835"/>
          <a:stretch/>
        </p:blipFill>
        <p:spPr>
          <a:xfrm>
            <a:off x="7828161" y="4769500"/>
            <a:ext cx="858649" cy="164500"/>
          </a:xfrm>
          <a:prstGeom prst="rect">
            <a:avLst/>
          </a:prstGeom>
          <a:noFill/>
          <a:ln>
            <a:noFill/>
          </a:ln>
        </p:spPr>
      </p:pic>
      <p:grpSp>
        <p:nvGrpSpPr>
          <p:cNvPr id="81" name="Google Shape;81;p22"/>
          <p:cNvGrpSpPr/>
          <p:nvPr/>
        </p:nvGrpSpPr>
        <p:grpSpPr>
          <a:xfrm>
            <a:off x="6588505" y="-28"/>
            <a:ext cx="2555491" cy="5143634"/>
            <a:chOff x="6484825" y="114035"/>
            <a:chExt cx="2659200" cy="5029465"/>
          </a:xfrm>
        </p:grpSpPr>
        <p:sp>
          <p:nvSpPr>
            <p:cNvPr id="82" name="Google Shape;82;p22"/>
            <p:cNvSpPr/>
            <p:nvPr/>
          </p:nvSpPr>
          <p:spPr>
            <a:xfrm rot="10800000">
              <a:off x="7629606" y="114035"/>
              <a:ext cx="1514400" cy="2285100"/>
            </a:xfrm>
            <a:prstGeom prst="rtTriangle">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22"/>
            <p:cNvSpPr/>
            <p:nvPr/>
          </p:nvSpPr>
          <p:spPr>
            <a:xfrm rot="-5400000">
              <a:off x="5810725" y="1810200"/>
              <a:ext cx="4007400" cy="2659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extLst>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Double line heading cover slide - White BG">
  <p:cSld name="TITLE_1">
    <p:spTree>
      <p:nvGrpSpPr>
        <p:cNvPr id="1" name="Shape 84"/>
        <p:cNvGrpSpPr/>
        <p:nvPr/>
      </p:nvGrpSpPr>
      <p:grpSpPr>
        <a:xfrm>
          <a:off x="0" y="0"/>
          <a:ext cx="0" cy="0"/>
          <a:chOff x="0" y="0"/>
          <a:chExt cx="0" cy="0"/>
        </a:xfrm>
      </p:grpSpPr>
      <p:sp>
        <p:nvSpPr>
          <p:cNvPr id="85" name="Google Shape;85;p29"/>
          <p:cNvSpPr txBox="1">
            <a:spLocks noGrp="1"/>
          </p:cNvSpPr>
          <p:nvPr>
            <p:ph type="title"/>
          </p:nvPr>
        </p:nvSpPr>
        <p:spPr>
          <a:xfrm>
            <a:off x="3613500" y="1606150"/>
            <a:ext cx="5073300" cy="13707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4400"/>
              <a:buFont typeface="Proxima Nova"/>
              <a:buNone/>
              <a:defRPr sz="4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2pPr>
            <a:lvl3pPr marR="0" lvl="2"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3pPr>
            <a:lvl4pPr marR="0" lvl="3"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4pPr>
            <a:lvl5pPr marR="0" lvl="4"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5pPr>
            <a:lvl6pPr marR="0" lvl="5"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6pPr>
            <a:lvl7pPr marR="0" lvl="6"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7pPr>
            <a:lvl8pPr marR="0" lvl="7"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8pPr>
            <a:lvl9pPr marR="0" lvl="8"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9pPr>
          </a:lstStyle>
          <a:p>
            <a:endParaRPr/>
          </a:p>
        </p:txBody>
      </p:sp>
      <p:sp>
        <p:nvSpPr>
          <p:cNvPr id="87" name="Google Shape;87;p29"/>
          <p:cNvSpPr txBox="1">
            <a:spLocks noGrp="1"/>
          </p:cNvSpPr>
          <p:nvPr>
            <p:ph type="subTitle" idx="1"/>
          </p:nvPr>
        </p:nvSpPr>
        <p:spPr>
          <a:xfrm>
            <a:off x="3651850" y="3111025"/>
            <a:ext cx="5034900" cy="3258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2pPr>
            <a:lvl3pPr marR="0" lvl="2"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3pPr>
            <a:lvl4pPr marR="0" lvl="3"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4pPr>
            <a:lvl5pPr marR="0" lvl="4"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5pPr>
            <a:lvl6pPr marR="0" lvl="5"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6pPr>
            <a:lvl7pPr marR="0" lvl="6"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7pPr>
            <a:lvl8pPr marR="0" lvl="7"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8pPr>
            <a:lvl9pPr marR="0" lvl="8"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9pPr>
          </a:lstStyle>
          <a:p>
            <a:endParaRPr/>
          </a:p>
        </p:txBody>
      </p:sp>
      <p:sp>
        <p:nvSpPr>
          <p:cNvPr id="88" name="Google Shape;88;p29"/>
          <p:cNvSpPr txBox="1"/>
          <p:nvPr/>
        </p:nvSpPr>
        <p:spPr>
          <a:xfrm>
            <a:off x="4258440" y="4657790"/>
            <a:ext cx="4428300" cy="3078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800"/>
              <a:buFont typeface="Arial"/>
              <a:buNone/>
            </a:pPr>
            <a:r>
              <a:rPr lang="en" sz="800" b="0" i="0" u="none" strike="noStrike" cap="none">
                <a:solidFill>
                  <a:srgbClr val="999999"/>
                </a:solidFill>
                <a:latin typeface="Proxima Nova"/>
                <a:ea typeface="Proxima Nova"/>
                <a:cs typeface="Proxima Nova"/>
                <a:sym typeface="Proxima Nova"/>
              </a:rPr>
              <a:t>© 2022 Relevantz Technology Services, Inc. All rights reserved</a:t>
            </a:r>
            <a:endParaRPr sz="800" b="0" i="0" u="none" strike="noStrike" cap="none">
              <a:solidFill>
                <a:srgbClr val="999999"/>
              </a:solidFill>
              <a:latin typeface="Proxima Nova"/>
              <a:ea typeface="Proxima Nova"/>
              <a:cs typeface="Proxima Nova"/>
              <a:sym typeface="Proxima Nova"/>
            </a:endParaRPr>
          </a:p>
        </p:txBody>
      </p:sp>
    </p:spTree>
  </p:cSld>
  <p:clrMapOvr>
    <a:masterClrMapping/>
  </p:clrMapOvr>
  <p:extLst>
    <p:ext uri="{DCECCB84-F9BA-43D5-87BE-67443E8EF086}">
      <p15:sldGuideLst xmlns:p15="http://schemas.microsoft.com/office/powerpoint/2012/main">
        <p15:guide id="1" orient="horz" pos="1620">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ingle column">
  <p:cSld name="TITLE_1_1_1_1_1">
    <p:bg>
      <p:bgPr>
        <a:noFill/>
        <a:effectLst/>
      </p:bgPr>
    </p:bg>
    <p:spTree>
      <p:nvGrpSpPr>
        <p:cNvPr id="1" name="Shape 90"/>
        <p:cNvGrpSpPr/>
        <p:nvPr/>
      </p:nvGrpSpPr>
      <p:grpSpPr>
        <a:xfrm>
          <a:off x="0" y="0"/>
          <a:ext cx="0" cy="0"/>
          <a:chOff x="0" y="0"/>
          <a:chExt cx="0" cy="0"/>
        </a:xfrm>
      </p:grpSpPr>
      <p:sp>
        <p:nvSpPr>
          <p:cNvPr id="91" name="Google Shape;91;p30"/>
          <p:cNvSpPr txBox="1">
            <a:spLocks noGrp="1"/>
          </p:cNvSpPr>
          <p:nvPr>
            <p:ph type="title"/>
          </p:nvPr>
        </p:nvSpPr>
        <p:spPr>
          <a:xfrm>
            <a:off x="469650" y="287550"/>
            <a:ext cx="82173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2" name="Google Shape;92;p30"/>
          <p:cNvSpPr txBox="1">
            <a:spLocks noGrp="1"/>
          </p:cNvSpPr>
          <p:nvPr>
            <p:ph type="subTitle" idx="1"/>
          </p:nvPr>
        </p:nvSpPr>
        <p:spPr>
          <a:xfrm>
            <a:off x="460075" y="929725"/>
            <a:ext cx="82173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3" name="Google Shape;93;p30"/>
          <p:cNvSpPr txBox="1">
            <a:spLocks noGrp="1"/>
          </p:cNvSpPr>
          <p:nvPr>
            <p:ph type="body" idx="2"/>
          </p:nvPr>
        </p:nvSpPr>
        <p:spPr>
          <a:xfrm>
            <a:off x="450500" y="1293950"/>
            <a:ext cx="82173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sp>
        <p:nvSpPr>
          <p:cNvPr id="95" name="Google Shape;95;p30"/>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
        <p:nvSpPr>
          <p:cNvPr id="96" name="Google Shape;96;p30"/>
          <p:cNvSpPr txBox="1"/>
          <p:nvPr/>
        </p:nvSpPr>
        <p:spPr>
          <a:xfrm>
            <a:off x="3763400"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Tree>
  </p:cSld>
  <p:clrMapOvr>
    <a:masterClrMapping/>
  </p:clrMapOvr>
  <p:extLst>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Double coulmn">
  <p:cSld name="TITLE_1_1_1_1_1_1">
    <p:bg>
      <p:bgPr>
        <a:noFill/>
        <a:effectLst/>
      </p:bgPr>
    </p:bg>
    <p:spTree>
      <p:nvGrpSpPr>
        <p:cNvPr id="1" name="Shape 98"/>
        <p:cNvGrpSpPr/>
        <p:nvPr/>
      </p:nvGrpSpPr>
      <p:grpSpPr>
        <a:xfrm>
          <a:off x="0" y="0"/>
          <a:ext cx="0" cy="0"/>
          <a:chOff x="0" y="0"/>
          <a:chExt cx="0" cy="0"/>
        </a:xfrm>
      </p:grpSpPr>
      <p:sp>
        <p:nvSpPr>
          <p:cNvPr id="99" name="Google Shape;99;p31"/>
          <p:cNvSpPr txBox="1">
            <a:spLocks noGrp="1"/>
          </p:cNvSpPr>
          <p:nvPr>
            <p:ph type="subTitle" idx="1"/>
          </p:nvPr>
        </p:nvSpPr>
        <p:spPr>
          <a:xfrm>
            <a:off x="460075" y="929725"/>
            <a:ext cx="37572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0" name="Google Shape;100;p31"/>
          <p:cNvSpPr txBox="1">
            <a:spLocks noGrp="1"/>
          </p:cNvSpPr>
          <p:nvPr>
            <p:ph type="body" idx="2"/>
          </p:nvPr>
        </p:nvSpPr>
        <p:spPr>
          <a:xfrm>
            <a:off x="450500" y="1293950"/>
            <a:ext cx="38532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sp>
        <p:nvSpPr>
          <p:cNvPr id="101" name="Google Shape;101;p31"/>
          <p:cNvSpPr txBox="1">
            <a:spLocks noGrp="1"/>
          </p:cNvSpPr>
          <p:nvPr>
            <p:ph type="subTitle" idx="3"/>
          </p:nvPr>
        </p:nvSpPr>
        <p:spPr>
          <a:xfrm>
            <a:off x="4843175" y="929725"/>
            <a:ext cx="37572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2" name="Google Shape;102;p31"/>
          <p:cNvSpPr txBox="1">
            <a:spLocks noGrp="1"/>
          </p:cNvSpPr>
          <p:nvPr>
            <p:ph type="body" idx="4"/>
          </p:nvPr>
        </p:nvSpPr>
        <p:spPr>
          <a:xfrm>
            <a:off x="4833600" y="1293950"/>
            <a:ext cx="38532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sp>
        <p:nvSpPr>
          <p:cNvPr id="104" name="Google Shape;104;p31"/>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
        <p:nvSpPr>
          <p:cNvPr id="105" name="Google Shape;105;p31"/>
          <p:cNvSpPr txBox="1"/>
          <p:nvPr/>
        </p:nvSpPr>
        <p:spPr>
          <a:xfrm>
            <a:off x="3763400"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
        <p:nvSpPr>
          <p:cNvPr id="107" name="Google Shape;107;p31"/>
          <p:cNvSpPr txBox="1">
            <a:spLocks noGrp="1"/>
          </p:cNvSpPr>
          <p:nvPr>
            <p:ph type="title"/>
          </p:nvPr>
        </p:nvSpPr>
        <p:spPr>
          <a:xfrm>
            <a:off x="469650" y="287550"/>
            <a:ext cx="82173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ingle column with image">
  <p:cSld name="TITLE_1_1_1_1_1_1_1">
    <p:bg>
      <p:bgPr>
        <a:noFill/>
        <a:effectLst/>
      </p:bgPr>
    </p:bg>
    <p:spTree>
      <p:nvGrpSpPr>
        <p:cNvPr id="1" name="Shape 108"/>
        <p:cNvGrpSpPr/>
        <p:nvPr/>
      </p:nvGrpSpPr>
      <p:grpSpPr>
        <a:xfrm>
          <a:off x="0" y="0"/>
          <a:ext cx="0" cy="0"/>
          <a:chOff x="0" y="0"/>
          <a:chExt cx="0" cy="0"/>
        </a:xfrm>
      </p:grpSpPr>
      <p:sp>
        <p:nvSpPr>
          <p:cNvPr id="109" name="Google Shape;109;p32"/>
          <p:cNvSpPr>
            <a:spLocks noGrp="1"/>
          </p:cNvSpPr>
          <p:nvPr>
            <p:ph type="pic" idx="2"/>
          </p:nvPr>
        </p:nvSpPr>
        <p:spPr>
          <a:xfrm>
            <a:off x="5027125" y="0"/>
            <a:ext cx="4116900" cy="5143500"/>
          </a:xfrm>
          <a:prstGeom prst="rect">
            <a:avLst/>
          </a:prstGeom>
          <a:noFill/>
          <a:ln>
            <a:noFill/>
          </a:ln>
        </p:spPr>
      </p:sp>
      <p:sp>
        <p:nvSpPr>
          <p:cNvPr id="110" name="Google Shape;110;p32"/>
          <p:cNvSpPr txBox="1"/>
          <p:nvPr/>
        </p:nvSpPr>
        <p:spPr>
          <a:xfrm>
            <a:off x="3423325"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
        <p:nvSpPr>
          <p:cNvPr id="111" name="Google Shape;111;p32"/>
          <p:cNvSpPr txBox="1">
            <a:spLocks noGrp="1"/>
          </p:cNvSpPr>
          <p:nvPr>
            <p:ph type="subTitle" idx="1"/>
          </p:nvPr>
        </p:nvSpPr>
        <p:spPr>
          <a:xfrm>
            <a:off x="460075" y="1082125"/>
            <a:ext cx="37572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2" name="Google Shape;112;p32"/>
          <p:cNvSpPr txBox="1">
            <a:spLocks noGrp="1"/>
          </p:cNvSpPr>
          <p:nvPr>
            <p:ph type="body" idx="3"/>
          </p:nvPr>
        </p:nvSpPr>
        <p:spPr>
          <a:xfrm>
            <a:off x="450500" y="1446350"/>
            <a:ext cx="38532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pic>
        <p:nvPicPr>
          <p:cNvPr id="113" name="Google Shape;113;p32"/>
          <p:cNvPicPr preferRelativeResize="0"/>
          <p:nvPr/>
        </p:nvPicPr>
        <p:blipFill rotWithShape="1">
          <a:blip r:embed="rId2">
            <a:alphaModFix/>
          </a:blip>
          <a:srcRect/>
          <a:stretch/>
        </p:blipFill>
        <p:spPr>
          <a:xfrm>
            <a:off x="665082" y="4769500"/>
            <a:ext cx="858651" cy="164500"/>
          </a:xfrm>
          <a:prstGeom prst="rect">
            <a:avLst/>
          </a:prstGeom>
          <a:noFill/>
          <a:ln>
            <a:noFill/>
          </a:ln>
        </p:spPr>
      </p:pic>
      <p:sp>
        <p:nvSpPr>
          <p:cNvPr id="114" name="Google Shape;114;p32"/>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pic>
        <p:nvPicPr>
          <p:cNvPr id="115" name="Google Shape;115;p32"/>
          <p:cNvPicPr preferRelativeResize="0"/>
          <p:nvPr/>
        </p:nvPicPr>
        <p:blipFill rotWithShape="1">
          <a:blip r:embed="rId3">
            <a:alphaModFix/>
          </a:blip>
          <a:srcRect/>
          <a:stretch/>
        </p:blipFill>
        <p:spPr>
          <a:xfrm>
            <a:off x="0" y="4689200"/>
            <a:ext cx="614619" cy="457200"/>
          </a:xfrm>
          <a:prstGeom prst="rect">
            <a:avLst/>
          </a:prstGeom>
          <a:noFill/>
          <a:ln>
            <a:noFill/>
          </a:ln>
        </p:spPr>
      </p:pic>
      <p:sp>
        <p:nvSpPr>
          <p:cNvPr id="116" name="Google Shape;116;p32"/>
          <p:cNvSpPr txBox="1">
            <a:spLocks noGrp="1"/>
          </p:cNvSpPr>
          <p:nvPr>
            <p:ph type="title"/>
          </p:nvPr>
        </p:nvSpPr>
        <p:spPr>
          <a:xfrm>
            <a:off x="469650" y="287550"/>
            <a:ext cx="42846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rofile desciption">
  <p:cSld name="TITLE_1_1_1_1_1_1_1_1_1">
    <p:bg>
      <p:bgPr>
        <a:noFill/>
        <a:effectLst/>
      </p:bgPr>
    </p:bg>
    <p:spTree>
      <p:nvGrpSpPr>
        <p:cNvPr id="1" name="Shape 117"/>
        <p:cNvGrpSpPr/>
        <p:nvPr/>
      </p:nvGrpSpPr>
      <p:grpSpPr>
        <a:xfrm>
          <a:off x="0" y="0"/>
          <a:ext cx="0" cy="0"/>
          <a:chOff x="0" y="0"/>
          <a:chExt cx="0" cy="0"/>
        </a:xfrm>
      </p:grpSpPr>
      <p:sp>
        <p:nvSpPr>
          <p:cNvPr id="118" name="Google Shape;118;p33"/>
          <p:cNvSpPr txBox="1">
            <a:spLocks noGrp="1"/>
          </p:cNvSpPr>
          <p:nvPr>
            <p:ph type="subTitle" idx="1"/>
          </p:nvPr>
        </p:nvSpPr>
        <p:spPr>
          <a:xfrm>
            <a:off x="460075" y="929725"/>
            <a:ext cx="82173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9" name="Google Shape;119;p33"/>
          <p:cNvSpPr/>
          <p:nvPr/>
        </p:nvSpPr>
        <p:spPr>
          <a:xfrm>
            <a:off x="896150" y="1428175"/>
            <a:ext cx="1437900" cy="1437900"/>
          </a:xfrm>
          <a:prstGeom prst="donut">
            <a:avLst>
              <a:gd name="adj" fmla="val 5329"/>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3"/>
          <p:cNvSpPr>
            <a:spLocks noGrp="1"/>
          </p:cNvSpPr>
          <p:nvPr>
            <p:ph type="pic" idx="2"/>
          </p:nvPr>
        </p:nvSpPr>
        <p:spPr>
          <a:xfrm>
            <a:off x="953750" y="1485825"/>
            <a:ext cx="1322700" cy="1322700"/>
          </a:xfrm>
          <a:prstGeom prst="ellipse">
            <a:avLst/>
          </a:prstGeom>
          <a:noFill/>
          <a:ln>
            <a:noFill/>
          </a:ln>
        </p:spPr>
      </p:sp>
      <p:sp>
        <p:nvSpPr>
          <p:cNvPr id="121" name="Google Shape;121;p33"/>
          <p:cNvSpPr txBox="1">
            <a:spLocks noGrp="1"/>
          </p:cNvSpPr>
          <p:nvPr>
            <p:ph type="body" idx="3"/>
          </p:nvPr>
        </p:nvSpPr>
        <p:spPr>
          <a:xfrm>
            <a:off x="450500" y="2952050"/>
            <a:ext cx="2329200" cy="1437900"/>
          </a:xfrm>
          <a:prstGeom prst="rect">
            <a:avLst/>
          </a:prstGeom>
          <a:noFill/>
          <a:ln>
            <a:noFill/>
          </a:ln>
        </p:spPr>
        <p:txBody>
          <a:bodyPr spcFirstLastPara="1" wrap="square" lIns="0" tIns="0" rIns="0" bIns="0" anchor="t" anchorCtr="0">
            <a:noAutofit/>
          </a:bodyPr>
          <a:lstStyle>
            <a:lvl1pPr marL="457200" marR="0" lvl="0" indent="-304800" algn="ctr" rtl="0">
              <a:lnSpc>
                <a:spcPct val="100000"/>
              </a:lnSpc>
              <a:spcBef>
                <a:spcPts val="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1pPr>
            <a:lvl2pPr marL="914400" marR="0" lvl="1"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2pPr>
            <a:lvl3pPr marL="1371600" marR="0" lvl="2"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3pPr>
            <a:lvl4pPr marL="1828800" marR="0" lvl="3"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4pPr>
            <a:lvl5pPr marL="2286000" marR="0" lvl="4"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5pPr>
            <a:lvl6pPr marL="2743200" marR="0" lvl="5"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6pPr>
            <a:lvl7pPr marL="3200400" marR="0" lvl="6"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7pPr>
            <a:lvl8pPr marL="3657600" marR="0" lvl="7"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8pPr>
            <a:lvl9pPr marL="4114800" marR="0" lvl="8" indent="-304800" algn="ctr" rtl="0">
              <a:lnSpc>
                <a:spcPct val="100000"/>
              </a:lnSpc>
              <a:spcBef>
                <a:spcPts val="400"/>
              </a:spcBef>
              <a:spcAft>
                <a:spcPts val="40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9pPr>
          </a:lstStyle>
          <a:p>
            <a:endParaRPr/>
          </a:p>
        </p:txBody>
      </p:sp>
      <p:sp>
        <p:nvSpPr>
          <p:cNvPr id="122" name="Google Shape;122;p33"/>
          <p:cNvSpPr/>
          <p:nvPr/>
        </p:nvSpPr>
        <p:spPr>
          <a:xfrm>
            <a:off x="3859350" y="1428175"/>
            <a:ext cx="1437900" cy="1437900"/>
          </a:xfrm>
          <a:prstGeom prst="donut">
            <a:avLst>
              <a:gd name="adj" fmla="val 5329"/>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33"/>
          <p:cNvSpPr>
            <a:spLocks noGrp="1"/>
          </p:cNvSpPr>
          <p:nvPr>
            <p:ph type="pic" idx="4"/>
          </p:nvPr>
        </p:nvSpPr>
        <p:spPr>
          <a:xfrm>
            <a:off x="3916950" y="1485825"/>
            <a:ext cx="1322700" cy="1322700"/>
          </a:xfrm>
          <a:prstGeom prst="ellipse">
            <a:avLst/>
          </a:prstGeom>
          <a:noFill/>
          <a:ln>
            <a:noFill/>
          </a:ln>
        </p:spPr>
      </p:sp>
      <p:sp>
        <p:nvSpPr>
          <p:cNvPr id="124" name="Google Shape;124;p33"/>
          <p:cNvSpPr txBox="1">
            <a:spLocks noGrp="1"/>
          </p:cNvSpPr>
          <p:nvPr>
            <p:ph type="body" idx="5"/>
          </p:nvPr>
        </p:nvSpPr>
        <p:spPr>
          <a:xfrm>
            <a:off x="3413700" y="2952050"/>
            <a:ext cx="2329200" cy="1437900"/>
          </a:xfrm>
          <a:prstGeom prst="rect">
            <a:avLst/>
          </a:prstGeom>
          <a:noFill/>
          <a:ln>
            <a:noFill/>
          </a:ln>
        </p:spPr>
        <p:txBody>
          <a:bodyPr spcFirstLastPara="1" wrap="square" lIns="0" tIns="0" rIns="0" bIns="0" anchor="t" anchorCtr="0">
            <a:noAutofit/>
          </a:bodyPr>
          <a:lstStyle>
            <a:lvl1pPr marL="457200" marR="0" lvl="0" indent="-304800" algn="ctr" rtl="0">
              <a:lnSpc>
                <a:spcPct val="100000"/>
              </a:lnSpc>
              <a:spcBef>
                <a:spcPts val="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1pPr>
            <a:lvl2pPr marL="914400" marR="0" lvl="1"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2pPr>
            <a:lvl3pPr marL="1371600" marR="0" lvl="2"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3pPr>
            <a:lvl4pPr marL="1828800" marR="0" lvl="3"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4pPr>
            <a:lvl5pPr marL="2286000" marR="0" lvl="4"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5pPr>
            <a:lvl6pPr marL="2743200" marR="0" lvl="5"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6pPr>
            <a:lvl7pPr marL="3200400" marR="0" lvl="6"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7pPr>
            <a:lvl8pPr marL="3657600" marR="0" lvl="7"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8pPr>
            <a:lvl9pPr marL="4114800" marR="0" lvl="8" indent="-304800" algn="ctr" rtl="0">
              <a:lnSpc>
                <a:spcPct val="100000"/>
              </a:lnSpc>
              <a:spcBef>
                <a:spcPts val="400"/>
              </a:spcBef>
              <a:spcAft>
                <a:spcPts val="40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9pPr>
          </a:lstStyle>
          <a:p>
            <a:endParaRPr/>
          </a:p>
        </p:txBody>
      </p:sp>
      <p:sp>
        <p:nvSpPr>
          <p:cNvPr id="125" name="Google Shape;125;p33"/>
          <p:cNvSpPr/>
          <p:nvPr/>
        </p:nvSpPr>
        <p:spPr>
          <a:xfrm>
            <a:off x="6793825" y="1428175"/>
            <a:ext cx="1437900" cy="1437900"/>
          </a:xfrm>
          <a:prstGeom prst="donut">
            <a:avLst>
              <a:gd name="adj" fmla="val 5329"/>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p33"/>
          <p:cNvSpPr>
            <a:spLocks noGrp="1"/>
          </p:cNvSpPr>
          <p:nvPr>
            <p:ph type="pic" idx="6"/>
          </p:nvPr>
        </p:nvSpPr>
        <p:spPr>
          <a:xfrm>
            <a:off x="6851425" y="1485825"/>
            <a:ext cx="1322700" cy="1322700"/>
          </a:xfrm>
          <a:prstGeom prst="ellipse">
            <a:avLst/>
          </a:prstGeom>
          <a:noFill/>
          <a:ln>
            <a:noFill/>
          </a:ln>
        </p:spPr>
      </p:sp>
      <p:sp>
        <p:nvSpPr>
          <p:cNvPr id="127" name="Google Shape;127;p33"/>
          <p:cNvSpPr txBox="1">
            <a:spLocks noGrp="1"/>
          </p:cNvSpPr>
          <p:nvPr>
            <p:ph type="body" idx="7"/>
          </p:nvPr>
        </p:nvSpPr>
        <p:spPr>
          <a:xfrm>
            <a:off x="6348175" y="2952050"/>
            <a:ext cx="2329200" cy="1437900"/>
          </a:xfrm>
          <a:prstGeom prst="rect">
            <a:avLst/>
          </a:prstGeom>
          <a:noFill/>
          <a:ln>
            <a:noFill/>
          </a:ln>
        </p:spPr>
        <p:txBody>
          <a:bodyPr spcFirstLastPara="1" wrap="square" lIns="0" tIns="0" rIns="0" bIns="0" anchor="t" anchorCtr="0">
            <a:noAutofit/>
          </a:bodyPr>
          <a:lstStyle>
            <a:lvl1pPr marL="457200" marR="0" lvl="0" indent="-304800" algn="ctr" rtl="0">
              <a:lnSpc>
                <a:spcPct val="100000"/>
              </a:lnSpc>
              <a:spcBef>
                <a:spcPts val="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1pPr>
            <a:lvl2pPr marL="914400" marR="0" lvl="1"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2pPr>
            <a:lvl3pPr marL="1371600" marR="0" lvl="2"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3pPr>
            <a:lvl4pPr marL="1828800" marR="0" lvl="3"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4pPr>
            <a:lvl5pPr marL="2286000" marR="0" lvl="4"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5pPr>
            <a:lvl6pPr marL="2743200" marR="0" lvl="5"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6pPr>
            <a:lvl7pPr marL="3200400" marR="0" lvl="6"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7pPr>
            <a:lvl8pPr marL="3657600" marR="0" lvl="7"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8pPr>
            <a:lvl9pPr marL="4114800" marR="0" lvl="8" indent="-304800" algn="ctr" rtl="0">
              <a:lnSpc>
                <a:spcPct val="100000"/>
              </a:lnSpc>
              <a:spcBef>
                <a:spcPts val="400"/>
              </a:spcBef>
              <a:spcAft>
                <a:spcPts val="40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9pPr>
          </a:lstStyle>
          <a:p>
            <a:endParaRPr/>
          </a:p>
        </p:txBody>
      </p:sp>
      <p:sp>
        <p:nvSpPr>
          <p:cNvPr id="129" name="Google Shape;129;p33"/>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
        <p:nvSpPr>
          <p:cNvPr id="130" name="Google Shape;130;p33"/>
          <p:cNvSpPr txBox="1"/>
          <p:nvPr/>
        </p:nvSpPr>
        <p:spPr>
          <a:xfrm>
            <a:off x="3763400"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
        <p:nvSpPr>
          <p:cNvPr id="132" name="Google Shape;132;p33"/>
          <p:cNvSpPr txBox="1">
            <a:spLocks noGrp="1"/>
          </p:cNvSpPr>
          <p:nvPr>
            <p:ph type="title"/>
          </p:nvPr>
        </p:nvSpPr>
        <p:spPr>
          <a:xfrm>
            <a:off x="469650" y="287550"/>
            <a:ext cx="82173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ank you 1">
  <p:cSld name="CUSTOM_2">
    <p:spTree>
      <p:nvGrpSpPr>
        <p:cNvPr id="1" name="Shape 133"/>
        <p:cNvGrpSpPr/>
        <p:nvPr/>
      </p:nvGrpSpPr>
      <p:grpSpPr>
        <a:xfrm>
          <a:off x="0" y="0"/>
          <a:ext cx="0" cy="0"/>
          <a:chOff x="0" y="0"/>
          <a:chExt cx="0" cy="0"/>
        </a:xfrm>
      </p:grpSpPr>
      <p:sp>
        <p:nvSpPr>
          <p:cNvPr id="134" name="Google Shape;134;p34"/>
          <p:cNvSpPr txBox="1"/>
          <p:nvPr/>
        </p:nvSpPr>
        <p:spPr>
          <a:xfrm>
            <a:off x="2099100" y="1456925"/>
            <a:ext cx="5262000" cy="800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4400"/>
              <a:buFont typeface="Arial"/>
              <a:buNone/>
            </a:pPr>
            <a:r>
              <a:rPr lang="en" sz="4400" b="0" i="0" u="none" strike="noStrike" cap="none">
                <a:solidFill>
                  <a:schemeClr val="accent1"/>
                </a:solidFill>
                <a:latin typeface="Proxima Nova"/>
                <a:ea typeface="Proxima Nova"/>
                <a:cs typeface="Proxima Nova"/>
                <a:sym typeface="Proxima Nova"/>
              </a:rPr>
              <a:t>THANK YOU</a:t>
            </a:r>
            <a:endParaRPr sz="4400" b="0" i="0" u="none" strike="noStrike" cap="none">
              <a:solidFill>
                <a:schemeClr val="accent1"/>
              </a:solidFill>
              <a:latin typeface="Proxima Nova"/>
              <a:ea typeface="Proxima Nova"/>
              <a:cs typeface="Proxima Nova"/>
              <a:sym typeface="Proxima Nova"/>
            </a:endParaRPr>
          </a:p>
        </p:txBody>
      </p:sp>
      <p:sp>
        <p:nvSpPr>
          <p:cNvPr id="135" name="Google Shape;135;p34"/>
          <p:cNvSpPr txBox="1">
            <a:spLocks noGrp="1"/>
          </p:cNvSpPr>
          <p:nvPr>
            <p:ph type="subTitle" idx="1"/>
          </p:nvPr>
        </p:nvSpPr>
        <p:spPr>
          <a:xfrm>
            <a:off x="2092775" y="2305650"/>
            <a:ext cx="5271900" cy="3207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2pPr>
            <a:lvl3pPr marR="0" lvl="2"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3pPr>
            <a:lvl4pPr marR="0" lvl="3"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4pPr>
            <a:lvl5pPr marR="0" lvl="4"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5pPr>
            <a:lvl6pPr marR="0" lvl="5"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6pPr>
            <a:lvl7pPr marR="0" lvl="6"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7pPr>
            <a:lvl8pPr marR="0" lvl="7"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8pPr>
            <a:lvl9pPr marR="0" lvl="8"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9pPr>
          </a:lstStyle>
          <a:p>
            <a:endParaRPr/>
          </a:p>
        </p:txBody>
      </p:sp>
      <p:sp>
        <p:nvSpPr>
          <p:cNvPr id="138" name="Google Shape;138;p34"/>
          <p:cNvSpPr/>
          <p:nvPr/>
        </p:nvSpPr>
        <p:spPr>
          <a:xfrm>
            <a:off x="2166199" y="3057550"/>
            <a:ext cx="6492300" cy="27900"/>
          </a:xfrm>
          <a:prstGeom prst="rect">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roxima Nova"/>
              <a:ea typeface="Proxima Nova"/>
              <a:cs typeface="Proxima Nova"/>
              <a:sym typeface="Proxima Nova"/>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9.xml"/><Relationship Id="rId7" Type="http://schemas.openxmlformats.org/officeDocument/2006/relationships/slideLayout" Target="../slideLayouts/slideLayout13.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0" r:id="rId1"/>
    <p:sldLayoutId id="2147483651" r:id="rId2"/>
    <p:sldLayoutId id="2147483653" r:id="rId3"/>
    <p:sldLayoutId id="2147483654" r:id="rId4"/>
    <p:sldLayoutId id="2147483655" r:id="rId5"/>
    <p:sldLayoutId id="2147483656"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7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g27625e78053_0_64"/>
          <p:cNvSpPr txBox="1"/>
          <p:nvPr/>
        </p:nvSpPr>
        <p:spPr>
          <a:xfrm>
            <a:off x="702325" y="1771000"/>
            <a:ext cx="6725400" cy="663600"/>
          </a:xfrm>
          <a:prstGeom prst="rect">
            <a:avLst/>
          </a:prstGeom>
          <a:solidFill>
            <a:srgbClr val="A64D79"/>
          </a:solidFill>
          <a:ln>
            <a:noFill/>
          </a:ln>
        </p:spPr>
        <p:txBody>
          <a:bodyPr spcFirstLastPara="1" wrap="square" lIns="91425" tIns="45700" rIns="91425" bIns="45700" anchor="t" anchorCtr="0">
            <a:noAutofit/>
          </a:bodyPr>
          <a:lstStyle/>
          <a:p>
            <a:pPr algn="ctr">
              <a:lnSpc>
                <a:spcPct val="90000"/>
              </a:lnSpc>
              <a:buSzPts val="4000"/>
            </a:pPr>
            <a:r>
              <a:rPr lang="en-IN" sz="4000" dirty="0">
                <a:solidFill>
                  <a:schemeClr val="lt1"/>
                </a:solidFill>
                <a:latin typeface="Proxima Nova"/>
                <a:ea typeface="Proxima Nova"/>
                <a:cs typeface="Proxima Nova"/>
              </a:rPr>
              <a:t>Frontend with Angular</a:t>
            </a:r>
          </a:p>
        </p:txBody>
      </p:sp>
    </p:spTree>
    <p:extLst>
      <p:ext uri="{BB962C8B-B14F-4D97-AF65-F5344CB8AC3E}">
        <p14:creationId xmlns:p14="http://schemas.microsoft.com/office/powerpoint/2010/main" val="1876290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E6BC2F85-BF1C-BA7D-EE18-505C2E0AD2D6}"/>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43CCFDBD-0856-6439-17E1-4EDFA8EA9303}"/>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US" sz="2400" dirty="0"/>
              <a:t>Angular Services</a:t>
            </a:r>
            <a:endParaRPr lang="en-IN" sz="2400" b="1" dirty="0"/>
          </a:p>
        </p:txBody>
      </p:sp>
      <p:sp>
        <p:nvSpPr>
          <p:cNvPr id="6" name="TextBox 5">
            <a:extLst>
              <a:ext uri="{FF2B5EF4-FFF2-40B4-BE49-F238E27FC236}">
                <a16:creationId xmlns:a16="http://schemas.microsoft.com/office/drawing/2014/main" id="{019A9C95-5D10-7214-A2B1-8797FB01CB0A}"/>
              </a:ext>
            </a:extLst>
          </p:cNvPr>
          <p:cNvSpPr txBox="1"/>
          <p:nvPr/>
        </p:nvSpPr>
        <p:spPr>
          <a:xfrm>
            <a:off x="426945" y="1132650"/>
            <a:ext cx="7842996" cy="2246769"/>
          </a:xfrm>
          <a:prstGeom prst="rect">
            <a:avLst/>
          </a:prstGeom>
          <a:noFill/>
        </p:spPr>
        <p:txBody>
          <a:bodyPr wrap="square">
            <a:spAutoFit/>
          </a:bodyPr>
          <a:lstStyle/>
          <a:p>
            <a:endParaRPr lang="en-US" dirty="0"/>
          </a:p>
          <a:p>
            <a:r>
              <a:rPr lang="en-US" dirty="0"/>
              <a:t>What is an Angular Service?</a:t>
            </a:r>
          </a:p>
          <a:p>
            <a:r>
              <a:rPr lang="en-US" dirty="0"/>
              <a:t>Service is a piece of reusable code with a focused purpose. A code that you will use in many components across your application</a:t>
            </a:r>
          </a:p>
          <a:p>
            <a:endParaRPr lang="en-US" dirty="0"/>
          </a:p>
          <a:p>
            <a:r>
              <a:rPr lang="en-US" dirty="0"/>
              <a:t>Our components need to access the data. You can write data access code in each component, but that is very inefficient and breaks the rule of single responsibility. The Component must focus on presenting data to the user. The task of getting data from the back-end server must be delegated to some other class. We call such a class a Service class. Because it provides the service of providing data to every component that needs it.</a:t>
            </a:r>
            <a:endParaRPr lang="en-IN" dirty="0"/>
          </a:p>
        </p:txBody>
      </p:sp>
    </p:spTree>
    <p:extLst>
      <p:ext uri="{BB962C8B-B14F-4D97-AF65-F5344CB8AC3E}">
        <p14:creationId xmlns:p14="http://schemas.microsoft.com/office/powerpoint/2010/main" val="2888700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FC9663FF-BA1F-EC23-0E08-20625C8A67E8}"/>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D5C70E3F-98CA-86C0-1D70-5DD9175D7EF0}"/>
              </a:ext>
            </a:extLst>
          </p:cNvPr>
          <p:cNvSpPr txBox="1"/>
          <p:nvPr/>
        </p:nvSpPr>
        <p:spPr>
          <a:xfrm>
            <a:off x="381000" y="300830"/>
            <a:ext cx="8382000" cy="553968"/>
          </a:xfrm>
          <a:prstGeom prst="rect">
            <a:avLst/>
          </a:prstGeom>
          <a:noFill/>
          <a:ln>
            <a:noFill/>
          </a:ln>
        </p:spPr>
        <p:txBody>
          <a:bodyPr spcFirstLastPara="1" wrap="square" lIns="91425" tIns="91425" rIns="91425" bIns="91425" anchor="t" anchorCtr="0">
            <a:spAutoFit/>
          </a:bodyPr>
          <a:lstStyle/>
          <a:p>
            <a:r>
              <a:rPr lang="en-US" sz="2400" dirty="0"/>
              <a:t>What Angular Services are used for</a:t>
            </a:r>
            <a:endParaRPr lang="en-IN" sz="2400" b="1" dirty="0"/>
          </a:p>
        </p:txBody>
      </p:sp>
      <p:sp>
        <p:nvSpPr>
          <p:cNvPr id="6" name="TextBox 5">
            <a:extLst>
              <a:ext uri="{FF2B5EF4-FFF2-40B4-BE49-F238E27FC236}">
                <a16:creationId xmlns:a16="http://schemas.microsoft.com/office/drawing/2014/main" id="{0328984A-8197-8EE4-FA98-E1F5C2AF7CDE}"/>
              </a:ext>
            </a:extLst>
          </p:cNvPr>
          <p:cNvSpPr txBox="1"/>
          <p:nvPr/>
        </p:nvSpPr>
        <p:spPr>
          <a:xfrm>
            <a:off x="426945" y="1132650"/>
            <a:ext cx="7964020" cy="2677656"/>
          </a:xfrm>
          <a:prstGeom prst="rect">
            <a:avLst/>
          </a:prstGeom>
          <a:noFill/>
        </p:spPr>
        <p:txBody>
          <a:bodyPr wrap="square">
            <a:spAutoFit/>
          </a:bodyPr>
          <a:lstStyle/>
          <a:p>
            <a:pPr fontAlgn="base"/>
            <a:r>
              <a:rPr lang="en-US" dirty="0"/>
              <a:t>Features that are independent of components such a logging services</a:t>
            </a:r>
          </a:p>
          <a:p>
            <a:pPr fontAlgn="base"/>
            <a:r>
              <a:rPr lang="en-US" dirty="0"/>
              <a:t>Share logic or data across components</a:t>
            </a:r>
          </a:p>
          <a:p>
            <a:pPr fontAlgn="base"/>
            <a:r>
              <a:rPr lang="en-US" dirty="0"/>
              <a:t>Encapsulate external interactions like data access</a:t>
            </a:r>
          </a:p>
          <a:p>
            <a:pPr fontAlgn="base"/>
            <a:r>
              <a:rPr lang="en-US" dirty="0"/>
              <a:t>Advantageous of Angular Service</a:t>
            </a:r>
          </a:p>
          <a:p>
            <a:pPr fontAlgn="base"/>
            <a:r>
              <a:rPr lang="en-US" dirty="0"/>
              <a:t>Services are easier to test.</a:t>
            </a:r>
          </a:p>
          <a:p>
            <a:pPr fontAlgn="base"/>
            <a:r>
              <a:rPr lang="en-US" dirty="0"/>
              <a:t>They are easier to Debug.</a:t>
            </a:r>
          </a:p>
          <a:p>
            <a:pPr fontAlgn="base"/>
            <a:r>
              <a:rPr lang="en-US" dirty="0"/>
              <a:t>We can reuse the service at many places.</a:t>
            </a:r>
          </a:p>
          <a:p>
            <a:pPr fontAlgn="base"/>
            <a:endParaRPr lang="en-US" dirty="0"/>
          </a:p>
          <a:p>
            <a:pPr fontAlgn="base"/>
            <a:r>
              <a:rPr lang="en-US" dirty="0"/>
              <a:t>How to create a Service in Angular</a:t>
            </a:r>
          </a:p>
          <a:p>
            <a:pPr fontAlgn="base"/>
            <a:r>
              <a:rPr lang="en-US" dirty="0"/>
              <a:t>An Angular service is simply a </a:t>
            </a:r>
            <a:r>
              <a:rPr lang="en-US" dirty="0" err="1"/>
              <a:t>Javascript</a:t>
            </a:r>
            <a:r>
              <a:rPr lang="en-US" dirty="0"/>
              <a:t> function. All we need to do is to create a class and add methods &amp; properties. We can then create an instance of this class in our component and call its methods.</a:t>
            </a:r>
            <a:endParaRPr lang="en-IN" dirty="0"/>
          </a:p>
        </p:txBody>
      </p:sp>
    </p:spTree>
    <p:extLst>
      <p:ext uri="{BB962C8B-B14F-4D97-AF65-F5344CB8AC3E}">
        <p14:creationId xmlns:p14="http://schemas.microsoft.com/office/powerpoint/2010/main" val="1597231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27F98073-2781-B7A0-909B-4D9A18B299D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BA8596E-65A7-C26C-205F-006025931B21}"/>
              </a:ext>
            </a:extLst>
          </p:cNvPr>
          <p:cNvSpPr txBox="1"/>
          <p:nvPr/>
        </p:nvSpPr>
        <p:spPr>
          <a:xfrm>
            <a:off x="426945" y="1132650"/>
            <a:ext cx="7063068" cy="2031325"/>
          </a:xfrm>
          <a:prstGeom prst="rect">
            <a:avLst/>
          </a:prstGeom>
          <a:noFill/>
        </p:spPr>
        <p:txBody>
          <a:bodyPr wrap="square">
            <a:spAutoFit/>
          </a:bodyPr>
          <a:lstStyle/>
          <a:p>
            <a:pPr fontAlgn="base"/>
            <a:r>
              <a:rPr lang="en-IN" dirty="0"/>
              <a:t>What is Dependency</a:t>
            </a:r>
            <a:endParaRPr lang="en-IN" b="1" dirty="0"/>
          </a:p>
          <a:p>
            <a:pPr fontAlgn="base"/>
            <a:r>
              <a:rPr lang="en-US" dirty="0"/>
              <a:t>In short, the </a:t>
            </a:r>
            <a:r>
              <a:rPr lang="en-US" dirty="0" err="1"/>
              <a:t>AppComponent</a:t>
            </a:r>
            <a:r>
              <a:rPr lang="en-US" dirty="0"/>
              <a:t> has a dependency on </a:t>
            </a:r>
            <a:r>
              <a:rPr lang="en-US" dirty="0" err="1"/>
              <a:t>ProductService</a:t>
            </a:r>
            <a:r>
              <a:rPr lang="en-US" dirty="0"/>
              <a:t>.</a:t>
            </a:r>
          </a:p>
          <a:p>
            <a:pPr fontAlgn="base"/>
            <a:endParaRPr lang="en-US" dirty="0"/>
          </a:p>
          <a:p>
            <a:pPr fontAlgn="base"/>
            <a:r>
              <a:rPr lang="en-US" dirty="0"/>
              <a:t>Dependency Injection (DI) is a technique in which a class receives its dependencies from external sources rather than creating them itself.</a:t>
            </a:r>
          </a:p>
          <a:p>
            <a:pPr fontAlgn="base"/>
            <a:endParaRPr lang="en-US" dirty="0"/>
          </a:p>
          <a:p>
            <a:pPr fontAlgn="base"/>
            <a:r>
              <a:rPr lang="en-US" dirty="0"/>
              <a:t>Let us look at the </a:t>
            </a:r>
            <a:r>
              <a:rPr lang="en-US" dirty="0" err="1"/>
              <a:t>ProductService</a:t>
            </a:r>
            <a:r>
              <a:rPr lang="en-US" dirty="0"/>
              <a:t>, which we created in our project.</a:t>
            </a:r>
            <a:br>
              <a:rPr lang="en-US" dirty="0"/>
            </a:br>
            <a:endParaRPr lang="en-US" dirty="0"/>
          </a:p>
          <a:p>
            <a:pPr fontAlgn="base"/>
            <a:r>
              <a:rPr lang="en-US" dirty="0"/>
              <a:t>Our </a:t>
            </a:r>
            <a:r>
              <a:rPr lang="en-US" dirty="0" err="1"/>
              <a:t>ProductService</a:t>
            </a:r>
            <a:r>
              <a:rPr lang="en-US" dirty="0"/>
              <a:t> returns the hard-coded products when </a:t>
            </a:r>
            <a:r>
              <a:rPr lang="en-US" dirty="0" err="1"/>
              <a:t>getProduct</a:t>
            </a:r>
            <a:r>
              <a:rPr lang="en-US" dirty="0"/>
              <a:t> method invoked.</a:t>
            </a:r>
            <a:endParaRPr lang="en-IN" dirty="0"/>
          </a:p>
        </p:txBody>
      </p:sp>
      <p:sp>
        <p:nvSpPr>
          <p:cNvPr id="3" name="Google Shape;283;g23d6530f4b9_0_82">
            <a:extLst>
              <a:ext uri="{FF2B5EF4-FFF2-40B4-BE49-F238E27FC236}">
                <a16:creationId xmlns:a16="http://schemas.microsoft.com/office/drawing/2014/main" id="{5ED0D766-1567-D451-9E10-17610F7F2FF6}"/>
              </a:ext>
            </a:extLst>
          </p:cNvPr>
          <p:cNvSpPr txBox="1"/>
          <p:nvPr/>
        </p:nvSpPr>
        <p:spPr>
          <a:xfrm>
            <a:off x="381000" y="300830"/>
            <a:ext cx="8382000" cy="553968"/>
          </a:xfrm>
          <a:prstGeom prst="rect">
            <a:avLst/>
          </a:prstGeom>
          <a:noFill/>
          <a:ln>
            <a:noFill/>
          </a:ln>
        </p:spPr>
        <p:txBody>
          <a:bodyPr spcFirstLastPara="1" wrap="square" lIns="91425" tIns="91425" rIns="91425" bIns="91425" anchor="t" anchorCtr="0">
            <a:spAutoFit/>
          </a:bodyPr>
          <a:lstStyle/>
          <a:p>
            <a:r>
              <a:rPr lang="en-US" sz="2400" dirty="0"/>
              <a:t>What is Angular Dependency Injection</a:t>
            </a:r>
            <a:endParaRPr lang="en-IN" sz="2400" b="1" dirty="0"/>
          </a:p>
        </p:txBody>
      </p:sp>
    </p:spTree>
    <p:extLst>
      <p:ext uri="{BB962C8B-B14F-4D97-AF65-F5344CB8AC3E}">
        <p14:creationId xmlns:p14="http://schemas.microsoft.com/office/powerpoint/2010/main" val="1862919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F6126887-0B1F-4F18-9DDC-1064E21141A5}"/>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FB6A2992-D9E0-D046-3EBC-596905C1B48E}"/>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Benefits of Dependency Injection</a:t>
            </a:r>
            <a:endParaRPr lang="en-IN" sz="2400" b="1" dirty="0"/>
          </a:p>
        </p:txBody>
      </p:sp>
      <p:sp>
        <p:nvSpPr>
          <p:cNvPr id="4" name="TextBox 3">
            <a:extLst>
              <a:ext uri="{FF2B5EF4-FFF2-40B4-BE49-F238E27FC236}">
                <a16:creationId xmlns:a16="http://schemas.microsoft.com/office/drawing/2014/main" id="{37E8EB3A-086C-45F7-9385-AE7F05BE51F7}"/>
              </a:ext>
            </a:extLst>
          </p:cNvPr>
          <p:cNvSpPr txBox="1"/>
          <p:nvPr/>
        </p:nvSpPr>
        <p:spPr>
          <a:xfrm>
            <a:off x="381000" y="1106193"/>
            <a:ext cx="7835153" cy="2893100"/>
          </a:xfrm>
          <a:prstGeom prst="rect">
            <a:avLst/>
          </a:prstGeom>
          <a:noFill/>
        </p:spPr>
        <p:txBody>
          <a:bodyPr wrap="square">
            <a:spAutoFit/>
          </a:bodyPr>
          <a:lstStyle/>
          <a:p>
            <a:r>
              <a:rPr lang="en-US" b="1" dirty="0"/>
              <a:t>loosely coupled</a:t>
            </a:r>
          </a:p>
          <a:p>
            <a:r>
              <a:rPr lang="en-US" dirty="0"/>
              <a:t>Our Component is now loosely coupled to the </a:t>
            </a:r>
            <a:r>
              <a:rPr lang="en-US" dirty="0" err="1"/>
              <a:t>ProductService</a:t>
            </a:r>
            <a:r>
              <a:rPr lang="en-US" dirty="0"/>
              <a:t>.</a:t>
            </a:r>
          </a:p>
          <a:p>
            <a:endParaRPr lang="en-US" dirty="0"/>
          </a:p>
          <a:p>
            <a:r>
              <a:rPr lang="en-US" b="1" dirty="0"/>
              <a:t>Easier to Test</a:t>
            </a:r>
          </a:p>
          <a:p>
            <a:r>
              <a:rPr lang="en-US" dirty="0" err="1"/>
              <a:t>AppComponent</a:t>
            </a:r>
            <a:r>
              <a:rPr lang="en-US" dirty="0"/>
              <a:t> is now easier to Test. Our </a:t>
            </a:r>
            <a:r>
              <a:rPr lang="en-US" dirty="0" err="1"/>
              <a:t>AppComponent</a:t>
            </a:r>
            <a:r>
              <a:rPr lang="en-US" dirty="0"/>
              <a:t> is not dependent on a particular implementation of </a:t>
            </a:r>
            <a:r>
              <a:rPr lang="en-US" dirty="0" err="1"/>
              <a:t>ProductService</a:t>
            </a:r>
            <a:r>
              <a:rPr lang="en-US" dirty="0"/>
              <a:t> anymore. It will work with any implementation of </a:t>
            </a:r>
            <a:r>
              <a:rPr lang="en-US" dirty="0" err="1"/>
              <a:t>ProductService</a:t>
            </a:r>
            <a:r>
              <a:rPr lang="en-US" dirty="0"/>
              <a:t> that is passed on to it. You can just create a </a:t>
            </a:r>
            <a:r>
              <a:rPr lang="en-US" dirty="0" err="1"/>
              <a:t>mockProductService</a:t>
            </a:r>
            <a:r>
              <a:rPr lang="en-US" dirty="0"/>
              <a:t> Class and pass it while testing.</a:t>
            </a:r>
          </a:p>
          <a:p>
            <a:endParaRPr lang="en-US" dirty="0"/>
          </a:p>
          <a:p>
            <a:r>
              <a:rPr lang="en-US" b="1" dirty="0"/>
              <a:t>Reusing the Component</a:t>
            </a:r>
          </a:p>
          <a:p>
            <a:r>
              <a:rPr lang="en-US" dirty="0"/>
              <a:t>Reusing of the component is becomes easier. Our Component will now work with any </a:t>
            </a:r>
            <a:r>
              <a:rPr lang="en-US" dirty="0" err="1"/>
              <a:t>ProductService</a:t>
            </a:r>
            <a:r>
              <a:rPr lang="en-US" dirty="0"/>
              <a:t> as long as the interface is honored.</a:t>
            </a:r>
          </a:p>
          <a:p>
            <a:endParaRPr lang="en-US" dirty="0"/>
          </a:p>
        </p:txBody>
      </p:sp>
    </p:spTree>
    <p:extLst>
      <p:ext uri="{BB962C8B-B14F-4D97-AF65-F5344CB8AC3E}">
        <p14:creationId xmlns:p14="http://schemas.microsoft.com/office/powerpoint/2010/main" val="25095736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7DC80E52-F0EB-F648-D32D-2159249E7749}"/>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40A72FEB-3EF7-20F0-953A-3DC7946F7B37}"/>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Hierarchical Dependency Injection</a:t>
            </a:r>
            <a:endParaRPr lang="en-IN" sz="2400" b="1" dirty="0"/>
          </a:p>
        </p:txBody>
      </p:sp>
      <p:sp>
        <p:nvSpPr>
          <p:cNvPr id="4" name="TextBox 3">
            <a:extLst>
              <a:ext uri="{FF2B5EF4-FFF2-40B4-BE49-F238E27FC236}">
                <a16:creationId xmlns:a16="http://schemas.microsoft.com/office/drawing/2014/main" id="{69FE2AF0-DB9A-417D-590C-730A97E89D0C}"/>
              </a:ext>
            </a:extLst>
          </p:cNvPr>
          <p:cNvSpPr txBox="1"/>
          <p:nvPr/>
        </p:nvSpPr>
        <p:spPr>
          <a:xfrm>
            <a:off x="381000" y="1106193"/>
            <a:ext cx="7835153" cy="2031325"/>
          </a:xfrm>
          <a:prstGeom prst="rect">
            <a:avLst/>
          </a:prstGeom>
          <a:noFill/>
        </p:spPr>
        <p:txBody>
          <a:bodyPr wrap="square">
            <a:spAutoFit/>
          </a:bodyPr>
          <a:lstStyle/>
          <a:p>
            <a:r>
              <a:rPr lang="en-US" dirty="0"/>
              <a:t>The Angular creates a hierarchical dependency injection system. It creates a hierarchical tree of Injectors. Each Injector gets their own copy of Angular Providers.</a:t>
            </a:r>
          </a:p>
          <a:p>
            <a:endParaRPr lang="en-US" dirty="0"/>
          </a:p>
          <a:p>
            <a:r>
              <a:rPr lang="en-US" dirty="0"/>
              <a:t>Angular creates the Element Injector tree for the services to be provided at the element level like Components &amp; Directives.</a:t>
            </a:r>
          </a:p>
          <a:p>
            <a:endParaRPr lang="en-US" dirty="0"/>
          </a:p>
          <a:p>
            <a:r>
              <a:rPr lang="en-US" dirty="0"/>
              <a:t>When a component requests a dependency, Angular searches up the injector tree until it finds the provider</a:t>
            </a:r>
          </a:p>
          <a:p>
            <a:endParaRPr lang="en-US" dirty="0"/>
          </a:p>
        </p:txBody>
      </p:sp>
      <p:pic>
        <p:nvPicPr>
          <p:cNvPr id="1026" name="Picture 2" descr="Element Injector Tree Hierarchy">
            <a:extLst>
              <a:ext uri="{FF2B5EF4-FFF2-40B4-BE49-F238E27FC236}">
                <a16:creationId xmlns:a16="http://schemas.microsoft.com/office/drawing/2014/main" id="{E16CD5E3-510C-07D5-AA7C-5EF8717AA4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2227" y="2730562"/>
            <a:ext cx="3213926" cy="2160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8317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5DCB2CFB-FF84-48D2-34F1-ABD4AB237920}"/>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C154AF2D-26B8-7AB4-6CC2-3638A3C6186B}"/>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Angular Singleton Service</a:t>
            </a:r>
            <a:endParaRPr lang="en-IN" sz="2400" b="1" dirty="0"/>
          </a:p>
        </p:txBody>
      </p:sp>
      <p:sp>
        <p:nvSpPr>
          <p:cNvPr id="4" name="TextBox 3">
            <a:extLst>
              <a:ext uri="{FF2B5EF4-FFF2-40B4-BE49-F238E27FC236}">
                <a16:creationId xmlns:a16="http://schemas.microsoft.com/office/drawing/2014/main" id="{2977CFFF-C71E-E648-861B-4C195ACE1072}"/>
              </a:ext>
            </a:extLst>
          </p:cNvPr>
          <p:cNvSpPr txBox="1"/>
          <p:nvPr/>
        </p:nvSpPr>
        <p:spPr>
          <a:xfrm>
            <a:off x="381000" y="1106193"/>
            <a:ext cx="7835153" cy="3323987"/>
          </a:xfrm>
          <a:prstGeom prst="rect">
            <a:avLst/>
          </a:prstGeom>
          <a:noFill/>
        </p:spPr>
        <p:txBody>
          <a:bodyPr wrap="square">
            <a:spAutoFit/>
          </a:bodyPr>
          <a:lstStyle/>
          <a:p>
            <a:r>
              <a:rPr lang="en-US" dirty="0"/>
              <a:t>A singleton service is a service for which only one instance exists in an app.</a:t>
            </a:r>
          </a:p>
          <a:p>
            <a:r>
              <a:rPr lang="en-US" dirty="0"/>
              <a:t>How to Create a Singleton Service in Angular</a:t>
            </a:r>
          </a:p>
          <a:p>
            <a:r>
              <a:rPr lang="en-US" dirty="0"/>
              <a:t>There are two ways in which you can create a Singleton Service</a:t>
            </a:r>
          </a:p>
          <a:p>
            <a:endParaRPr lang="en-US" dirty="0"/>
          </a:p>
          <a:p>
            <a:r>
              <a:rPr lang="en-US" dirty="0"/>
              <a:t>Using the root option of the </a:t>
            </a:r>
            <a:r>
              <a:rPr lang="en-US" dirty="0" err="1"/>
              <a:t>providedIn</a:t>
            </a:r>
            <a:r>
              <a:rPr lang="en-US" dirty="0"/>
              <a:t> property. This works irrespective of your service is in an eager module or lazy loaded module. Using the </a:t>
            </a:r>
            <a:r>
              <a:rPr lang="en-US" dirty="0" err="1"/>
              <a:t>providedIn</a:t>
            </a:r>
            <a:r>
              <a:rPr lang="en-US" dirty="0"/>
              <a:t>  is the preferred way as it makes the service tree </a:t>
            </a:r>
            <a:r>
              <a:rPr lang="en-US" dirty="0" err="1"/>
              <a:t>shakeable</a:t>
            </a:r>
            <a:r>
              <a:rPr lang="en-US" dirty="0"/>
              <a:t>.</a:t>
            </a:r>
          </a:p>
          <a:p>
            <a:endParaRPr lang="en-US" dirty="0"/>
          </a:p>
          <a:p>
            <a:r>
              <a:rPr lang="en-US" dirty="0"/>
              <a:t>Single instance shared across entire application Perfect for:</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Application configuration</a:t>
            </a:r>
          </a:p>
          <a:p>
            <a:pPr marL="285750" indent="-285750">
              <a:buFont typeface="Arial" panose="020B0604020202020204" pitchFamily="34" charset="0"/>
              <a:buChar char="•"/>
            </a:pPr>
            <a:r>
              <a:rPr lang="en-US" dirty="0"/>
              <a:t>Global state management</a:t>
            </a:r>
          </a:p>
          <a:p>
            <a:pPr marL="285750" indent="-285750">
              <a:buFont typeface="Arial" panose="020B0604020202020204" pitchFamily="34" charset="0"/>
              <a:buChar char="•"/>
            </a:pPr>
            <a:r>
              <a:rPr lang="en-US" dirty="0"/>
              <a:t>Caching</a:t>
            </a:r>
          </a:p>
          <a:p>
            <a:pPr marL="285750" indent="-285750">
              <a:buFont typeface="Arial" panose="020B0604020202020204" pitchFamily="34" charset="0"/>
              <a:buChar char="•"/>
            </a:pPr>
            <a:r>
              <a:rPr lang="en-US" dirty="0"/>
              <a:t>Authentication</a:t>
            </a:r>
          </a:p>
          <a:p>
            <a:pPr marL="285750" indent="-285750">
              <a:buFont typeface="Arial" panose="020B0604020202020204" pitchFamily="34" charset="0"/>
              <a:buChar char="•"/>
            </a:pPr>
            <a:r>
              <a:rPr lang="en-US" dirty="0"/>
              <a:t>Logging</a:t>
            </a:r>
          </a:p>
        </p:txBody>
      </p:sp>
      <p:sp>
        <p:nvSpPr>
          <p:cNvPr id="3" name="TextBox 2">
            <a:extLst>
              <a:ext uri="{FF2B5EF4-FFF2-40B4-BE49-F238E27FC236}">
                <a16:creationId xmlns:a16="http://schemas.microsoft.com/office/drawing/2014/main" id="{32CA7530-F6EC-AD7B-2036-D44CC1D59439}"/>
              </a:ext>
            </a:extLst>
          </p:cNvPr>
          <p:cNvSpPr txBox="1"/>
          <p:nvPr/>
        </p:nvSpPr>
        <p:spPr>
          <a:xfrm>
            <a:off x="3644153" y="3775697"/>
            <a:ext cx="4572000" cy="523220"/>
          </a:xfrm>
          <a:prstGeom prst="rect">
            <a:avLst/>
          </a:prstGeom>
          <a:noFill/>
        </p:spPr>
        <p:txBody>
          <a:bodyPr wrap="square">
            <a:spAutoFit/>
          </a:bodyPr>
          <a:lstStyle/>
          <a:p>
            <a:r>
              <a:rPr lang="en-US" b="0" i="0" dirty="0">
                <a:solidFill>
                  <a:srgbClr val="000000"/>
                </a:solidFill>
                <a:effectLst/>
                <a:latin typeface="Courier 10 Pitch"/>
              </a:rPr>
              <a:t>@Injectable({ </a:t>
            </a:r>
            <a:r>
              <a:rPr lang="en-US" b="0" i="0" dirty="0" err="1">
                <a:solidFill>
                  <a:srgbClr val="000000"/>
                </a:solidFill>
                <a:effectLst/>
                <a:latin typeface="Courier 10 Pitch"/>
              </a:rPr>
              <a:t>providedIn</a:t>
            </a:r>
            <a:r>
              <a:rPr lang="en-US" b="0" i="0" dirty="0">
                <a:solidFill>
                  <a:srgbClr val="000000"/>
                </a:solidFill>
                <a:effectLst/>
                <a:latin typeface="Courier 10 Pitch"/>
              </a:rPr>
              <a:t>: 'root' }) export class </a:t>
            </a:r>
            <a:r>
              <a:rPr lang="en-US" b="0" i="0" dirty="0" err="1">
                <a:solidFill>
                  <a:srgbClr val="000000"/>
                </a:solidFill>
                <a:effectLst/>
                <a:latin typeface="Courier 10 Pitch"/>
              </a:rPr>
              <a:t>AppService</a:t>
            </a:r>
            <a:r>
              <a:rPr lang="en-US" b="0" i="0" dirty="0">
                <a:solidFill>
                  <a:srgbClr val="000000"/>
                </a:solidFill>
                <a:effectLst/>
                <a:latin typeface="Courier 10 Pitch"/>
              </a:rPr>
              <a:t> { ... }</a:t>
            </a:r>
            <a:endParaRPr lang="en-IN" dirty="0"/>
          </a:p>
        </p:txBody>
      </p:sp>
    </p:spTree>
    <p:extLst>
      <p:ext uri="{BB962C8B-B14F-4D97-AF65-F5344CB8AC3E}">
        <p14:creationId xmlns:p14="http://schemas.microsoft.com/office/powerpoint/2010/main" val="14204088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232CFFE7-B4A5-0048-C533-55C872280A92}"/>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A5314B81-D8BB-FE85-5D0A-5113DFC8C9A8}"/>
              </a:ext>
            </a:extLst>
          </p:cNvPr>
          <p:cNvSpPr txBox="1"/>
          <p:nvPr/>
        </p:nvSpPr>
        <p:spPr>
          <a:xfrm>
            <a:off x="381000" y="305760"/>
            <a:ext cx="8382000" cy="553968"/>
          </a:xfrm>
          <a:prstGeom prst="rect">
            <a:avLst/>
          </a:prstGeom>
          <a:noFill/>
          <a:ln>
            <a:noFill/>
          </a:ln>
        </p:spPr>
        <p:txBody>
          <a:bodyPr spcFirstLastPara="1" wrap="square" lIns="91425" tIns="91425" rIns="91425" bIns="91425" anchor="t" anchorCtr="0">
            <a:spAutoFit/>
          </a:bodyPr>
          <a:lstStyle/>
          <a:p>
            <a:r>
              <a:rPr lang="en-IN" sz="2400" dirty="0"/>
              <a:t>Angular Multi-instance Service</a:t>
            </a:r>
            <a:endParaRPr lang="en-IN" sz="2400" b="1" dirty="0"/>
          </a:p>
        </p:txBody>
      </p:sp>
      <p:graphicFrame>
        <p:nvGraphicFramePr>
          <p:cNvPr id="19" name="Table 18">
            <a:extLst>
              <a:ext uri="{FF2B5EF4-FFF2-40B4-BE49-F238E27FC236}">
                <a16:creationId xmlns:a16="http://schemas.microsoft.com/office/drawing/2014/main" id="{BA91B254-8D96-6207-BE5A-36752EC69590}"/>
              </a:ext>
            </a:extLst>
          </p:cNvPr>
          <p:cNvGraphicFramePr>
            <a:graphicFrameLocks noGrp="1"/>
          </p:cNvGraphicFramePr>
          <p:nvPr>
            <p:extLst>
              <p:ext uri="{D42A27DB-BD31-4B8C-83A1-F6EECF244321}">
                <p14:modId xmlns:p14="http://schemas.microsoft.com/office/powerpoint/2010/main" val="2347842699"/>
              </p:ext>
            </p:extLst>
          </p:nvPr>
        </p:nvGraphicFramePr>
        <p:xfrm>
          <a:off x="381000" y="2749709"/>
          <a:ext cx="7886700" cy="1219200"/>
        </p:xfrm>
        <a:graphic>
          <a:graphicData uri="http://schemas.openxmlformats.org/drawingml/2006/table">
            <a:tbl>
              <a:tblPr/>
              <a:tblGrid>
                <a:gridCol w="2628900">
                  <a:extLst>
                    <a:ext uri="{9D8B030D-6E8A-4147-A177-3AD203B41FA5}">
                      <a16:colId xmlns:a16="http://schemas.microsoft.com/office/drawing/2014/main" val="2894547855"/>
                    </a:ext>
                  </a:extLst>
                </a:gridCol>
                <a:gridCol w="2628900">
                  <a:extLst>
                    <a:ext uri="{9D8B030D-6E8A-4147-A177-3AD203B41FA5}">
                      <a16:colId xmlns:a16="http://schemas.microsoft.com/office/drawing/2014/main" val="3650030636"/>
                    </a:ext>
                  </a:extLst>
                </a:gridCol>
                <a:gridCol w="2628900">
                  <a:extLst>
                    <a:ext uri="{9D8B030D-6E8A-4147-A177-3AD203B41FA5}">
                      <a16:colId xmlns:a16="http://schemas.microsoft.com/office/drawing/2014/main" val="1297235082"/>
                    </a:ext>
                  </a:extLst>
                </a:gridCol>
              </a:tblGrid>
              <a:tr h="0">
                <a:tc>
                  <a:txBody>
                    <a:bodyPr/>
                    <a:lstStyle/>
                    <a:p>
                      <a:pPr>
                        <a:buNone/>
                      </a:pPr>
                      <a:r>
                        <a:rPr lang="en-IN" b="1"/>
                        <a:t>Feature</a:t>
                      </a:r>
                    </a:p>
                  </a:txBody>
                  <a:tcPr anchor="ctr">
                    <a:lnL>
                      <a:noFill/>
                    </a:lnL>
                    <a:lnR>
                      <a:noFill/>
                    </a:lnR>
                    <a:lnT>
                      <a:noFill/>
                    </a:lnT>
                    <a:lnB>
                      <a:noFill/>
                    </a:lnB>
                    <a:noFill/>
                  </a:tcPr>
                </a:tc>
                <a:tc>
                  <a:txBody>
                    <a:bodyPr/>
                    <a:lstStyle/>
                    <a:p>
                      <a:pPr>
                        <a:buNone/>
                      </a:pPr>
                      <a:r>
                        <a:rPr lang="en-IN" b="1"/>
                        <a:t>Singleton</a:t>
                      </a:r>
                    </a:p>
                  </a:txBody>
                  <a:tcPr anchor="ctr">
                    <a:lnL>
                      <a:noFill/>
                    </a:lnL>
                    <a:lnR>
                      <a:noFill/>
                    </a:lnR>
                    <a:lnT>
                      <a:noFill/>
                    </a:lnT>
                    <a:lnB>
                      <a:noFill/>
                    </a:lnB>
                    <a:noFill/>
                  </a:tcPr>
                </a:tc>
                <a:tc>
                  <a:txBody>
                    <a:bodyPr/>
                    <a:lstStyle/>
                    <a:p>
                      <a:pPr>
                        <a:buNone/>
                      </a:pPr>
                      <a:r>
                        <a:rPr lang="en-IN" b="1" dirty="0"/>
                        <a:t>Multi-instance</a:t>
                      </a:r>
                    </a:p>
                  </a:txBody>
                  <a:tcPr anchor="ctr">
                    <a:lnL>
                      <a:noFill/>
                    </a:lnL>
                    <a:lnR>
                      <a:noFill/>
                    </a:lnR>
                    <a:lnT>
                      <a:noFill/>
                    </a:lnT>
                    <a:lnB>
                      <a:noFill/>
                    </a:lnB>
                    <a:noFill/>
                  </a:tcPr>
                </a:tc>
                <a:extLst>
                  <a:ext uri="{0D108BD9-81ED-4DB2-BD59-A6C34878D82A}">
                    <a16:rowId xmlns:a16="http://schemas.microsoft.com/office/drawing/2014/main" val="3076854970"/>
                  </a:ext>
                </a:extLst>
              </a:tr>
              <a:tr h="0">
                <a:tc>
                  <a:txBody>
                    <a:bodyPr/>
                    <a:lstStyle/>
                    <a:p>
                      <a:pPr>
                        <a:buNone/>
                      </a:pPr>
                      <a:r>
                        <a:rPr lang="en-IN"/>
                        <a:t>Instance Count</a:t>
                      </a:r>
                    </a:p>
                  </a:txBody>
                  <a:tcPr anchor="ctr">
                    <a:lnL>
                      <a:noFill/>
                    </a:lnL>
                    <a:lnR>
                      <a:noFill/>
                    </a:lnR>
                    <a:lnT>
                      <a:noFill/>
                    </a:lnT>
                    <a:lnB>
                      <a:noFill/>
                    </a:lnB>
                    <a:noFill/>
                  </a:tcPr>
                </a:tc>
                <a:tc>
                  <a:txBody>
                    <a:bodyPr/>
                    <a:lstStyle/>
                    <a:p>
                      <a:pPr>
                        <a:buNone/>
                      </a:pPr>
                      <a:r>
                        <a:rPr lang="en-IN"/>
                        <a:t>1</a:t>
                      </a:r>
                    </a:p>
                  </a:txBody>
                  <a:tcPr anchor="ctr">
                    <a:lnL>
                      <a:noFill/>
                    </a:lnL>
                    <a:lnR>
                      <a:noFill/>
                    </a:lnR>
                    <a:lnT>
                      <a:noFill/>
                    </a:lnT>
                    <a:lnB>
                      <a:noFill/>
                    </a:lnB>
                    <a:noFill/>
                  </a:tcPr>
                </a:tc>
                <a:tc>
                  <a:txBody>
                    <a:bodyPr/>
                    <a:lstStyle/>
                    <a:p>
                      <a:pPr>
                        <a:buNone/>
                      </a:pPr>
                      <a:r>
                        <a:rPr lang="en-IN"/>
                        <a:t>Many</a:t>
                      </a:r>
                    </a:p>
                  </a:txBody>
                  <a:tcPr anchor="ctr">
                    <a:lnL>
                      <a:noFill/>
                    </a:lnL>
                    <a:lnR>
                      <a:noFill/>
                    </a:lnR>
                    <a:lnT>
                      <a:noFill/>
                    </a:lnT>
                    <a:lnB>
                      <a:noFill/>
                    </a:lnB>
                    <a:noFill/>
                  </a:tcPr>
                </a:tc>
                <a:extLst>
                  <a:ext uri="{0D108BD9-81ED-4DB2-BD59-A6C34878D82A}">
                    <a16:rowId xmlns:a16="http://schemas.microsoft.com/office/drawing/2014/main" val="2892533377"/>
                  </a:ext>
                </a:extLst>
              </a:tr>
              <a:tr h="0">
                <a:tc>
                  <a:txBody>
                    <a:bodyPr/>
                    <a:lstStyle/>
                    <a:p>
                      <a:pPr>
                        <a:buNone/>
                      </a:pPr>
                      <a:r>
                        <a:rPr lang="en-IN"/>
                        <a:t>Scope</a:t>
                      </a:r>
                    </a:p>
                  </a:txBody>
                  <a:tcPr anchor="ctr">
                    <a:lnL>
                      <a:noFill/>
                    </a:lnL>
                    <a:lnR>
                      <a:noFill/>
                    </a:lnR>
                    <a:lnT>
                      <a:noFill/>
                    </a:lnT>
                    <a:lnB>
                      <a:noFill/>
                    </a:lnB>
                    <a:noFill/>
                  </a:tcPr>
                </a:tc>
                <a:tc>
                  <a:txBody>
                    <a:bodyPr/>
                    <a:lstStyle/>
                    <a:p>
                      <a:pPr>
                        <a:buNone/>
                      </a:pPr>
                      <a:r>
                        <a:rPr lang="en-IN"/>
                        <a:t>App-wide</a:t>
                      </a:r>
                    </a:p>
                  </a:txBody>
                  <a:tcPr anchor="ctr">
                    <a:lnL>
                      <a:noFill/>
                    </a:lnL>
                    <a:lnR>
                      <a:noFill/>
                    </a:lnR>
                    <a:lnT>
                      <a:noFill/>
                    </a:lnT>
                    <a:lnB>
                      <a:noFill/>
                    </a:lnB>
                    <a:noFill/>
                  </a:tcPr>
                </a:tc>
                <a:tc>
                  <a:txBody>
                    <a:bodyPr/>
                    <a:lstStyle/>
                    <a:p>
                      <a:pPr>
                        <a:buNone/>
                      </a:pPr>
                      <a:r>
                        <a:rPr lang="en-IN"/>
                        <a:t>Component-level</a:t>
                      </a:r>
                    </a:p>
                  </a:txBody>
                  <a:tcPr anchor="ctr">
                    <a:lnL>
                      <a:noFill/>
                    </a:lnL>
                    <a:lnR>
                      <a:noFill/>
                    </a:lnR>
                    <a:lnT>
                      <a:noFill/>
                    </a:lnT>
                    <a:lnB>
                      <a:noFill/>
                    </a:lnB>
                    <a:noFill/>
                  </a:tcPr>
                </a:tc>
                <a:extLst>
                  <a:ext uri="{0D108BD9-81ED-4DB2-BD59-A6C34878D82A}">
                    <a16:rowId xmlns:a16="http://schemas.microsoft.com/office/drawing/2014/main" val="1802353145"/>
                  </a:ext>
                </a:extLst>
              </a:tr>
              <a:tr h="0">
                <a:tc>
                  <a:txBody>
                    <a:bodyPr/>
                    <a:lstStyle/>
                    <a:p>
                      <a:pPr>
                        <a:buNone/>
                      </a:pPr>
                      <a:r>
                        <a:rPr lang="en-IN" dirty="0"/>
                        <a:t>Data Sharing</a:t>
                      </a:r>
                    </a:p>
                  </a:txBody>
                  <a:tcPr anchor="ctr">
                    <a:lnL>
                      <a:noFill/>
                    </a:lnL>
                    <a:lnR>
                      <a:noFill/>
                    </a:lnR>
                    <a:lnT>
                      <a:noFill/>
                    </a:lnT>
                    <a:lnB>
                      <a:noFill/>
                    </a:lnB>
                    <a:noFill/>
                  </a:tcPr>
                </a:tc>
                <a:tc>
                  <a:txBody>
                    <a:bodyPr/>
                    <a:lstStyle/>
                    <a:p>
                      <a:pPr>
                        <a:buNone/>
                      </a:pPr>
                      <a:r>
                        <a:rPr lang="en-IN"/>
                        <a:t>Yes</a:t>
                      </a:r>
                    </a:p>
                  </a:txBody>
                  <a:tcPr anchor="ctr">
                    <a:lnL>
                      <a:noFill/>
                    </a:lnL>
                    <a:lnR>
                      <a:noFill/>
                    </a:lnR>
                    <a:lnT>
                      <a:noFill/>
                    </a:lnT>
                    <a:lnB>
                      <a:noFill/>
                    </a:lnB>
                    <a:noFill/>
                  </a:tcPr>
                </a:tc>
                <a:tc>
                  <a:txBody>
                    <a:bodyPr/>
                    <a:lstStyle/>
                    <a:p>
                      <a:pPr>
                        <a:buNone/>
                      </a:pPr>
                      <a:r>
                        <a:rPr lang="en-IN" dirty="0"/>
                        <a:t>No</a:t>
                      </a:r>
                    </a:p>
                  </a:txBody>
                  <a:tcPr anchor="ctr">
                    <a:lnL>
                      <a:noFill/>
                    </a:lnL>
                    <a:lnR>
                      <a:noFill/>
                    </a:lnR>
                    <a:lnT>
                      <a:noFill/>
                    </a:lnT>
                    <a:lnB>
                      <a:noFill/>
                    </a:lnB>
                    <a:noFill/>
                  </a:tcPr>
                </a:tc>
                <a:extLst>
                  <a:ext uri="{0D108BD9-81ED-4DB2-BD59-A6C34878D82A}">
                    <a16:rowId xmlns:a16="http://schemas.microsoft.com/office/drawing/2014/main" val="2037542288"/>
                  </a:ext>
                </a:extLst>
              </a:tr>
            </a:tbl>
          </a:graphicData>
        </a:graphic>
      </p:graphicFrame>
      <p:sp>
        <p:nvSpPr>
          <p:cNvPr id="20" name="Rectangle 1">
            <a:extLst>
              <a:ext uri="{FF2B5EF4-FFF2-40B4-BE49-F238E27FC236}">
                <a16:creationId xmlns:a16="http://schemas.microsoft.com/office/drawing/2014/main" id="{80C7D0F9-E11A-AA85-234E-49A878A365D7}"/>
              </a:ext>
            </a:extLst>
          </p:cNvPr>
          <p:cNvSpPr>
            <a:spLocks noChangeArrowheads="1"/>
          </p:cNvSpPr>
          <p:nvPr/>
        </p:nvSpPr>
        <p:spPr bwMode="auto">
          <a:xfrm>
            <a:off x="381000" y="2292509"/>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SINGLETON vs MULTI-INSTANCE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2" name="TextBox 21">
            <a:extLst>
              <a:ext uri="{FF2B5EF4-FFF2-40B4-BE49-F238E27FC236}">
                <a16:creationId xmlns:a16="http://schemas.microsoft.com/office/drawing/2014/main" id="{F1DAB439-05AB-8405-40B8-C966E543E1D3}"/>
              </a:ext>
            </a:extLst>
          </p:cNvPr>
          <p:cNvSpPr txBox="1"/>
          <p:nvPr/>
        </p:nvSpPr>
        <p:spPr>
          <a:xfrm>
            <a:off x="381000" y="992274"/>
            <a:ext cx="4762500" cy="954107"/>
          </a:xfrm>
          <a:prstGeom prst="rect">
            <a:avLst/>
          </a:prstGeom>
          <a:noFill/>
        </p:spPr>
        <p:txBody>
          <a:bodyPr wrap="square">
            <a:spAutoFit/>
          </a:bodyPr>
          <a:lstStyle/>
          <a:p>
            <a:r>
              <a:rPr lang="en-IN" dirty="0"/>
              <a:t>A Multi-Instance Service means:</a:t>
            </a:r>
          </a:p>
          <a:p>
            <a:r>
              <a:rPr lang="en-IN" dirty="0"/>
              <a:t>Every component gets a new separate instance</a:t>
            </a:r>
          </a:p>
          <a:p>
            <a:r>
              <a:rPr lang="en-IN" dirty="0"/>
              <a:t>Data is NOT shared between components</a:t>
            </a:r>
          </a:p>
          <a:p>
            <a:r>
              <a:rPr lang="en-IN" dirty="0"/>
              <a:t>Useful for isolated state</a:t>
            </a:r>
          </a:p>
        </p:txBody>
      </p:sp>
    </p:spTree>
    <p:extLst>
      <p:ext uri="{BB962C8B-B14F-4D97-AF65-F5344CB8AC3E}">
        <p14:creationId xmlns:p14="http://schemas.microsoft.com/office/powerpoint/2010/main" val="39892796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7E16ABAA-6013-F410-86F4-6BF8396CEA75}"/>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B50BCCF4-A4DA-9771-CFC0-25A281CB17B0}"/>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Sharing data using services</a:t>
            </a:r>
            <a:endParaRPr lang="en-IN" sz="2400" b="1" dirty="0"/>
          </a:p>
        </p:txBody>
      </p:sp>
      <p:sp>
        <p:nvSpPr>
          <p:cNvPr id="4" name="TextBox 3">
            <a:extLst>
              <a:ext uri="{FF2B5EF4-FFF2-40B4-BE49-F238E27FC236}">
                <a16:creationId xmlns:a16="http://schemas.microsoft.com/office/drawing/2014/main" id="{1A4D7076-48A6-436E-1EB9-A7AB0EEF60B2}"/>
              </a:ext>
            </a:extLst>
          </p:cNvPr>
          <p:cNvSpPr txBox="1"/>
          <p:nvPr/>
        </p:nvSpPr>
        <p:spPr>
          <a:xfrm>
            <a:off x="381000" y="1138583"/>
            <a:ext cx="7835153" cy="1169551"/>
          </a:xfrm>
          <a:prstGeom prst="rect">
            <a:avLst/>
          </a:prstGeom>
          <a:noFill/>
        </p:spPr>
        <p:txBody>
          <a:bodyPr wrap="square">
            <a:spAutoFit/>
          </a:bodyPr>
          <a:lstStyle/>
          <a:p>
            <a:r>
              <a:rPr lang="en-US" dirty="0"/>
              <a:t>Services act as a bridge between components</a:t>
            </a:r>
          </a:p>
          <a:p>
            <a:endParaRPr lang="en-US" dirty="0"/>
          </a:p>
          <a:p>
            <a:r>
              <a:rPr lang="en-US" dirty="0"/>
              <a:t>✔ Share data</a:t>
            </a:r>
          </a:p>
          <a:p>
            <a:r>
              <a:rPr lang="en-US" dirty="0"/>
              <a:t>✔ Communicate between components</a:t>
            </a:r>
          </a:p>
          <a:p>
            <a:r>
              <a:rPr lang="en-US" dirty="0"/>
              <a:t>✔ Maintain state</a:t>
            </a:r>
          </a:p>
        </p:txBody>
      </p:sp>
      <p:graphicFrame>
        <p:nvGraphicFramePr>
          <p:cNvPr id="5" name="Table 4">
            <a:extLst>
              <a:ext uri="{FF2B5EF4-FFF2-40B4-BE49-F238E27FC236}">
                <a16:creationId xmlns:a16="http://schemas.microsoft.com/office/drawing/2014/main" id="{AA8F9C86-584A-58AF-B151-5694F4D5C818}"/>
              </a:ext>
            </a:extLst>
          </p:cNvPr>
          <p:cNvGraphicFramePr>
            <a:graphicFrameLocks noGrp="1"/>
          </p:cNvGraphicFramePr>
          <p:nvPr>
            <p:extLst>
              <p:ext uri="{D42A27DB-BD31-4B8C-83A1-F6EECF244321}">
                <p14:modId xmlns:p14="http://schemas.microsoft.com/office/powerpoint/2010/main" val="742260120"/>
              </p:ext>
            </p:extLst>
          </p:nvPr>
        </p:nvGraphicFramePr>
        <p:xfrm>
          <a:off x="329453" y="2955449"/>
          <a:ext cx="7886700" cy="1219200"/>
        </p:xfrm>
        <a:graphic>
          <a:graphicData uri="http://schemas.openxmlformats.org/drawingml/2006/table">
            <a:tbl>
              <a:tblPr/>
              <a:tblGrid>
                <a:gridCol w="3943350">
                  <a:extLst>
                    <a:ext uri="{9D8B030D-6E8A-4147-A177-3AD203B41FA5}">
                      <a16:colId xmlns:a16="http://schemas.microsoft.com/office/drawing/2014/main" val="1920620437"/>
                    </a:ext>
                  </a:extLst>
                </a:gridCol>
                <a:gridCol w="3943350">
                  <a:extLst>
                    <a:ext uri="{9D8B030D-6E8A-4147-A177-3AD203B41FA5}">
                      <a16:colId xmlns:a16="http://schemas.microsoft.com/office/drawing/2014/main" val="104065731"/>
                    </a:ext>
                  </a:extLst>
                </a:gridCol>
              </a:tblGrid>
              <a:tr h="0">
                <a:tc>
                  <a:txBody>
                    <a:bodyPr/>
                    <a:lstStyle/>
                    <a:p>
                      <a:pPr>
                        <a:buNone/>
                      </a:pPr>
                      <a:r>
                        <a:rPr lang="en-IN" b="1"/>
                        <a:t>Method</a:t>
                      </a:r>
                    </a:p>
                  </a:txBody>
                  <a:tcPr anchor="ctr">
                    <a:lnL>
                      <a:noFill/>
                    </a:lnL>
                    <a:lnR>
                      <a:noFill/>
                    </a:lnR>
                    <a:lnT>
                      <a:noFill/>
                    </a:lnT>
                    <a:lnB>
                      <a:noFill/>
                    </a:lnB>
                    <a:noFill/>
                  </a:tcPr>
                </a:tc>
                <a:tc>
                  <a:txBody>
                    <a:bodyPr/>
                    <a:lstStyle/>
                    <a:p>
                      <a:pPr>
                        <a:buNone/>
                      </a:pPr>
                      <a:r>
                        <a:rPr lang="en-IN" b="1" dirty="0"/>
                        <a:t>Use Case</a:t>
                      </a:r>
                    </a:p>
                  </a:txBody>
                  <a:tcPr anchor="ctr">
                    <a:lnL>
                      <a:noFill/>
                    </a:lnL>
                    <a:lnR>
                      <a:noFill/>
                    </a:lnR>
                    <a:lnT>
                      <a:noFill/>
                    </a:lnT>
                    <a:lnB>
                      <a:noFill/>
                    </a:lnB>
                    <a:noFill/>
                  </a:tcPr>
                </a:tc>
                <a:extLst>
                  <a:ext uri="{0D108BD9-81ED-4DB2-BD59-A6C34878D82A}">
                    <a16:rowId xmlns:a16="http://schemas.microsoft.com/office/drawing/2014/main" val="4248871733"/>
                  </a:ext>
                </a:extLst>
              </a:tr>
              <a:tr h="0">
                <a:tc>
                  <a:txBody>
                    <a:bodyPr/>
                    <a:lstStyle/>
                    <a:p>
                      <a:pPr>
                        <a:buNone/>
                      </a:pPr>
                      <a:r>
                        <a:rPr lang="en-IN"/>
                        <a:t>Simple Variable</a:t>
                      </a:r>
                    </a:p>
                  </a:txBody>
                  <a:tcPr anchor="ctr">
                    <a:lnL>
                      <a:noFill/>
                    </a:lnL>
                    <a:lnR>
                      <a:noFill/>
                    </a:lnR>
                    <a:lnT>
                      <a:noFill/>
                    </a:lnT>
                    <a:lnB>
                      <a:noFill/>
                    </a:lnB>
                    <a:noFill/>
                  </a:tcPr>
                </a:tc>
                <a:tc>
                  <a:txBody>
                    <a:bodyPr/>
                    <a:lstStyle/>
                    <a:p>
                      <a:pPr>
                        <a:buNone/>
                      </a:pPr>
                      <a:r>
                        <a:rPr lang="en-IN"/>
                        <a:t>Basic sharing</a:t>
                      </a:r>
                    </a:p>
                  </a:txBody>
                  <a:tcPr anchor="ctr">
                    <a:lnL>
                      <a:noFill/>
                    </a:lnL>
                    <a:lnR>
                      <a:noFill/>
                    </a:lnR>
                    <a:lnT>
                      <a:noFill/>
                    </a:lnT>
                    <a:lnB>
                      <a:noFill/>
                    </a:lnB>
                    <a:noFill/>
                  </a:tcPr>
                </a:tc>
                <a:extLst>
                  <a:ext uri="{0D108BD9-81ED-4DB2-BD59-A6C34878D82A}">
                    <a16:rowId xmlns:a16="http://schemas.microsoft.com/office/drawing/2014/main" val="3910160751"/>
                  </a:ext>
                </a:extLst>
              </a:tr>
              <a:tr h="0">
                <a:tc>
                  <a:txBody>
                    <a:bodyPr/>
                    <a:lstStyle/>
                    <a:p>
                      <a:pPr>
                        <a:buNone/>
                      </a:pPr>
                      <a:r>
                        <a:rPr lang="en-IN"/>
                        <a:t>BehaviorSubject</a:t>
                      </a:r>
                    </a:p>
                  </a:txBody>
                  <a:tcPr anchor="ctr">
                    <a:lnL>
                      <a:noFill/>
                    </a:lnL>
                    <a:lnR>
                      <a:noFill/>
                    </a:lnR>
                    <a:lnT>
                      <a:noFill/>
                    </a:lnT>
                    <a:lnB>
                      <a:noFill/>
                    </a:lnB>
                    <a:noFill/>
                  </a:tcPr>
                </a:tc>
                <a:tc>
                  <a:txBody>
                    <a:bodyPr/>
                    <a:lstStyle/>
                    <a:p>
                      <a:pPr>
                        <a:buNone/>
                      </a:pPr>
                      <a:r>
                        <a:rPr lang="en-IN" dirty="0"/>
                        <a:t>Real-time updates </a:t>
                      </a:r>
                    </a:p>
                  </a:txBody>
                  <a:tcPr anchor="ctr">
                    <a:lnL>
                      <a:noFill/>
                    </a:lnL>
                    <a:lnR>
                      <a:noFill/>
                    </a:lnR>
                    <a:lnT>
                      <a:noFill/>
                    </a:lnT>
                    <a:lnB>
                      <a:noFill/>
                    </a:lnB>
                    <a:noFill/>
                  </a:tcPr>
                </a:tc>
                <a:extLst>
                  <a:ext uri="{0D108BD9-81ED-4DB2-BD59-A6C34878D82A}">
                    <a16:rowId xmlns:a16="http://schemas.microsoft.com/office/drawing/2014/main" val="3829926538"/>
                  </a:ext>
                </a:extLst>
              </a:tr>
              <a:tr h="0">
                <a:tc>
                  <a:txBody>
                    <a:bodyPr/>
                    <a:lstStyle/>
                    <a:p>
                      <a:pPr>
                        <a:buNone/>
                      </a:pPr>
                      <a:r>
                        <a:rPr lang="en-IN"/>
                        <a:t>Observable Streams</a:t>
                      </a:r>
                    </a:p>
                  </a:txBody>
                  <a:tcPr anchor="ctr">
                    <a:lnL>
                      <a:noFill/>
                    </a:lnL>
                    <a:lnR>
                      <a:noFill/>
                    </a:lnR>
                    <a:lnT>
                      <a:noFill/>
                    </a:lnT>
                    <a:lnB>
                      <a:noFill/>
                    </a:lnB>
                    <a:noFill/>
                  </a:tcPr>
                </a:tc>
                <a:tc>
                  <a:txBody>
                    <a:bodyPr/>
                    <a:lstStyle/>
                    <a:p>
                      <a:pPr>
                        <a:buNone/>
                      </a:pPr>
                      <a:r>
                        <a:rPr lang="en-IN" dirty="0"/>
                        <a:t>API / async</a:t>
                      </a:r>
                    </a:p>
                  </a:txBody>
                  <a:tcPr anchor="ctr">
                    <a:lnL>
                      <a:noFill/>
                    </a:lnL>
                    <a:lnR>
                      <a:noFill/>
                    </a:lnR>
                    <a:lnT>
                      <a:noFill/>
                    </a:lnT>
                    <a:lnB>
                      <a:noFill/>
                    </a:lnB>
                    <a:noFill/>
                  </a:tcPr>
                </a:tc>
                <a:extLst>
                  <a:ext uri="{0D108BD9-81ED-4DB2-BD59-A6C34878D82A}">
                    <a16:rowId xmlns:a16="http://schemas.microsoft.com/office/drawing/2014/main" val="914968532"/>
                  </a:ext>
                </a:extLst>
              </a:tr>
            </a:tbl>
          </a:graphicData>
        </a:graphic>
      </p:graphicFrame>
      <p:sp>
        <p:nvSpPr>
          <p:cNvPr id="6" name="Rectangle 1">
            <a:extLst>
              <a:ext uri="{FF2B5EF4-FFF2-40B4-BE49-F238E27FC236}">
                <a16:creationId xmlns:a16="http://schemas.microsoft.com/office/drawing/2014/main" id="{4C943909-5113-6354-FE05-36E8A3DC1A7E}"/>
              </a:ext>
            </a:extLst>
          </p:cNvPr>
          <p:cNvSpPr>
            <a:spLocks noChangeArrowheads="1"/>
          </p:cNvSpPr>
          <p:nvPr/>
        </p:nvSpPr>
        <p:spPr bwMode="auto">
          <a:xfrm>
            <a:off x="329453" y="257175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TYPES OF DATA SHARING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79456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02">
          <a:extLst>
            <a:ext uri="{FF2B5EF4-FFF2-40B4-BE49-F238E27FC236}">
              <a16:creationId xmlns:a16="http://schemas.microsoft.com/office/drawing/2014/main" id="{3B0881BE-16BE-E990-510B-5C545E093028}"/>
            </a:ext>
          </a:extLst>
        </p:cNvPr>
        <p:cNvGrpSpPr/>
        <p:nvPr/>
      </p:nvGrpSpPr>
      <p:grpSpPr>
        <a:xfrm>
          <a:off x="0" y="0"/>
          <a:ext cx="0" cy="0"/>
          <a:chOff x="0" y="0"/>
          <a:chExt cx="0" cy="0"/>
        </a:xfrm>
      </p:grpSpPr>
      <p:sp>
        <p:nvSpPr>
          <p:cNvPr id="403" name="Google Shape;403;g27625e78053_0_64">
            <a:extLst>
              <a:ext uri="{FF2B5EF4-FFF2-40B4-BE49-F238E27FC236}">
                <a16:creationId xmlns:a16="http://schemas.microsoft.com/office/drawing/2014/main" id="{2AC3FB16-EC88-7FB3-C16C-C21D155CF501}"/>
              </a:ext>
            </a:extLst>
          </p:cNvPr>
          <p:cNvSpPr txBox="1"/>
          <p:nvPr/>
        </p:nvSpPr>
        <p:spPr>
          <a:xfrm>
            <a:off x="702325" y="1771000"/>
            <a:ext cx="6725400" cy="663600"/>
          </a:xfrm>
          <a:prstGeom prst="rect">
            <a:avLst/>
          </a:prstGeom>
          <a:solidFill>
            <a:srgbClr val="A64D79"/>
          </a:solidFill>
          <a:ln>
            <a:noFill/>
          </a:ln>
        </p:spPr>
        <p:txBody>
          <a:bodyPr spcFirstLastPara="1" wrap="square" lIns="91425" tIns="45700" rIns="91425" bIns="45700" anchor="t" anchorCtr="0">
            <a:noAutofit/>
          </a:bodyPr>
          <a:lstStyle/>
          <a:p>
            <a:pPr algn="ctr">
              <a:lnSpc>
                <a:spcPct val="90000"/>
              </a:lnSpc>
              <a:buSzPts val="4000"/>
            </a:pPr>
            <a:r>
              <a:rPr lang="en-IN" sz="4000" dirty="0">
                <a:solidFill>
                  <a:schemeClr val="lt1"/>
                </a:solidFill>
                <a:latin typeface="Proxima Nova"/>
                <a:ea typeface="Proxima Nova"/>
                <a:cs typeface="Proxima Nova"/>
              </a:rPr>
              <a:t>Frontend with Angular</a:t>
            </a:r>
          </a:p>
        </p:txBody>
      </p:sp>
    </p:spTree>
    <p:extLst>
      <p:ext uri="{BB962C8B-B14F-4D97-AF65-F5344CB8AC3E}">
        <p14:creationId xmlns:p14="http://schemas.microsoft.com/office/powerpoint/2010/main" val="24308174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387A5BB8-BA30-570B-BB89-90332D4E6A8D}"/>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C86A22E9-FFFA-B0F2-82C6-B7234FC55B9A}"/>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Angular Routing</a:t>
            </a:r>
            <a:endParaRPr lang="en-IN" sz="2400" b="1" dirty="0"/>
          </a:p>
        </p:txBody>
      </p:sp>
      <p:sp>
        <p:nvSpPr>
          <p:cNvPr id="4" name="TextBox 3">
            <a:extLst>
              <a:ext uri="{FF2B5EF4-FFF2-40B4-BE49-F238E27FC236}">
                <a16:creationId xmlns:a16="http://schemas.microsoft.com/office/drawing/2014/main" id="{5517143B-DC67-06AE-A7C2-A34A55019BB4}"/>
              </a:ext>
            </a:extLst>
          </p:cNvPr>
          <p:cNvSpPr txBox="1"/>
          <p:nvPr/>
        </p:nvSpPr>
        <p:spPr>
          <a:xfrm>
            <a:off x="381000" y="1106193"/>
            <a:ext cx="7835153" cy="1384995"/>
          </a:xfrm>
          <a:prstGeom prst="rect">
            <a:avLst/>
          </a:prstGeom>
          <a:noFill/>
        </p:spPr>
        <p:txBody>
          <a:bodyPr wrap="square">
            <a:spAutoFit/>
          </a:bodyPr>
          <a:lstStyle/>
          <a:p>
            <a:r>
              <a:rPr lang="en-US" dirty="0"/>
              <a:t>What is Angular Routing?</a:t>
            </a:r>
          </a:p>
          <a:p>
            <a:r>
              <a:rPr lang="en-US" dirty="0"/>
              <a:t>.</a:t>
            </a:r>
          </a:p>
          <a:p>
            <a:r>
              <a:rPr lang="en-US" dirty="0"/>
              <a:t>Routing allows you to move from one part of the application to another part or one View to another View.</a:t>
            </a:r>
          </a:p>
          <a:p>
            <a:endParaRPr lang="en-US" dirty="0"/>
          </a:p>
          <a:p>
            <a:r>
              <a:rPr lang="en-US" dirty="0"/>
              <a:t>In Angular, Routing is handled by the Angular Router Module.</a:t>
            </a:r>
            <a:endParaRPr lang="en-IN" dirty="0"/>
          </a:p>
        </p:txBody>
      </p:sp>
    </p:spTree>
    <p:extLst>
      <p:ext uri="{BB962C8B-B14F-4D97-AF65-F5344CB8AC3E}">
        <p14:creationId xmlns:p14="http://schemas.microsoft.com/office/powerpoint/2010/main" val="3766717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DF4A4DFB-EB04-A7A4-1F19-C0D65BE53454}"/>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C5EE4F30-1C60-12E7-0281-7F68FF3D0BE6}"/>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Components of Angular Router</a:t>
            </a:r>
            <a:endParaRPr lang="en-IN" sz="2400" b="1" dirty="0"/>
          </a:p>
        </p:txBody>
      </p:sp>
      <p:sp>
        <p:nvSpPr>
          <p:cNvPr id="4" name="TextBox 3">
            <a:extLst>
              <a:ext uri="{FF2B5EF4-FFF2-40B4-BE49-F238E27FC236}">
                <a16:creationId xmlns:a16="http://schemas.microsoft.com/office/drawing/2014/main" id="{E5FFFC14-ACD1-58D2-2C27-4242F28E04B0}"/>
              </a:ext>
            </a:extLst>
          </p:cNvPr>
          <p:cNvSpPr txBox="1"/>
          <p:nvPr/>
        </p:nvSpPr>
        <p:spPr>
          <a:xfrm>
            <a:off x="381000" y="1106193"/>
            <a:ext cx="7835153" cy="3108543"/>
          </a:xfrm>
          <a:prstGeom prst="rect">
            <a:avLst/>
          </a:prstGeom>
          <a:noFill/>
        </p:spPr>
        <p:txBody>
          <a:bodyPr wrap="square">
            <a:spAutoFit/>
          </a:bodyPr>
          <a:lstStyle/>
          <a:p>
            <a:r>
              <a:rPr lang="en-US" dirty="0"/>
              <a:t>Router</a:t>
            </a:r>
          </a:p>
          <a:p>
            <a:r>
              <a:rPr lang="en-US" dirty="0"/>
              <a:t>An Angular Router is a service (Angular Router API) that enables navigation from one component to the next component as users perform application tasks like clicking on menus links, and buttons, or clicking on the back/forward button on the browser. </a:t>
            </a:r>
          </a:p>
          <a:p>
            <a:endParaRPr lang="en-US" dirty="0"/>
          </a:p>
          <a:p>
            <a:r>
              <a:rPr lang="en-US" dirty="0"/>
              <a:t>Route</a:t>
            </a:r>
          </a:p>
          <a:p>
            <a:r>
              <a:rPr lang="en-US" dirty="0"/>
              <a:t>Route tells the Angular Router which view to display when a user clicks a link or pastes a URL into the browser address bar. </a:t>
            </a:r>
          </a:p>
          <a:p>
            <a:r>
              <a:rPr lang="en-US" dirty="0"/>
              <a:t>Routes</a:t>
            </a:r>
          </a:p>
          <a:p>
            <a:r>
              <a:rPr lang="en-US" dirty="0"/>
              <a:t>Routes is an array of Route objects our application </a:t>
            </a:r>
            <a:r>
              <a:rPr lang="en-US" dirty="0" err="1"/>
              <a:t>supportsProgramming</a:t>
            </a:r>
            <a:endParaRPr lang="en-US" dirty="0"/>
          </a:p>
          <a:p>
            <a:endParaRPr lang="en-US" dirty="0"/>
          </a:p>
          <a:p>
            <a:r>
              <a:rPr lang="en-US" dirty="0" err="1"/>
              <a:t>RouterOutlet</a:t>
            </a:r>
            <a:endParaRPr lang="en-US" dirty="0"/>
          </a:p>
          <a:p>
            <a:r>
              <a:rPr lang="en-US" dirty="0"/>
              <a:t>The </a:t>
            </a:r>
            <a:r>
              <a:rPr lang="en-US" dirty="0" err="1"/>
              <a:t>outerOutlet</a:t>
            </a:r>
            <a:r>
              <a:rPr lang="en-US" dirty="0"/>
              <a:t> is a directive (&lt;router-outlet&gt;) that serves as a placeholder, where the Router should display the view.</a:t>
            </a:r>
            <a:endParaRPr lang="en-IN" dirty="0"/>
          </a:p>
        </p:txBody>
      </p:sp>
    </p:spTree>
    <p:extLst>
      <p:ext uri="{BB962C8B-B14F-4D97-AF65-F5344CB8AC3E}">
        <p14:creationId xmlns:p14="http://schemas.microsoft.com/office/powerpoint/2010/main" val="41943972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FA35260F-BD1C-3ED5-78FE-AE34A029CB2A}"/>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A7AEB90C-161A-A5F2-3ABF-2C85A961BEC9}"/>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Components of Angular Router</a:t>
            </a:r>
            <a:endParaRPr lang="en-IN" sz="2400" b="1" dirty="0"/>
          </a:p>
        </p:txBody>
      </p:sp>
      <p:sp>
        <p:nvSpPr>
          <p:cNvPr id="4" name="TextBox 3">
            <a:extLst>
              <a:ext uri="{FF2B5EF4-FFF2-40B4-BE49-F238E27FC236}">
                <a16:creationId xmlns:a16="http://schemas.microsoft.com/office/drawing/2014/main" id="{AE7B8332-7936-7FE1-3CA0-CB0AAB805984}"/>
              </a:ext>
            </a:extLst>
          </p:cNvPr>
          <p:cNvSpPr txBox="1"/>
          <p:nvPr/>
        </p:nvSpPr>
        <p:spPr>
          <a:xfrm>
            <a:off x="381000" y="1106193"/>
            <a:ext cx="7835153" cy="3970318"/>
          </a:xfrm>
          <a:prstGeom prst="rect">
            <a:avLst/>
          </a:prstGeom>
          <a:noFill/>
        </p:spPr>
        <p:txBody>
          <a:bodyPr wrap="square">
            <a:spAutoFit/>
          </a:bodyPr>
          <a:lstStyle/>
          <a:p>
            <a:r>
              <a:rPr lang="en-US" dirty="0" err="1"/>
              <a:t>RouterLink</a:t>
            </a:r>
            <a:endParaRPr lang="en-US" dirty="0"/>
          </a:p>
          <a:p>
            <a:r>
              <a:rPr lang="en-US" dirty="0"/>
              <a:t>The </a:t>
            </a:r>
            <a:r>
              <a:rPr lang="en-US" dirty="0" err="1"/>
              <a:t>RouterLink</a:t>
            </a:r>
            <a:r>
              <a:rPr lang="en-US" dirty="0"/>
              <a:t> is a directive that binds the HTML element to a Route.</a:t>
            </a:r>
          </a:p>
          <a:p>
            <a:endParaRPr lang="en-US" dirty="0"/>
          </a:p>
          <a:p>
            <a:r>
              <a:rPr lang="en-US" dirty="0" err="1"/>
              <a:t>RouterLinkActive</a:t>
            </a:r>
            <a:endParaRPr lang="en-US" dirty="0"/>
          </a:p>
          <a:p>
            <a:r>
              <a:rPr lang="en-US" dirty="0" err="1"/>
              <a:t>RouterLinkActive</a:t>
            </a:r>
            <a:r>
              <a:rPr lang="en-US" dirty="0"/>
              <a:t> is a directive for adding or removing classes from an HTML element that is bound to a </a:t>
            </a:r>
            <a:r>
              <a:rPr lang="en-US" dirty="0" err="1"/>
              <a:t>RouterLink</a:t>
            </a:r>
            <a:r>
              <a:rPr lang="en-US" dirty="0"/>
              <a:t>.</a:t>
            </a:r>
          </a:p>
          <a:p>
            <a:endParaRPr lang="en-US" dirty="0"/>
          </a:p>
          <a:p>
            <a:r>
              <a:rPr lang="en-US" dirty="0" err="1"/>
              <a:t>ActivatedRoute</a:t>
            </a:r>
            <a:endParaRPr lang="en-US" dirty="0"/>
          </a:p>
          <a:p>
            <a:r>
              <a:rPr lang="en-US" dirty="0"/>
              <a:t>The </a:t>
            </a:r>
            <a:r>
              <a:rPr lang="en-US" dirty="0" err="1"/>
              <a:t>ActivatedRoute</a:t>
            </a:r>
            <a:r>
              <a:rPr lang="en-US" dirty="0"/>
              <a:t> is an object that represents the currently activated route associated with the loaded </a:t>
            </a:r>
            <a:r>
              <a:rPr lang="en-US" dirty="0" err="1"/>
              <a:t>Component.Networking</a:t>
            </a:r>
            <a:endParaRPr lang="en-US" dirty="0"/>
          </a:p>
          <a:p>
            <a:endParaRPr lang="en-US" dirty="0"/>
          </a:p>
          <a:p>
            <a:r>
              <a:rPr lang="en-US" dirty="0" err="1"/>
              <a:t>RouterState</a:t>
            </a:r>
            <a:endParaRPr lang="en-US" dirty="0"/>
          </a:p>
          <a:p>
            <a:r>
              <a:rPr lang="en-US" dirty="0"/>
              <a:t>The current state of the router includes a tree of the currently activated routes together with convenience methods for traversing the route tree.</a:t>
            </a:r>
          </a:p>
          <a:p>
            <a:endParaRPr lang="en-US" dirty="0"/>
          </a:p>
          <a:p>
            <a:r>
              <a:rPr lang="en-US" dirty="0" err="1"/>
              <a:t>RouteLink</a:t>
            </a:r>
            <a:r>
              <a:rPr lang="en-US" dirty="0"/>
              <a:t> Parameters array</a:t>
            </a:r>
          </a:p>
          <a:p>
            <a:r>
              <a:rPr lang="en-US" dirty="0"/>
              <a:t>The Parameters or arguments to the Route. It is an array that you can bind to </a:t>
            </a:r>
            <a:r>
              <a:rPr lang="en-US" dirty="0" err="1"/>
              <a:t>RouterLink</a:t>
            </a:r>
            <a:r>
              <a:rPr lang="en-US" dirty="0"/>
              <a:t> directive or pass it as an argument to the </a:t>
            </a:r>
            <a:r>
              <a:rPr lang="en-US" dirty="0" err="1"/>
              <a:t>Router.navigate</a:t>
            </a:r>
            <a:r>
              <a:rPr lang="en-US" dirty="0"/>
              <a:t> method.</a:t>
            </a:r>
            <a:endParaRPr lang="en-IN" dirty="0"/>
          </a:p>
        </p:txBody>
      </p:sp>
    </p:spTree>
    <p:extLst>
      <p:ext uri="{BB962C8B-B14F-4D97-AF65-F5344CB8AC3E}">
        <p14:creationId xmlns:p14="http://schemas.microsoft.com/office/powerpoint/2010/main" val="23242833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4BD17395-DAE4-612C-2CF3-57A05693951F}"/>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B515AAA4-743A-433A-94C0-1FD2C42C9E94}"/>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Child Routes / Nested Routes</a:t>
            </a:r>
            <a:endParaRPr lang="en-IN" sz="2400" b="1" dirty="0"/>
          </a:p>
        </p:txBody>
      </p:sp>
      <p:sp>
        <p:nvSpPr>
          <p:cNvPr id="6" name="TextBox 5">
            <a:extLst>
              <a:ext uri="{FF2B5EF4-FFF2-40B4-BE49-F238E27FC236}">
                <a16:creationId xmlns:a16="http://schemas.microsoft.com/office/drawing/2014/main" id="{E43BC3CA-EE61-6296-3124-42F9611B37B5}"/>
              </a:ext>
            </a:extLst>
          </p:cNvPr>
          <p:cNvSpPr txBox="1"/>
          <p:nvPr/>
        </p:nvSpPr>
        <p:spPr>
          <a:xfrm>
            <a:off x="477371" y="1017479"/>
            <a:ext cx="7725335" cy="1815882"/>
          </a:xfrm>
          <a:prstGeom prst="rect">
            <a:avLst/>
          </a:prstGeom>
          <a:noFill/>
        </p:spPr>
        <p:txBody>
          <a:bodyPr wrap="square">
            <a:spAutoFit/>
          </a:bodyPr>
          <a:lstStyle/>
          <a:p>
            <a:r>
              <a:rPr lang="en-US" dirty="0"/>
              <a:t>The Angular applications are based on the idea of Components. The Components follows a Tree structure, where we have a root component at the top. We can then add child components forming loosely coupled components resembling a Tree</a:t>
            </a:r>
          </a:p>
          <a:p>
            <a:endParaRPr lang="en-US" dirty="0"/>
          </a:p>
          <a:p>
            <a:r>
              <a:rPr lang="en-US" dirty="0"/>
              <a:t>The Routes in Angular also follows the component tree structure and allows us to define the nested or child routes.</a:t>
            </a:r>
          </a:p>
          <a:p>
            <a:endParaRPr lang="en-US" dirty="0"/>
          </a:p>
          <a:p>
            <a:r>
              <a:rPr lang="en-US" dirty="0"/>
              <a:t>Example</a:t>
            </a:r>
            <a:endParaRPr lang="en-IN" dirty="0"/>
          </a:p>
        </p:txBody>
      </p:sp>
      <p:pic>
        <p:nvPicPr>
          <p:cNvPr id="36866" name="Picture 2" descr="Angular Component Tree Child Routes">
            <a:extLst>
              <a:ext uri="{FF2B5EF4-FFF2-40B4-BE49-F238E27FC236}">
                <a16:creationId xmlns:a16="http://schemas.microsoft.com/office/drawing/2014/main" id="{1B0BA5BF-5084-B97B-7B74-000A22F022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1247" y="2494430"/>
            <a:ext cx="2931459" cy="183636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8ABB049-D28B-DF55-E205-3112C5453106}"/>
              </a:ext>
            </a:extLst>
          </p:cNvPr>
          <p:cNvSpPr txBox="1"/>
          <p:nvPr/>
        </p:nvSpPr>
        <p:spPr>
          <a:xfrm>
            <a:off x="381000" y="2880624"/>
            <a:ext cx="4843182" cy="1384995"/>
          </a:xfrm>
          <a:prstGeom prst="rect">
            <a:avLst/>
          </a:prstGeom>
          <a:noFill/>
        </p:spPr>
        <p:txBody>
          <a:bodyPr wrap="square">
            <a:spAutoFit/>
          </a:bodyPr>
          <a:lstStyle/>
          <a:p>
            <a:r>
              <a:rPr lang="en-IN" dirty="0"/>
              <a:t>In the above example, the </a:t>
            </a:r>
            <a:r>
              <a:rPr lang="en-IN" dirty="0" err="1"/>
              <a:t>ProductComponent</a:t>
            </a:r>
            <a:r>
              <a:rPr lang="en-IN" dirty="0"/>
              <a:t> displays the list of Products. The </a:t>
            </a:r>
            <a:r>
              <a:rPr lang="en-IN" dirty="0" err="1"/>
              <a:t>ProductDetailsComponent</a:t>
            </a:r>
            <a:r>
              <a:rPr lang="en-IN" dirty="0"/>
              <a:t> is the child of the </a:t>
            </a:r>
            <a:r>
              <a:rPr lang="en-IN" dirty="0" err="1"/>
              <a:t>ProductComponent</a:t>
            </a:r>
            <a:r>
              <a:rPr lang="en-IN" dirty="0"/>
              <a:t> displays the details of the selected Product.</a:t>
            </a:r>
          </a:p>
          <a:p>
            <a:endParaRPr lang="en-IN" dirty="0"/>
          </a:p>
          <a:p>
            <a:r>
              <a:rPr lang="en-IN" dirty="0"/>
              <a:t>So Our routes would be /Product and /Product/Details/:Id</a:t>
            </a:r>
          </a:p>
        </p:txBody>
      </p:sp>
    </p:spTree>
    <p:extLst>
      <p:ext uri="{BB962C8B-B14F-4D97-AF65-F5344CB8AC3E}">
        <p14:creationId xmlns:p14="http://schemas.microsoft.com/office/powerpoint/2010/main" val="15778076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1DFFFAC5-0D3C-CD4D-4C17-69560BEA9B5F}"/>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A6D20BB1-1205-A49C-2DA5-379F01C8FF1C}"/>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US" sz="2400" dirty="0"/>
              <a:t>Angular Route Guards</a:t>
            </a:r>
            <a:endParaRPr lang="en-IN" sz="2400" b="1" dirty="0"/>
          </a:p>
        </p:txBody>
      </p:sp>
      <p:sp>
        <p:nvSpPr>
          <p:cNvPr id="4" name="TextBox 3">
            <a:extLst>
              <a:ext uri="{FF2B5EF4-FFF2-40B4-BE49-F238E27FC236}">
                <a16:creationId xmlns:a16="http://schemas.microsoft.com/office/drawing/2014/main" id="{C1BEE401-E153-7966-06E4-82FA109167FF}"/>
              </a:ext>
            </a:extLst>
          </p:cNvPr>
          <p:cNvSpPr txBox="1"/>
          <p:nvPr/>
        </p:nvSpPr>
        <p:spPr>
          <a:xfrm>
            <a:off x="380999" y="1361687"/>
            <a:ext cx="7835153" cy="3108543"/>
          </a:xfrm>
          <a:prstGeom prst="rect">
            <a:avLst/>
          </a:prstGeom>
          <a:noFill/>
        </p:spPr>
        <p:txBody>
          <a:bodyPr wrap="square">
            <a:spAutoFit/>
          </a:bodyPr>
          <a:lstStyle/>
          <a:p>
            <a:r>
              <a:rPr lang="en-US" dirty="0"/>
              <a:t>We use the Angular Guards to control whether users can navigate to or away from the current route.</a:t>
            </a:r>
          </a:p>
          <a:p>
            <a:endParaRPr lang="en-US" dirty="0"/>
          </a:p>
          <a:p>
            <a:r>
              <a:rPr lang="en-US" dirty="0"/>
              <a:t>Allowing the user to navigate all application parts is not a good idea. We must restrict the user until the user performs specific actions like logging in etc. Angular provides the Route Guards for this purpose.</a:t>
            </a:r>
          </a:p>
          <a:p>
            <a:endParaRPr lang="en-US" dirty="0"/>
          </a:p>
          <a:p>
            <a:r>
              <a:rPr lang="en-US" dirty="0"/>
              <a:t>Uses of  Angular Route Guards</a:t>
            </a:r>
          </a:p>
          <a:p>
            <a:endParaRPr lang="en-US" dirty="0"/>
          </a:p>
          <a:p>
            <a:pPr marL="285750" indent="-285750">
              <a:buFont typeface="Arial" panose="020B0604020202020204" pitchFamily="34" charset="0"/>
              <a:buChar char="•"/>
            </a:pPr>
            <a:r>
              <a:rPr lang="en-US" dirty="0"/>
              <a:t>To Confirm the navigational operation</a:t>
            </a:r>
          </a:p>
          <a:p>
            <a:pPr marL="285750" indent="-285750">
              <a:buFont typeface="Arial" panose="020B0604020202020204" pitchFamily="34" charset="0"/>
              <a:buChar char="•"/>
            </a:pPr>
            <a:r>
              <a:rPr lang="en-US" dirty="0"/>
              <a:t>Asking whether to save before moving away from a view</a:t>
            </a:r>
          </a:p>
          <a:p>
            <a:pPr marL="285750" indent="-285750">
              <a:buFont typeface="Arial" panose="020B0604020202020204" pitchFamily="34" charset="0"/>
              <a:buChar char="•"/>
            </a:pPr>
            <a:r>
              <a:rPr lang="en-US" dirty="0"/>
              <a:t>Allow access to certain parts of the application to specific users.</a:t>
            </a:r>
          </a:p>
          <a:p>
            <a:pPr marL="285750" indent="-285750">
              <a:buFont typeface="Arial" panose="020B0604020202020204" pitchFamily="34" charset="0"/>
              <a:buChar char="•"/>
            </a:pPr>
            <a:r>
              <a:rPr lang="en-US" dirty="0"/>
              <a:t>Validating the route parameters before navigating to the route</a:t>
            </a:r>
          </a:p>
          <a:p>
            <a:pPr marL="285750" indent="-285750">
              <a:buFont typeface="Arial" panose="020B0604020202020204" pitchFamily="34" charset="0"/>
              <a:buChar char="•"/>
            </a:pPr>
            <a:r>
              <a:rPr lang="en-US" dirty="0"/>
              <a:t>Fetching some data before you display the component.</a:t>
            </a:r>
            <a:endParaRPr lang="en-IN" dirty="0"/>
          </a:p>
        </p:txBody>
      </p:sp>
    </p:spTree>
    <p:extLst>
      <p:ext uri="{BB962C8B-B14F-4D97-AF65-F5344CB8AC3E}">
        <p14:creationId xmlns:p14="http://schemas.microsoft.com/office/powerpoint/2010/main" val="7032406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17244592-E330-B372-3DE0-51E749D325C6}"/>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F89077AC-AED8-82D5-4995-35CB53278376}"/>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US" sz="2400" dirty="0"/>
              <a:t>Types of Route Guards</a:t>
            </a:r>
            <a:endParaRPr lang="en-IN" sz="2400" b="1" dirty="0"/>
          </a:p>
        </p:txBody>
      </p:sp>
      <p:sp>
        <p:nvSpPr>
          <p:cNvPr id="6" name="TextBox 5">
            <a:extLst>
              <a:ext uri="{FF2B5EF4-FFF2-40B4-BE49-F238E27FC236}">
                <a16:creationId xmlns:a16="http://schemas.microsoft.com/office/drawing/2014/main" id="{9637F1A3-6591-7FED-F12B-FE6ECC561FD6}"/>
              </a:ext>
            </a:extLst>
          </p:cNvPr>
          <p:cNvSpPr txBox="1"/>
          <p:nvPr/>
        </p:nvSpPr>
        <p:spPr>
          <a:xfrm>
            <a:off x="426945" y="1132650"/>
            <a:ext cx="8219514" cy="2031325"/>
          </a:xfrm>
          <a:prstGeom prst="rect">
            <a:avLst/>
          </a:prstGeom>
          <a:noFill/>
        </p:spPr>
        <p:txBody>
          <a:bodyPr wrap="square">
            <a:spAutoFit/>
          </a:bodyPr>
          <a:lstStyle/>
          <a:p>
            <a:r>
              <a:rPr lang="en-US" dirty="0"/>
              <a:t>The Angular  Router supports six different guards, which you can use to protect the route.</a:t>
            </a:r>
          </a:p>
          <a:p>
            <a:endParaRPr lang="en-US" dirty="0"/>
          </a:p>
          <a:p>
            <a:pPr marL="285750" indent="-285750">
              <a:buFont typeface="Arial" panose="020B0604020202020204" pitchFamily="34" charset="0"/>
              <a:buChar char="•"/>
            </a:pPr>
            <a:r>
              <a:rPr lang="en-US" dirty="0" err="1"/>
              <a:t>CanActivate</a:t>
            </a:r>
            <a:endParaRPr lang="en-US" dirty="0"/>
          </a:p>
          <a:p>
            <a:pPr marL="285750" indent="-285750">
              <a:buFont typeface="Arial" panose="020B0604020202020204" pitchFamily="34" charset="0"/>
              <a:buChar char="•"/>
            </a:pPr>
            <a:r>
              <a:rPr lang="en-US" dirty="0" err="1"/>
              <a:t>CanDeactivate</a:t>
            </a:r>
            <a:endParaRPr lang="en-US" dirty="0"/>
          </a:p>
          <a:p>
            <a:pPr marL="285750" indent="-285750">
              <a:buFont typeface="Arial" panose="020B0604020202020204" pitchFamily="34" charset="0"/>
              <a:buChar char="•"/>
            </a:pPr>
            <a:r>
              <a:rPr lang="en-US" dirty="0"/>
              <a:t>Resolve</a:t>
            </a:r>
          </a:p>
          <a:p>
            <a:pPr marL="285750" indent="-285750">
              <a:buFont typeface="Arial" panose="020B0604020202020204" pitchFamily="34" charset="0"/>
              <a:buChar char="•"/>
            </a:pPr>
            <a:r>
              <a:rPr lang="en-US" dirty="0" err="1"/>
              <a:t>CanLoad</a:t>
            </a:r>
            <a:endParaRPr lang="en-US" dirty="0"/>
          </a:p>
          <a:p>
            <a:pPr marL="285750" indent="-285750">
              <a:buFont typeface="Arial" panose="020B0604020202020204" pitchFamily="34" charset="0"/>
              <a:buChar char="•"/>
            </a:pPr>
            <a:r>
              <a:rPr lang="en-US" dirty="0" err="1"/>
              <a:t>CanActivateChild</a:t>
            </a:r>
            <a:endParaRPr lang="en-US" dirty="0"/>
          </a:p>
          <a:p>
            <a:pPr marL="285750" indent="-285750">
              <a:buFont typeface="Arial" panose="020B0604020202020204" pitchFamily="34" charset="0"/>
              <a:buChar char="•"/>
            </a:pPr>
            <a:r>
              <a:rPr lang="en-US" dirty="0" err="1"/>
              <a:t>CanMatch</a:t>
            </a: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7269276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7F800182-AEAD-C0C2-4B7F-DED6908B844F}"/>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F9DD87CB-4F20-42B1-A1EB-A11834CB0139}"/>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err="1"/>
              <a:t>CanActivate</a:t>
            </a:r>
            <a:endParaRPr lang="en-IN" sz="2400" b="1" dirty="0"/>
          </a:p>
        </p:txBody>
      </p:sp>
      <p:sp>
        <p:nvSpPr>
          <p:cNvPr id="4" name="TextBox 3">
            <a:extLst>
              <a:ext uri="{FF2B5EF4-FFF2-40B4-BE49-F238E27FC236}">
                <a16:creationId xmlns:a16="http://schemas.microsoft.com/office/drawing/2014/main" id="{23C1B4F7-1B07-5901-A856-F96C81EF985F}"/>
              </a:ext>
            </a:extLst>
          </p:cNvPr>
          <p:cNvSpPr txBox="1"/>
          <p:nvPr/>
        </p:nvSpPr>
        <p:spPr>
          <a:xfrm>
            <a:off x="381000" y="1100050"/>
            <a:ext cx="8381999" cy="1600438"/>
          </a:xfrm>
          <a:prstGeom prst="rect">
            <a:avLst/>
          </a:prstGeom>
          <a:noFill/>
        </p:spPr>
        <p:txBody>
          <a:bodyPr wrap="square">
            <a:spAutoFit/>
          </a:bodyPr>
          <a:lstStyle/>
          <a:p>
            <a:r>
              <a:rPr lang="en-US" dirty="0"/>
              <a:t>The Angular </a:t>
            </a:r>
            <a:r>
              <a:rPr lang="en-US" dirty="0" err="1"/>
              <a:t>CanActivate</a:t>
            </a:r>
            <a:r>
              <a:rPr lang="en-US" dirty="0"/>
              <a:t> guard decides if a route can be activated ( or the component gets rendered). We use this guard when we want to check on some condition, before activating the component or showing it to the user. This allows us to cancel the navigation.</a:t>
            </a:r>
          </a:p>
          <a:p>
            <a:endParaRPr lang="en-US" dirty="0"/>
          </a:p>
          <a:p>
            <a:r>
              <a:rPr lang="en-US" dirty="0"/>
              <a:t>Use cases</a:t>
            </a:r>
          </a:p>
          <a:p>
            <a:pPr marL="285750" indent="-285750">
              <a:buFont typeface="Arial" panose="020B0604020202020204" pitchFamily="34" charset="0"/>
              <a:buChar char="•"/>
            </a:pPr>
            <a:r>
              <a:rPr lang="en-US" dirty="0"/>
              <a:t>Checking if a user has logged in</a:t>
            </a:r>
          </a:p>
          <a:p>
            <a:pPr marL="285750" indent="-285750">
              <a:buFont typeface="Arial" panose="020B0604020202020204" pitchFamily="34" charset="0"/>
              <a:buChar char="•"/>
            </a:pPr>
            <a:r>
              <a:rPr lang="en-US" dirty="0"/>
              <a:t>Checking if a user has permission</a:t>
            </a:r>
            <a:endParaRPr lang="en-IN" dirty="0"/>
          </a:p>
        </p:txBody>
      </p:sp>
    </p:spTree>
    <p:extLst>
      <p:ext uri="{BB962C8B-B14F-4D97-AF65-F5344CB8AC3E}">
        <p14:creationId xmlns:p14="http://schemas.microsoft.com/office/powerpoint/2010/main" val="26989442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3821F539-780C-7B02-3BF7-8CB24C004268}"/>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5E1B0AEC-993B-1499-C544-A54E057D65CC}"/>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err="1"/>
              <a:t>CanDeactivate</a:t>
            </a:r>
            <a:endParaRPr lang="en-IN" sz="2400" b="1" dirty="0"/>
          </a:p>
        </p:txBody>
      </p:sp>
      <p:sp>
        <p:nvSpPr>
          <p:cNvPr id="4" name="TextBox 3">
            <a:extLst>
              <a:ext uri="{FF2B5EF4-FFF2-40B4-BE49-F238E27FC236}">
                <a16:creationId xmlns:a16="http://schemas.microsoft.com/office/drawing/2014/main" id="{93959FE6-579C-0381-335E-2AA80E6270BC}"/>
              </a:ext>
            </a:extLst>
          </p:cNvPr>
          <p:cNvSpPr txBox="1"/>
          <p:nvPr/>
        </p:nvSpPr>
        <p:spPr>
          <a:xfrm>
            <a:off x="380999" y="1274862"/>
            <a:ext cx="7862048" cy="1384995"/>
          </a:xfrm>
          <a:prstGeom prst="rect">
            <a:avLst/>
          </a:prstGeom>
          <a:noFill/>
        </p:spPr>
        <p:txBody>
          <a:bodyPr wrap="square">
            <a:spAutoFit/>
          </a:bodyPr>
          <a:lstStyle/>
          <a:p>
            <a:r>
              <a:rPr lang="en-US" dirty="0"/>
              <a:t>This Angular Guard decides if the user can leave the component (navigate away from the current route). </a:t>
            </a:r>
          </a:p>
          <a:p>
            <a:r>
              <a:rPr lang="en-US" dirty="0"/>
              <a:t>This route is useful when the user might have some pending changes, which is not yet saved. </a:t>
            </a:r>
          </a:p>
          <a:p>
            <a:endParaRPr lang="en-US" dirty="0"/>
          </a:p>
          <a:p>
            <a:r>
              <a:rPr lang="en-US" dirty="0"/>
              <a:t>The </a:t>
            </a:r>
            <a:r>
              <a:rPr lang="en-US" dirty="0" err="1"/>
              <a:t>CanDeactivate</a:t>
            </a:r>
            <a:r>
              <a:rPr lang="en-US" dirty="0"/>
              <a:t> route allows us to ask for user confirmation before leaving the component.  You might ask the user if it’s OK to discard pending changes rather than save them.</a:t>
            </a:r>
          </a:p>
        </p:txBody>
      </p:sp>
    </p:spTree>
    <p:extLst>
      <p:ext uri="{BB962C8B-B14F-4D97-AF65-F5344CB8AC3E}">
        <p14:creationId xmlns:p14="http://schemas.microsoft.com/office/powerpoint/2010/main" val="33549795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6710160A-EAD8-15EE-281C-517B00E94181}"/>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71197192-1DEC-F798-6A37-000D4F018784}"/>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Resolve</a:t>
            </a:r>
            <a:endParaRPr lang="en-IN" sz="2400" b="1" dirty="0"/>
          </a:p>
        </p:txBody>
      </p:sp>
      <p:sp>
        <p:nvSpPr>
          <p:cNvPr id="4" name="TextBox 3">
            <a:extLst>
              <a:ext uri="{FF2B5EF4-FFF2-40B4-BE49-F238E27FC236}">
                <a16:creationId xmlns:a16="http://schemas.microsoft.com/office/drawing/2014/main" id="{04029CB2-2821-749D-13F9-A7A6F1C1BF28}"/>
              </a:ext>
            </a:extLst>
          </p:cNvPr>
          <p:cNvSpPr txBox="1"/>
          <p:nvPr/>
        </p:nvSpPr>
        <p:spPr>
          <a:xfrm>
            <a:off x="381000" y="1274862"/>
            <a:ext cx="8063753" cy="523220"/>
          </a:xfrm>
          <a:prstGeom prst="rect">
            <a:avLst/>
          </a:prstGeom>
          <a:noFill/>
        </p:spPr>
        <p:txBody>
          <a:bodyPr wrap="square">
            <a:spAutoFit/>
          </a:bodyPr>
          <a:lstStyle/>
          <a:p>
            <a:r>
              <a:rPr lang="en-US" dirty="0"/>
              <a:t>This guard delays the activation of the route until some tasks are complete. </a:t>
            </a:r>
          </a:p>
          <a:p>
            <a:r>
              <a:rPr lang="en-US" dirty="0"/>
              <a:t>You can use the guard to pre-fetch the data from the backend API before activating the route.</a:t>
            </a:r>
            <a:endParaRPr lang="en-IN" dirty="0"/>
          </a:p>
        </p:txBody>
      </p:sp>
    </p:spTree>
    <p:extLst>
      <p:ext uri="{BB962C8B-B14F-4D97-AF65-F5344CB8AC3E}">
        <p14:creationId xmlns:p14="http://schemas.microsoft.com/office/powerpoint/2010/main" val="3993884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EB5CD78A-FD57-F051-7531-35D3BD10D48D}"/>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18096635-6ED1-C9F6-FCEF-DC4979D55636}"/>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err="1"/>
              <a:t>CanLoad</a:t>
            </a:r>
            <a:endParaRPr lang="en-IN" sz="2400" b="1" dirty="0"/>
          </a:p>
        </p:txBody>
      </p:sp>
      <p:sp>
        <p:nvSpPr>
          <p:cNvPr id="4" name="TextBox 3">
            <a:extLst>
              <a:ext uri="{FF2B5EF4-FFF2-40B4-BE49-F238E27FC236}">
                <a16:creationId xmlns:a16="http://schemas.microsoft.com/office/drawing/2014/main" id="{A8DE684F-05A1-8F16-D65D-AA4DF6F4BC60}"/>
              </a:ext>
            </a:extLst>
          </p:cNvPr>
          <p:cNvSpPr txBox="1"/>
          <p:nvPr/>
        </p:nvSpPr>
        <p:spPr>
          <a:xfrm>
            <a:off x="381000" y="1274862"/>
            <a:ext cx="8063753" cy="2677656"/>
          </a:xfrm>
          <a:prstGeom prst="rect">
            <a:avLst/>
          </a:prstGeom>
          <a:noFill/>
        </p:spPr>
        <p:txBody>
          <a:bodyPr wrap="square">
            <a:spAutoFit/>
          </a:bodyPr>
          <a:lstStyle/>
          <a:p>
            <a:r>
              <a:rPr lang="en-US" dirty="0"/>
              <a:t>The </a:t>
            </a:r>
            <a:r>
              <a:rPr lang="en-US" dirty="0" err="1"/>
              <a:t>CanLoad</a:t>
            </a:r>
            <a:r>
              <a:rPr lang="en-US" dirty="0"/>
              <a:t> Guard prevents the loading of the Lazy Loaded Module. </a:t>
            </a:r>
          </a:p>
          <a:p>
            <a:endParaRPr lang="en-US" dirty="0"/>
          </a:p>
          <a:p>
            <a:r>
              <a:rPr lang="en-US" dirty="0"/>
              <a:t>We generally use this guard when we do not want to unauthorized users to be able even to see the source code of the module.</a:t>
            </a:r>
          </a:p>
          <a:p>
            <a:endParaRPr lang="en-US" dirty="0"/>
          </a:p>
          <a:p>
            <a:r>
              <a:rPr lang="en-US" dirty="0"/>
              <a:t>This guard works similarly to </a:t>
            </a:r>
            <a:r>
              <a:rPr lang="en-US" dirty="0" err="1"/>
              <a:t>CanActivate</a:t>
            </a:r>
            <a:r>
              <a:rPr lang="en-US" dirty="0"/>
              <a:t> guard with one difference. </a:t>
            </a:r>
          </a:p>
          <a:p>
            <a:endParaRPr lang="en-US" dirty="0"/>
          </a:p>
          <a:p>
            <a:r>
              <a:rPr lang="en-US" dirty="0"/>
              <a:t>The </a:t>
            </a:r>
            <a:r>
              <a:rPr lang="en-US" dirty="0" err="1"/>
              <a:t>CanActivate</a:t>
            </a:r>
            <a:r>
              <a:rPr lang="en-US" dirty="0"/>
              <a:t> guard prevents a particular route from being accessed. </a:t>
            </a:r>
          </a:p>
          <a:p>
            <a:endParaRPr lang="en-US" dirty="0"/>
          </a:p>
          <a:p>
            <a:r>
              <a:rPr lang="en-US" dirty="0"/>
              <a:t>The </a:t>
            </a:r>
            <a:r>
              <a:rPr lang="en-US" dirty="0" err="1"/>
              <a:t>CanLoad</a:t>
            </a:r>
            <a:r>
              <a:rPr lang="en-US" dirty="0"/>
              <a:t> prevents the entire lazy-loaded module from being downloaded, protecting all the routes within that module.</a:t>
            </a:r>
          </a:p>
          <a:p>
            <a:endParaRPr lang="en-IN" dirty="0"/>
          </a:p>
        </p:txBody>
      </p:sp>
    </p:spTree>
    <p:extLst>
      <p:ext uri="{BB962C8B-B14F-4D97-AF65-F5344CB8AC3E}">
        <p14:creationId xmlns:p14="http://schemas.microsoft.com/office/powerpoint/2010/main" val="4387986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83389AEC-949B-A9A4-1AFE-EA8CF90FE2ED}"/>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1BC4C4AC-BD8C-3DCD-FA4F-AD00B8918B25}"/>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err="1"/>
              <a:t>CanActivateChild</a:t>
            </a:r>
            <a:endParaRPr lang="en-IN" sz="2400" b="1" dirty="0"/>
          </a:p>
        </p:txBody>
      </p:sp>
      <p:sp>
        <p:nvSpPr>
          <p:cNvPr id="4" name="TextBox 3">
            <a:extLst>
              <a:ext uri="{FF2B5EF4-FFF2-40B4-BE49-F238E27FC236}">
                <a16:creationId xmlns:a16="http://schemas.microsoft.com/office/drawing/2014/main" id="{5913BFB3-1467-FDFF-EF4C-C9F6B6D29515}"/>
              </a:ext>
            </a:extLst>
          </p:cNvPr>
          <p:cNvSpPr txBox="1"/>
          <p:nvPr/>
        </p:nvSpPr>
        <p:spPr>
          <a:xfrm>
            <a:off x="381000" y="1274862"/>
            <a:ext cx="8063753" cy="1815882"/>
          </a:xfrm>
          <a:prstGeom prst="rect">
            <a:avLst/>
          </a:prstGeom>
          <a:noFill/>
        </p:spPr>
        <p:txBody>
          <a:bodyPr wrap="square">
            <a:spAutoFit/>
          </a:bodyPr>
          <a:lstStyle/>
          <a:p>
            <a:r>
              <a:rPr lang="en-US" dirty="0" err="1"/>
              <a:t>CanActivateChild</a:t>
            </a:r>
            <a:r>
              <a:rPr lang="en-US" dirty="0"/>
              <a:t> guard determines whether a child route can be activated. This guard is very similar to </a:t>
            </a:r>
            <a:r>
              <a:rPr lang="en-US" dirty="0" err="1"/>
              <a:t>CanActivateGuard</a:t>
            </a:r>
            <a:r>
              <a:rPr lang="en-US" dirty="0"/>
              <a:t>. </a:t>
            </a:r>
          </a:p>
          <a:p>
            <a:endParaRPr lang="en-US" dirty="0"/>
          </a:p>
          <a:p>
            <a:r>
              <a:rPr lang="en-US" dirty="0"/>
              <a:t>We apply this guard to the parent route. The Angular invokes this guard whenever the user tries to navigate to any of its child routes. </a:t>
            </a:r>
          </a:p>
          <a:p>
            <a:endParaRPr lang="en-US" dirty="0"/>
          </a:p>
          <a:p>
            <a:r>
              <a:rPr lang="en-US" dirty="0"/>
              <a:t>This allows us to check some conditions and decide whether to proceed with the navigation or cancel it.</a:t>
            </a:r>
            <a:endParaRPr lang="en-IN" dirty="0"/>
          </a:p>
        </p:txBody>
      </p:sp>
    </p:spTree>
    <p:extLst>
      <p:ext uri="{BB962C8B-B14F-4D97-AF65-F5344CB8AC3E}">
        <p14:creationId xmlns:p14="http://schemas.microsoft.com/office/powerpoint/2010/main" val="42017907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FB63B3AF-01B5-EAE9-AF94-1BB9B924732D}"/>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AB2363E9-ECDC-780C-F369-2D3B3531DAED}"/>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Angular </a:t>
            </a:r>
            <a:r>
              <a:rPr lang="en-IN" sz="2400" dirty="0" err="1"/>
              <a:t>HttpClient</a:t>
            </a:r>
            <a:endParaRPr lang="en-IN" sz="2400" b="1" dirty="0"/>
          </a:p>
        </p:txBody>
      </p:sp>
      <p:sp>
        <p:nvSpPr>
          <p:cNvPr id="4" name="TextBox 3">
            <a:extLst>
              <a:ext uri="{FF2B5EF4-FFF2-40B4-BE49-F238E27FC236}">
                <a16:creationId xmlns:a16="http://schemas.microsoft.com/office/drawing/2014/main" id="{EC53E728-CA90-1C7C-C255-BA130B2602A5}"/>
              </a:ext>
            </a:extLst>
          </p:cNvPr>
          <p:cNvSpPr txBox="1"/>
          <p:nvPr/>
        </p:nvSpPr>
        <p:spPr>
          <a:xfrm>
            <a:off x="381000" y="1274862"/>
            <a:ext cx="8063753" cy="1815882"/>
          </a:xfrm>
          <a:prstGeom prst="rect">
            <a:avLst/>
          </a:prstGeom>
          <a:noFill/>
        </p:spPr>
        <p:txBody>
          <a:bodyPr wrap="square">
            <a:spAutoFit/>
          </a:bodyPr>
          <a:lstStyle/>
          <a:p>
            <a:r>
              <a:rPr lang="en-US" dirty="0"/>
              <a:t>The </a:t>
            </a:r>
            <a:r>
              <a:rPr lang="en-US" dirty="0" err="1"/>
              <a:t>HttpClient</a:t>
            </a:r>
            <a:r>
              <a:rPr lang="en-US" dirty="0"/>
              <a:t> is a separate model in Angular and is available under the @angular/common/http package. The following steps show you how to use the </a:t>
            </a:r>
            <a:r>
              <a:rPr lang="en-US" dirty="0" err="1"/>
              <a:t>HttpClient</a:t>
            </a:r>
            <a:r>
              <a:rPr lang="en-US" dirty="0"/>
              <a:t> in an Angular app.</a:t>
            </a:r>
          </a:p>
          <a:p>
            <a:endParaRPr lang="en-US" dirty="0"/>
          </a:p>
          <a:p>
            <a:r>
              <a:rPr lang="en-US" dirty="0"/>
              <a:t>What is Observable?</a:t>
            </a:r>
          </a:p>
          <a:p>
            <a:r>
              <a:rPr lang="en-US" dirty="0"/>
              <a:t>The Angular </a:t>
            </a:r>
            <a:r>
              <a:rPr lang="en-US" dirty="0" err="1"/>
              <a:t>HTTPClient</a:t>
            </a:r>
            <a:r>
              <a:rPr lang="en-US" dirty="0"/>
              <a:t> makes use of observable. Hence it is important to understand the basics of it.</a:t>
            </a:r>
          </a:p>
          <a:p>
            <a:r>
              <a:rPr lang="en-US" dirty="0"/>
              <a:t>Observable help us to manage async data. You can think of Observables as an array of items, which arrive asynchronously over time.</a:t>
            </a:r>
            <a:endParaRPr lang="en-IN" dirty="0"/>
          </a:p>
        </p:txBody>
      </p:sp>
    </p:spTree>
    <p:extLst>
      <p:ext uri="{BB962C8B-B14F-4D97-AF65-F5344CB8AC3E}">
        <p14:creationId xmlns:p14="http://schemas.microsoft.com/office/powerpoint/2010/main" val="27213219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B23F1C6A-8B8D-3960-4A4C-01D4D844EADB}"/>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9E349353-9A12-EA9E-3CFC-0DCBC965E6F9}"/>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Angular </a:t>
            </a:r>
            <a:r>
              <a:rPr lang="en-US" sz="2400" dirty="0"/>
              <a:t>HTTP GET</a:t>
            </a:r>
          </a:p>
        </p:txBody>
      </p:sp>
      <p:sp>
        <p:nvSpPr>
          <p:cNvPr id="4" name="TextBox 3">
            <a:extLst>
              <a:ext uri="{FF2B5EF4-FFF2-40B4-BE49-F238E27FC236}">
                <a16:creationId xmlns:a16="http://schemas.microsoft.com/office/drawing/2014/main" id="{FC29A116-7051-8401-B278-54CAADF235FC}"/>
              </a:ext>
            </a:extLst>
          </p:cNvPr>
          <p:cNvSpPr txBox="1"/>
          <p:nvPr/>
        </p:nvSpPr>
        <p:spPr>
          <a:xfrm>
            <a:off x="381000" y="1274862"/>
            <a:ext cx="8063753" cy="2246769"/>
          </a:xfrm>
          <a:prstGeom prst="rect">
            <a:avLst/>
          </a:prstGeom>
          <a:noFill/>
        </p:spPr>
        <p:txBody>
          <a:bodyPr wrap="square">
            <a:spAutoFit/>
          </a:bodyPr>
          <a:lstStyle/>
          <a:p>
            <a:r>
              <a:rPr lang="en-US" dirty="0"/>
              <a:t>The </a:t>
            </a:r>
            <a:r>
              <a:rPr lang="en-US" dirty="0" err="1"/>
              <a:t>HttpClient.get</a:t>
            </a:r>
            <a:r>
              <a:rPr lang="en-US" dirty="0"/>
              <a:t> sends the HTTP Get Request to the API endpoint and parses the returned result to the desired type. By default, the body of the response is parsed as JSON. If you want any other type, then you need to specify explicitly using the observe &amp; </a:t>
            </a:r>
            <a:r>
              <a:rPr lang="en-US" dirty="0" err="1"/>
              <a:t>responseType</a:t>
            </a:r>
            <a:r>
              <a:rPr lang="en-US" dirty="0"/>
              <a:t> options.</a:t>
            </a:r>
          </a:p>
          <a:p>
            <a:endParaRPr lang="en-US" dirty="0"/>
          </a:p>
          <a:p>
            <a:r>
              <a:rPr lang="en-IN" dirty="0"/>
              <a:t>Syntax</a:t>
            </a:r>
          </a:p>
          <a:p>
            <a:endParaRPr lang="en-IN" dirty="0"/>
          </a:p>
          <a:p>
            <a:r>
              <a:rPr lang="en-US" dirty="0"/>
              <a:t>  </a:t>
            </a:r>
            <a:r>
              <a:rPr lang="en-US" dirty="0" err="1"/>
              <a:t>getTasks</a:t>
            </a:r>
            <a:r>
              <a:rPr lang="en-US" dirty="0"/>
              <a:t>(): Observable&lt;Task[]&gt; {</a:t>
            </a:r>
          </a:p>
          <a:p>
            <a:r>
              <a:rPr lang="en-US" dirty="0"/>
              <a:t>    return </a:t>
            </a:r>
            <a:r>
              <a:rPr lang="en-US" dirty="0" err="1"/>
              <a:t>this.http.get</a:t>
            </a:r>
            <a:r>
              <a:rPr lang="en-US" dirty="0"/>
              <a:t>&lt;Task[]&gt;(</a:t>
            </a:r>
            <a:r>
              <a:rPr lang="en-US" dirty="0" err="1"/>
              <a:t>this.api</a:t>
            </a:r>
            <a:r>
              <a:rPr lang="en-US" dirty="0"/>
              <a:t>);</a:t>
            </a:r>
          </a:p>
          <a:p>
            <a:r>
              <a:rPr lang="en-US" dirty="0"/>
              <a:t>  }</a:t>
            </a:r>
          </a:p>
          <a:p>
            <a:endParaRPr lang="en-US" dirty="0"/>
          </a:p>
        </p:txBody>
      </p:sp>
    </p:spTree>
    <p:extLst>
      <p:ext uri="{BB962C8B-B14F-4D97-AF65-F5344CB8AC3E}">
        <p14:creationId xmlns:p14="http://schemas.microsoft.com/office/powerpoint/2010/main" val="8748582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C0DF9FB3-3222-34E0-D113-A0FC6550AFC2}"/>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DE3002BA-8A5B-8482-DCF7-DB2448A967C5}"/>
              </a:ext>
            </a:extLst>
          </p:cNvPr>
          <p:cNvSpPr txBox="1"/>
          <p:nvPr/>
        </p:nvSpPr>
        <p:spPr>
          <a:xfrm>
            <a:off x="381000" y="341171"/>
            <a:ext cx="8382000" cy="553968"/>
          </a:xfrm>
          <a:prstGeom prst="rect">
            <a:avLst/>
          </a:prstGeom>
          <a:noFill/>
          <a:ln>
            <a:noFill/>
          </a:ln>
        </p:spPr>
        <p:txBody>
          <a:bodyPr spcFirstLastPara="1" wrap="square" lIns="91425" tIns="91425" rIns="91425" bIns="91425" anchor="t" anchorCtr="0">
            <a:spAutoFit/>
          </a:bodyPr>
          <a:lstStyle/>
          <a:p>
            <a:r>
              <a:rPr lang="en-IN" sz="2400" dirty="0"/>
              <a:t>Angular </a:t>
            </a:r>
            <a:r>
              <a:rPr lang="en-IN" sz="2400" dirty="0" err="1"/>
              <a:t>HttpClient</a:t>
            </a:r>
            <a:r>
              <a:rPr lang="en-IN" sz="2400" dirty="0"/>
              <a:t> HTTP Post</a:t>
            </a:r>
            <a:endParaRPr lang="en-IN" sz="2400" b="1" dirty="0"/>
          </a:p>
        </p:txBody>
      </p:sp>
      <p:sp>
        <p:nvSpPr>
          <p:cNvPr id="4" name="TextBox 3">
            <a:extLst>
              <a:ext uri="{FF2B5EF4-FFF2-40B4-BE49-F238E27FC236}">
                <a16:creationId xmlns:a16="http://schemas.microsoft.com/office/drawing/2014/main" id="{CF2DD59E-1462-3ADD-505A-99CEC98F9201}"/>
              </a:ext>
            </a:extLst>
          </p:cNvPr>
          <p:cNvSpPr txBox="1"/>
          <p:nvPr/>
        </p:nvSpPr>
        <p:spPr>
          <a:xfrm>
            <a:off x="381000" y="1032814"/>
            <a:ext cx="8063753" cy="2893100"/>
          </a:xfrm>
          <a:prstGeom prst="rect">
            <a:avLst/>
          </a:prstGeom>
          <a:noFill/>
        </p:spPr>
        <p:txBody>
          <a:bodyPr wrap="square">
            <a:spAutoFit/>
          </a:bodyPr>
          <a:lstStyle/>
          <a:p>
            <a:r>
              <a:rPr lang="en-US" dirty="0"/>
              <a:t>The </a:t>
            </a:r>
            <a:r>
              <a:rPr lang="en-US" dirty="0" err="1"/>
              <a:t>HttpClient.post</a:t>
            </a:r>
            <a:r>
              <a:rPr lang="en-US" dirty="0"/>
              <a:t>() sends the HTTP POST request to the endpoint. Similar to the get(), we need to subscribe to the post() method to send the request. The post method parsed the body of the response as JSON and returns it. This is the default behavior. If you want any other type, then you need to specify explicitly using the observe &amp; </a:t>
            </a:r>
            <a:r>
              <a:rPr lang="en-US" dirty="0" err="1"/>
              <a:t>responseType</a:t>
            </a:r>
            <a:r>
              <a:rPr lang="en-US" dirty="0"/>
              <a:t> options.</a:t>
            </a:r>
          </a:p>
          <a:p>
            <a:endParaRPr lang="en-US" dirty="0"/>
          </a:p>
          <a:p>
            <a:r>
              <a:rPr lang="en-US" dirty="0"/>
              <a:t>The syntax of the HTTP Post is similar to the HTTP Get.</a:t>
            </a:r>
          </a:p>
          <a:p>
            <a:endParaRPr lang="en-US" dirty="0"/>
          </a:p>
          <a:p>
            <a:r>
              <a:rPr lang="en-IN" dirty="0" err="1"/>
              <a:t>this.service.addTask</a:t>
            </a:r>
            <a:r>
              <a:rPr lang="en-IN" dirty="0"/>
              <a:t>(</a:t>
            </a:r>
            <a:r>
              <a:rPr lang="en-IN" dirty="0" err="1"/>
              <a:t>this.task</a:t>
            </a:r>
            <a:r>
              <a:rPr lang="en-IN" dirty="0"/>
              <a:t>).subscribe({</a:t>
            </a:r>
            <a:br>
              <a:rPr lang="en-IN" dirty="0"/>
            </a:br>
            <a:r>
              <a:rPr lang="en-IN" dirty="0"/>
              <a:t>  next: (res) =&gt; {</a:t>
            </a:r>
            <a:br>
              <a:rPr lang="en-IN" dirty="0"/>
            </a:br>
            <a:r>
              <a:rPr lang="en-IN" dirty="0"/>
              <a:t>    </a:t>
            </a:r>
            <a:r>
              <a:rPr lang="en-IN" dirty="0" err="1"/>
              <a:t>this.router.navigate</a:t>
            </a:r>
            <a:r>
              <a:rPr lang="en-IN" dirty="0"/>
              <a:t>(['/']); // go back to list</a:t>
            </a:r>
            <a:br>
              <a:rPr lang="en-IN" dirty="0"/>
            </a:br>
            <a:r>
              <a:rPr lang="en-IN" dirty="0"/>
              <a:t>  }</a:t>
            </a:r>
            <a:br>
              <a:rPr lang="en-IN" dirty="0"/>
            </a:br>
            <a:r>
              <a:rPr lang="en-IN" dirty="0"/>
              <a:t>});</a:t>
            </a:r>
          </a:p>
          <a:p>
            <a:endParaRPr lang="en-IN" dirty="0"/>
          </a:p>
        </p:txBody>
      </p:sp>
    </p:spTree>
    <p:extLst>
      <p:ext uri="{BB962C8B-B14F-4D97-AF65-F5344CB8AC3E}">
        <p14:creationId xmlns:p14="http://schemas.microsoft.com/office/powerpoint/2010/main" val="5584352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A2BD539C-D1FC-60A3-5B3E-30A542FB53A9}"/>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24CE0D3D-CE31-1754-0BCC-12F7842945DA}"/>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Angular </a:t>
            </a:r>
            <a:r>
              <a:rPr lang="en-IN" sz="2400" dirty="0" err="1"/>
              <a:t>HttpClient</a:t>
            </a:r>
            <a:r>
              <a:rPr lang="en-IN" sz="2400" dirty="0"/>
              <a:t> HTTP PUT</a:t>
            </a:r>
            <a:endParaRPr lang="en-IN" sz="2400" b="1" dirty="0"/>
          </a:p>
        </p:txBody>
      </p:sp>
      <p:sp>
        <p:nvSpPr>
          <p:cNvPr id="4" name="TextBox 3">
            <a:extLst>
              <a:ext uri="{FF2B5EF4-FFF2-40B4-BE49-F238E27FC236}">
                <a16:creationId xmlns:a16="http://schemas.microsoft.com/office/drawing/2014/main" id="{20638456-67D7-DCE4-3812-2D639802F67F}"/>
              </a:ext>
            </a:extLst>
          </p:cNvPr>
          <p:cNvSpPr txBox="1"/>
          <p:nvPr/>
        </p:nvSpPr>
        <p:spPr>
          <a:xfrm>
            <a:off x="381000" y="1274862"/>
            <a:ext cx="8063753" cy="2031325"/>
          </a:xfrm>
          <a:prstGeom prst="rect">
            <a:avLst/>
          </a:prstGeom>
          <a:noFill/>
        </p:spPr>
        <p:txBody>
          <a:bodyPr wrap="square">
            <a:spAutoFit/>
          </a:bodyPr>
          <a:lstStyle/>
          <a:p>
            <a:r>
              <a:rPr lang="en-US" dirty="0"/>
              <a:t>The </a:t>
            </a:r>
            <a:r>
              <a:rPr lang="en-US" dirty="0" err="1"/>
              <a:t>HttpClient.put</a:t>
            </a:r>
            <a:r>
              <a:rPr lang="en-US" dirty="0"/>
              <a:t>() sends the HTTP PUT request to the endpoint. The syntax and usage are very similar to the HTTP POST method.</a:t>
            </a:r>
          </a:p>
          <a:p>
            <a:endParaRPr lang="en-US" dirty="0"/>
          </a:p>
          <a:p>
            <a:r>
              <a:rPr lang="en-US" dirty="0"/>
              <a:t>The syntax of the HTTP Put</a:t>
            </a:r>
          </a:p>
          <a:p>
            <a:endParaRPr lang="en-US" dirty="0"/>
          </a:p>
          <a:p>
            <a:r>
              <a:rPr lang="en-US" dirty="0" err="1"/>
              <a:t>updateTask</a:t>
            </a:r>
            <a:r>
              <a:rPr lang="en-US" dirty="0"/>
              <a:t>(task: Task): Observable&lt;Task&gt; {</a:t>
            </a:r>
          </a:p>
          <a:p>
            <a:r>
              <a:rPr lang="en-US" dirty="0"/>
              <a:t>    return </a:t>
            </a:r>
            <a:r>
              <a:rPr lang="en-US" dirty="0" err="1"/>
              <a:t>this.http.put</a:t>
            </a:r>
            <a:r>
              <a:rPr lang="en-US" dirty="0"/>
              <a:t>&lt;Task&gt;(`${</a:t>
            </a:r>
            <a:r>
              <a:rPr lang="en-US" dirty="0" err="1"/>
              <a:t>this.api</a:t>
            </a:r>
            <a:r>
              <a:rPr lang="en-US" dirty="0"/>
              <a:t>}/${task.id}`, task);</a:t>
            </a:r>
          </a:p>
          <a:p>
            <a:r>
              <a:rPr lang="en-US" dirty="0"/>
              <a:t>  }</a:t>
            </a:r>
          </a:p>
          <a:p>
            <a:endParaRPr lang="en-IN" dirty="0"/>
          </a:p>
        </p:txBody>
      </p:sp>
    </p:spTree>
    <p:extLst>
      <p:ext uri="{BB962C8B-B14F-4D97-AF65-F5344CB8AC3E}">
        <p14:creationId xmlns:p14="http://schemas.microsoft.com/office/powerpoint/2010/main" val="39760680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0533D3BF-870F-6279-995C-9656696E8A81}"/>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BDF2C12A-7C8C-2CDB-8990-C07486E04D99}"/>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Angular </a:t>
            </a:r>
            <a:r>
              <a:rPr lang="en-IN" sz="2400" dirty="0" err="1"/>
              <a:t>HttpClient</a:t>
            </a:r>
            <a:r>
              <a:rPr lang="en-IN" sz="2400" dirty="0"/>
              <a:t> HTTP PATCH</a:t>
            </a:r>
            <a:endParaRPr lang="en-IN" sz="2400" b="1" dirty="0"/>
          </a:p>
        </p:txBody>
      </p:sp>
      <p:sp>
        <p:nvSpPr>
          <p:cNvPr id="4" name="TextBox 3">
            <a:extLst>
              <a:ext uri="{FF2B5EF4-FFF2-40B4-BE49-F238E27FC236}">
                <a16:creationId xmlns:a16="http://schemas.microsoft.com/office/drawing/2014/main" id="{2E26B09C-B35C-48D1-A222-A57BED32F6C7}"/>
              </a:ext>
            </a:extLst>
          </p:cNvPr>
          <p:cNvSpPr txBox="1"/>
          <p:nvPr/>
        </p:nvSpPr>
        <p:spPr>
          <a:xfrm>
            <a:off x="381000" y="1274862"/>
            <a:ext cx="8063753" cy="2246769"/>
          </a:xfrm>
          <a:prstGeom prst="rect">
            <a:avLst/>
          </a:prstGeom>
          <a:noFill/>
        </p:spPr>
        <p:txBody>
          <a:bodyPr wrap="square">
            <a:spAutoFit/>
          </a:bodyPr>
          <a:lstStyle/>
          <a:p>
            <a:r>
              <a:rPr lang="en-US" dirty="0"/>
              <a:t>The </a:t>
            </a:r>
            <a:r>
              <a:rPr lang="en-US" dirty="0" err="1"/>
              <a:t>HttpClient.patch</a:t>
            </a:r>
            <a:r>
              <a:rPr lang="en-US" dirty="0"/>
              <a:t>() sends the HTTP PATCH request to the endpoint. The syntax and usage are very similar to the HTTP POST method.</a:t>
            </a:r>
          </a:p>
          <a:p>
            <a:endParaRPr lang="en-US" dirty="0"/>
          </a:p>
          <a:p>
            <a:r>
              <a:rPr lang="en-US" dirty="0"/>
              <a:t>The syntax of the HTTP Patch</a:t>
            </a:r>
          </a:p>
          <a:p>
            <a:endParaRPr lang="en-US" dirty="0"/>
          </a:p>
          <a:p>
            <a:r>
              <a:rPr lang="en-US" dirty="0"/>
              <a:t> </a:t>
            </a:r>
            <a:r>
              <a:rPr lang="en-US" dirty="0" err="1"/>
              <a:t>updateTaskStatus</a:t>
            </a:r>
            <a:r>
              <a:rPr lang="en-US" dirty="0"/>
              <a:t>(id: number, completed: </a:t>
            </a:r>
            <a:r>
              <a:rPr lang="en-US" dirty="0" err="1"/>
              <a:t>boolean</a:t>
            </a:r>
            <a:r>
              <a:rPr lang="en-US" dirty="0"/>
              <a:t>): Observable&lt;Task&gt; {</a:t>
            </a:r>
          </a:p>
          <a:p>
            <a:r>
              <a:rPr lang="en-US" dirty="0"/>
              <a:t>    return </a:t>
            </a:r>
            <a:r>
              <a:rPr lang="en-US" dirty="0" err="1"/>
              <a:t>this.http.patch</a:t>
            </a:r>
            <a:r>
              <a:rPr lang="en-US" dirty="0"/>
              <a:t>&lt;Task&gt;(`${</a:t>
            </a:r>
            <a:r>
              <a:rPr lang="en-US" dirty="0" err="1"/>
              <a:t>this.api</a:t>
            </a:r>
            <a:r>
              <a:rPr lang="en-US" dirty="0"/>
              <a:t>}/${id}`, {</a:t>
            </a:r>
          </a:p>
          <a:p>
            <a:r>
              <a:rPr lang="en-US" dirty="0"/>
              <a:t>      completed: completed</a:t>
            </a:r>
          </a:p>
          <a:p>
            <a:r>
              <a:rPr lang="en-US" dirty="0"/>
              <a:t>    });</a:t>
            </a:r>
          </a:p>
          <a:p>
            <a:r>
              <a:rPr lang="en-US" dirty="0"/>
              <a:t>  }</a:t>
            </a:r>
          </a:p>
        </p:txBody>
      </p:sp>
    </p:spTree>
    <p:extLst>
      <p:ext uri="{BB962C8B-B14F-4D97-AF65-F5344CB8AC3E}">
        <p14:creationId xmlns:p14="http://schemas.microsoft.com/office/powerpoint/2010/main" val="37656824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6C39159E-AB1E-53CD-EC27-5B30B7D30A1F}"/>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81525AA7-AEBA-8357-5FE2-7E0DFB76C5EE}"/>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Angular </a:t>
            </a:r>
            <a:r>
              <a:rPr lang="en-IN" sz="2400" dirty="0" err="1"/>
              <a:t>HttpClient</a:t>
            </a:r>
            <a:r>
              <a:rPr lang="en-IN" sz="2400" dirty="0"/>
              <a:t> HTTP DELETE</a:t>
            </a:r>
            <a:endParaRPr lang="en-IN" sz="2400" b="1" dirty="0"/>
          </a:p>
        </p:txBody>
      </p:sp>
      <p:sp>
        <p:nvSpPr>
          <p:cNvPr id="4" name="TextBox 3">
            <a:extLst>
              <a:ext uri="{FF2B5EF4-FFF2-40B4-BE49-F238E27FC236}">
                <a16:creationId xmlns:a16="http://schemas.microsoft.com/office/drawing/2014/main" id="{4B0CE594-8832-BD7C-50CA-4A9242AF5EF7}"/>
              </a:ext>
            </a:extLst>
          </p:cNvPr>
          <p:cNvSpPr txBox="1"/>
          <p:nvPr/>
        </p:nvSpPr>
        <p:spPr>
          <a:xfrm>
            <a:off x="381000" y="1274862"/>
            <a:ext cx="8063753" cy="2031325"/>
          </a:xfrm>
          <a:prstGeom prst="rect">
            <a:avLst/>
          </a:prstGeom>
          <a:noFill/>
        </p:spPr>
        <p:txBody>
          <a:bodyPr wrap="square">
            <a:spAutoFit/>
          </a:bodyPr>
          <a:lstStyle/>
          <a:p>
            <a:r>
              <a:rPr lang="en-US" dirty="0"/>
              <a:t>The </a:t>
            </a:r>
            <a:r>
              <a:rPr lang="en-US" dirty="0" err="1"/>
              <a:t>HttpClient.delete</a:t>
            </a:r>
            <a:r>
              <a:rPr lang="en-US" dirty="0"/>
              <a:t>() sends the HTTP DELETE request to the endpoint. The syntax and usage are very similar to the HTTP GET method.</a:t>
            </a:r>
          </a:p>
          <a:p>
            <a:endParaRPr lang="en-US" dirty="0"/>
          </a:p>
          <a:p>
            <a:r>
              <a:rPr lang="en-US" dirty="0"/>
              <a:t>The syntax of the HTTP Delete</a:t>
            </a:r>
          </a:p>
          <a:p>
            <a:r>
              <a:rPr lang="en-IN" dirty="0"/>
              <a:t>delete(id: number) {</a:t>
            </a:r>
            <a:br>
              <a:rPr lang="en-IN" dirty="0"/>
            </a:br>
            <a:r>
              <a:rPr lang="en-IN" dirty="0" err="1"/>
              <a:t>this.service.deleteTask</a:t>
            </a:r>
            <a:r>
              <a:rPr lang="en-IN" dirty="0"/>
              <a:t>(id).subscribe(() =&gt; {</a:t>
            </a:r>
            <a:br>
              <a:rPr lang="en-IN" dirty="0"/>
            </a:br>
            <a:r>
              <a:rPr lang="en-IN" dirty="0" err="1"/>
              <a:t>this.tasks</a:t>
            </a:r>
            <a:r>
              <a:rPr lang="en-IN" dirty="0"/>
              <a:t> = </a:t>
            </a:r>
            <a:r>
              <a:rPr lang="en-IN" dirty="0" err="1"/>
              <a:t>this.tasks.filter</a:t>
            </a:r>
            <a:r>
              <a:rPr lang="en-IN" dirty="0"/>
              <a:t>(t =&gt; t.id !== id);</a:t>
            </a:r>
            <a:br>
              <a:rPr lang="en-IN" dirty="0"/>
            </a:br>
            <a:r>
              <a:rPr lang="en-IN" dirty="0"/>
              <a:t>});</a:t>
            </a:r>
            <a:br>
              <a:rPr lang="en-IN" dirty="0"/>
            </a:br>
            <a:r>
              <a:rPr lang="en-IN" dirty="0"/>
              <a:t>}</a:t>
            </a:r>
          </a:p>
        </p:txBody>
      </p:sp>
    </p:spTree>
    <p:extLst>
      <p:ext uri="{BB962C8B-B14F-4D97-AF65-F5344CB8AC3E}">
        <p14:creationId xmlns:p14="http://schemas.microsoft.com/office/powerpoint/2010/main" val="36709990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6E807AFB-A23C-3930-6C8D-532F34EC562B}"/>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BA20EBEA-CBD8-6477-7EE3-2FDB4FC8991C}"/>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Angular Interceptors (Auth, Logging)</a:t>
            </a:r>
            <a:endParaRPr lang="en-IN" sz="2400" b="1" dirty="0"/>
          </a:p>
        </p:txBody>
      </p:sp>
      <p:sp>
        <p:nvSpPr>
          <p:cNvPr id="4" name="TextBox 3">
            <a:extLst>
              <a:ext uri="{FF2B5EF4-FFF2-40B4-BE49-F238E27FC236}">
                <a16:creationId xmlns:a16="http://schemas.microsoft.com/office/drawing/2014/main" id="{AB283823-FD51-9E7E-4690-2613D22024EE}"/>
              </a:ext>
            </a:extLst>
          </p:cNvPr>
          <p:cNvSpPr txBox="1"/>
          <p:nvPr/>
        </p:nvSpPr>
        <p:spPr>
          <a:xfrm>
            <a:off x="381000" y="1274862"/>
            <a:ext cx="8063753" cy="3323987"/>
          </a:xfrm>
          <a:prstGeom prst="rect">
            <a:avLst/>
          </a:prstGeom>
          <a:noFill/>
        </p:spPr>
        <p:txBody>
          <a:bodyPr wrap="square">
            <a:spAutoFit/>
          </a:bodyPr>
          <a:lstStyle/>
          <a:p>
            <a:r>
              <a:rPr lang="en-US" dirty="0"/>
              <a:t>What is an Interceptor?</a:t>
            </a:r>
          </a:p>
          <a:p>
            <a:r>
              <a:rPr lang="en-US" dirty="0"/>
              <a:t>An Interceptor in Angular is a powerful middleware mechanism that intercepts HTTP requests and responses at the application level. It allows you to inspect, transform, or handle HTTP requests and responses globally before they reach their intended destination.</a:t>
            </a:r>
          </a:p>
          <a:p>
            <a:endParaRPr lang="en-US" dirty="0"/>
          </a:p>
          <a:p>
            <a:r>
              <a:rPr lang="en-US" dirty="0"/>
              <a:t>Think of interceptors as gatekeepers or middleware that sit between your application and the backend API, allowing you to:</a:t>
            </a:r>
          </a:p>
          <a:p>
            <a:endParaRPr lang="en-US" dirty="0"/>
          </a:p>
          <a:p>
            <a:r>
              <a:rPr lang="en-US" dirty="0"/>
              <a:t>Add authentication tokens to requests:</a:t>
            </a:r>
          </a:p>
          <a:p>
            <a:pPr marL="285750" indent="-285750">
              <a:buFont typeface="Arial" panose="020B0604020202020204" pitchFamily="34" charset="0"/>
              <a:buChar char="•"/>
            </a:pPr>
            <a:r>
              <a:rPr lang="en-US" dirty="0"/>
              <a:t>Log all HTTP activity</a:t>
            </a:r>
          </a:p>
          <a:p>
            <a:pPr marL="285750" indent="-285750">
              <a:buFont typeface="Arial" panose="020B0604020202020204" pitchFamily="34" charset="0"/>
              <a:buChar char="•"/>
            </a:pPr>
            <a:r>
              <a:rPr lang="en-US" dirty="0"/>
              <a:t>Handle errors globally</a:t>
            </a:r>
          </a:p>
          <a:p>
            <a:pPr marL="285750" indent="-285750">
              <a:buFont typeface="Arial" panose="020B0604020202020204" pitchFamily="34" charset="0"/>
              <a:buChar char="•"/>
            </a:pPr>
            <a:r>
              <a:rPr lang="en-US" dirty="0"/>
              <a:t>Modify request/response data</a:t>
            </a:r>
          </a:p>
          <a:p>
            <a:pPr marL="285750" indent="-285750">
              <a:buFont typeface="Arial" panose="020B0604020202020204" pitchFamily="34" charset="0"/>
              <a:buChar char="•"/>
            </a:pPr>
            <a:r>
              <a:rPr lang="en-US" dirty="0"/>
              <a:t>Cache responses</a:t>
            </a:r>
          </a:p>
          <a:p>
            <a:pPr marL="285750" indent="-285750">
              <a:buFont typeface="Arial" panose="020B0604020202020204" pitchFamily="34" charset="0"/>
              <a:buChar char="•"/>
            </a:pPr>
            <a:r>
              <a:rPr lang="en-US" dirty="0"/>
              <a:t>Show loading indicators</a:t>
            </a:r>
          </a:p>
          <a:p>
            <a:pPr marL="285750" indent="-285750">
              <a:buFont typeface="Arial" panose="020B0604020202020204" pitchFamily="34" charset="0"/>
              <a:buChar char="•"/>
            </a:pPr>
            <a:r>
              <a:rPr lang="en-US" dirty="0"/>
              <a:t>Retry failed requests</a:t>
            </a:r>
            <a:endParaRPr lang="en-IN" dirty="0"/>
          </a:p>
        </p:txBody>
      </p:sp>
    </p:spTree>
    <p:extLst>
      <p:ext uri="{BB962C8B-B14F-4D97-AF65-F5344CB8AC3E}">
        <p14:creationId xmlns:p14="http://schemas.microsoft.com/office/powerpoint/2010/main" val="17177306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A845BB38-99D5-80D9-D2EA-BC0A325B73CC}"/>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A468799B-994F-9ACA-8028-8CAE558A9986}"/>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Angular Interceptors (Auth, Logging)</a:t>
            </a:r>
            <a:endParaRPr lang="en-IN" sz="2400" b="1" dirty="0"/>
          </a:p>
        </p:txBody>
      </p:sp>
      <p:sp>
        <p:nvSpPr>
          <p:cNvPr id="4" name="TextBox 3">
            <a:extLst>
              <a:ext uri="{FF2B5EF4-FFF2-40B4-BE49-F238E27FC236}">
                <a16:creationId xmlns:a16="http://schemas.microsoft.com/office/drawing/2014/main" id="{3CBD8498-BB84-5816-62F7-AC02CB46440B}"/>
              </a:ext>
            </a:extLst>
          </p:cNvPr>
          <p:cNvSpPr txBox="1"/>
          <p:nvPr/>
        </p:nvSpPr>
        <p:spPr>
          <a:xfrm>
            <a:off x="381000" y="1274862"/>
            <a:ext cx="8063753" cy="1600438"/>
          </a:xfrm>
          <a:prstGeom prst="rect">
            <a:avLst/>
          </a:prstGeom>
          <a:noFill/>
        </p:spPr>
        <p:txBody>
          <a:bodyPr wrap="square">
            <a:spAutoFit/>
          </a:bodyPr>
          <a:lstStyle/>
          <a:p>
            <a:r>
              <a:rPr lang="en-IN" dirty="0"/>
              <a:t>Component → HTTP Request → INTERCEPTOR → Backend API</a:t>
            </a:r>
          </a:p>
          <a:p>
            <a:r>
              <a:rPr lang="en-IN" dirty="0"/>
              <a:t>                              ↓</a:t>
            </a:r>
          </a:p>
          <a:p>
            <a:r>
              <a:rPr lang="en-IN" dirty="0"/>
              <a:t>                         Modify/Inspect</a:t>
            </a:r>
          </a:p>
          <a:p>
            <a:r>
              <a:rPr lang="en-IN" dirty="0"/>
              <a:t>                              ↓</a:t>
            </a:r>
          </a:p>
          <a:p>
            <a:r>
              <a:rPr lang="en-IN" dirty="0"/>
              <a:t>Component ← HTTP Response ← INTERCEPTOR ← Backend API</a:t>
            </a:r>
          </a:p>
          <a:p>
            <a:r>
              <a:rPr lang="en-IN" dirty="0"/>
              <a:t>                              ↓</a:t>
            </a:r>
          </a:p>
          <a:p>
            <a:r>
              <a:rPr lang="en-IN" dirty="0"/>
              <a:t>                         Modify/Handle</a:t>
            </a:r>
          </a:p>
        </p:txBody>
      </p:sp>
    </p:spTree>
    <p:extLst>
      <p:ext uri="{BB962C8B-B14F-4D97-AF65-F5344CB8AC3E}">
        <p14:creationId xmlns:p14="http://schemas.microsoft.com/office/powerpoint/2010/main" val="18959910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8C7FA5DB-9A54-EE69-5DB5-729AF894A20B}"/>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20402601-14F0-E173-BA18-632988446541}"/>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Angular CLI Commands</a:t>
            </a:r>
            <a:endParaRPr lang="en-IN" sz="2400" b="1" dirty="0"/>
          </a:p>
        </p:txBody>
      </p:sp>
      <p:sp>
        <p:nvSpPr>
          <p:cNvPr id="4" name="TextBox 3">
            <a:extLst>
              <a:ext uri="{FF2B5EF4-FFF2-40B4-BE49-F238E27FC236}">
                <a16:creationId xmlns:a16="http://schemas.microsoft.com/office/drawing/2014/main" id="{BCF33ED3-C081-622F-19BB-1E84509924F1}"/>
              </a:ext>
            </a:extLst>
          </p:cNvPr>
          <p:cNvSpPr txBox="1"/>
          <p:nvPr/>
        </p:nvSpPr>
        <p:spPr>
          <a:xfrm>
            <a:off x="381000" y="1274862"/>
            <a:ext cx="8063753" cy="3539430"/>
          </a:xfrm>
          <a:prstGeom prst="rect">
            <a:avLst/>
          </a:prstGeom>
          <a:noFill/>
        </p:spPr>
        <p:txBody>
          <a:bodyPr wrap="square">
            <a:spAutoFit/>
          </a:bodyPr>
          <a:lstStyle/>
          <a:p>
            <a:r>
              <a:rPr lang="en-US" dirty="0"/>
              <a:t>bash</a:t>
            </a:r>
          </a:p>
          <a:p>
            <a:r>
              <a:rPr lang="en-US" dirty="0"/>
              <a:t># Create new project</a:t>
            </a:r>
          </a:p>
          <a:p>
            <a:r>
              <a:rPr lang="en-US" dirty="0"/>
              <a:t>ng new project-name</a:t>
            </a:r>
          </a:p>
          <a:p>
            <a:endParaRPr lang="en-US" dirty="0"/>
          </a:p>
          <a:p>
            <a:r>
              <a:rPr lang="en-US" dirty="0"/>
              <a:t># Serve application</a:t>
            </a:r>
          </a:p>
          <a:p>
            <a:r>
              <a:rPr lang="en-US" dirty="0"/>
              <a:t>ng serve</a:t>
            </a:r>
          </a:p>
          <a:p>
            <a:r>
              <a:rPr lang="en-US" dirty="0"/>
              <a:t>ng serve --open  # Opens in browser</a:t>
            </a:r>
          </a:p>
          <a:p>
            <a:r>
              <a:rPr lang="en-US" dirty="0"/>
              <a:t>ng serve --port 4201  # Custom port</a:t>
            </a:r>
          </a:p>
          <a:p>
            <a:endParaRPr lang="en-US" dirty="0"/>
          </a:p>
          <a:p>
            <a:r>
              <a:rPr lang="en-US" dirty="0"/>
              <a:t># Build application</a:t>
            </a:r>
          </a:p>
          <a:p>
            <a:r>
              <a:rPr lang="en-US" dirty="0"/>
              <a:t>ng build</a:t>
            </a:r>
          </a:p>
          <a:p>
            <a:r>
              <a:rPr lang="en-US" dirty="0"/>
              <a:t>ng build --prod  # Production build</a:t>
            </a:r>
          </a:p>
          <a:p>
            <a:endParaRPr lang="en-US" dirty="0"/>
          </a:p>
          <a:p>
            <a:r>
              <a:rPr lang="en-US" dirty="0"/>
              <a:t># Run tests</a:t>
            </a:r>
          </a:p>
          <a:p>
            <a:r>
              <a:rPr lang="en-US" dirty="0"/>
              <a:t>ng test</a:t>
            </a:r>
          </a:p>
          <a:p>
            <a:r>
              <a:rPr lang="en-US" dirty="0"/>
              <a:t>ng e2e  # End-to-end tests</a:t>
            </a:r>
            <a:endParaRPr lang="en-IN" dirty="0"/>
          </a:p>
        </p:txBody>
      </p:sp>
    </p:spTree>
    <p:extLst>
      <p:ext uri="{BB962C8B-B14F-4D97-AF65-F5344CB8AC3E}">
        <p14:creationId xmlns:p14="http://schemas.microsoft.com/office/powerpoint/2010/main" val="18760535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00A3FA6F-94B3-77B8-4A8B-D9B6405C3BF8}"/>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39C98B4E-079A-7A76-D0D6-E9BEAEDE362F}"/>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Angular CLI Component Generation</a:t>
            </a:r>
            <a:endParaRPr lang="en-IN" sz="2400" b="1" dirty="0"/>
          </a:p>
        </p:txBody>
      </p:sp>
      <p:sp>
        <p:nvSpPr>
          <p:cNvPr id="4" name="TextBox 3">
            <a:extLst>
              <a:ext uri="{FF2B5EF4-FFF2-40B4-BE49-F238E27FC236}">
                <a16:creationId xmlns:a16="http://schemas.microsoft.com/office/drawing/2014/main" id="{135E44C6-EC5C-8878-B68D-B78899B4C8B1}"/>
              </a:ext>
            </a:extLst>
          </p:cNvPr>
          <p:cNvSpPr txBox="1"/>
          <p:nvPr/>
        </p:nvSpPr>
        <p:spPr>
          <a:xfrm>
            <a:off x="381000" y="1274862"/>
            <a:ext cx="8063753" cy="2031325"/>
          </a:xfrm>
          <a:prstGeom prst="rect">
            <a:avLst/>
          </a:prstGeom>
          <a:noFill/>
        </p:spPr>
        <p:txBody>
          <a:bodyPr wrap="square">
            <a:spAutoFit/>
          </a:bodyPr>
          <a:lstStyle/>
          <a:p>
            <a:r>
              <a:rPr lang="en-US" dirty="0"/>
              <a:t>bash</a:t>
            </a:r>
          </a:p>
          <a:p>
            <a:r>
              <a:rPr lang="en-US" dirty="0"/>
              <a:t># Basic component</a:t>
            </a:r>
          </a:p>
          <a:p>
            <a:r>
              <a:rPr lang="en-US" dirty="0"/>
              <a:t>ng generate component component-name</a:t>
            </a:r>
          </a:p>
          <a:p>
            <a:r>
              <a:rPr lang="en-US" dirty="0"/>
              <a:t># or shorthand</a:t>
            </a:r>
          </a:p>
          <a:p>
            <a:r>
              <a:rPr lang="en-US" dirty="0"/>
              <a:t>ng g c component-name</a:t>
            </a:r>
          </a:p>
          <a:p>
            <a:endParaRPr lang="en-US" dirty="0"/>
          </a:p>
          <a:p>
            <a:r>
              <a:rPr lang="en-US" dirty="0"/>
              <a:t># With specific options</a:t>
            </a:r>
          </a:p>
          <a:p>
            <a:r>
              <a:rPr lang="en-US" dirty="0"/>
              <a:t>ng g c components/user-profile --skip-tests --flat</a:t>
            </a:r>
          </a:p>
          <a:p>
            <a:r>
              <a:rPr lang="en-US" dirty="0"/>
              <a:t>ng g c features/dashboard --standalone  # Standalone component</a:t>
            </a:r>
            <a:endParaRPr lang="en-IN" dirty="0"/>
          </a:p>
        </p:txBody>
      </p:sp>
    </p:spTree>
    <p:extLst>
      <p:ext uri="{BB962C8B-B14F-4D97-AF65-F5344CB8AC3E}">
        <p14:creationId xmlns:p14="http://schemas.microsoft.com/office/powerpoint/2010/main" val="37151252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CD8E7BF2-01D1-93EC-B97F-CE377C31845B}"/>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C9A0027F-D48D-01AE-0817-DB2353D26B76}"/>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Angular CLI Module Generation</a:t>
            </a:r>
            <a:endParaRPr lang="en-IN" sz="2400" b="1" dirty="0"/>
          </a:p>
        </p:txBody>
      </p:sp>
      <p:sp>
        <p:nvSpPr>
          <p:cNvPr id="4" name="TextBox 3">
            <a:extLst>
              <a:ext uri="{FF2B5EF4-FFF2-40B4-BE49-F238E27FC236}">
                <a16:creationId xmlns:a16="http://schemas.microsoft.com/office/drawing/2014/main" id="{B0AD0B18-A3E4-BD1D-BD69-D4DBF34FDF1E}"/>
              </a:ext>
            </a:extLst>
          </p:cNvPr>
          <p:cNvSpPr txBox="1"/>
          <p:nvPr/>
        </p:nvSpPr>
        <p:spPr>
          <a:xfrm>
            <a:off x="381000" y="1274862"/>
            <a:ext cx="8063753" cy="738664"/>
          </a:xfrm>
          <a:prstGeom prst="rect">
            <a:avLst/>
          </a:prstGeom>
          <a:noFill/>
        </p:spPr>
        <p:txBody>
          <a:bodyPr wrap="square">
            <a:spAutoFit/>
          </a:bodyPr>
          <a:lstStyle/>
          <a:p>
            <a:r>
              <a:rPr lang="en-US" dirty="0"/>
              <a:t>bash</a:t>
            </a:r>
          </a:p>
          <a:p>
            <a:r>
              <a:rPr lang="en-US" dirty="0"/>
              <a:t>ng g m modules/user --routing  # With routing module</a:t>
            </a:r>
          </a:p>
          <a:p>
            <a:r>
              <a:rPr lang="en-US" dirty="0"/>
              <a:t>ng g m shared --flat  # Flat structure</a:t>
            </a:r>
            <a:endParaRPr lang="en-IN" dirty="0"/>
          </a:p>
        </p:txBody>
      </p:sp>
    </p:spTree>
    <p:extLst>
      <p:ext uri="{BB962C8B-B14F-4D97-AF65-F5344CB8AC3E}">
        <p14:creationId xmlns:p14="http://schemas.microsoft.com/office/powerpoint/2010/main" val="36583689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49C6B87F-6D68-D5F7-ED86-7C4C6863CE9C}"/>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7E1AA59A-1D9F-777A-7FB4-7E497D76E2F6}"/>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Angular CLI Service Generation</a:t>
            </a:r>
            <a:endParaRPr lang="en-IN" sz="2400" b="1" dirty="0"/>
          </a:p>
        </p:txBody>
      </p:sp>
      <p:sp>
        <p:nvSpPr>
          <p:cNvPr id="4" name="TextBox 3">
            <a:extLst>
              <a:ext uri="{FF2B5EF4-FFF2-40B4-BE49-F238E27FC236}">
                <a16:creationId xmlns:a16="http://schemas.microsoft.com/office/drawing/2014/main" id="{3519956E-7550-A8E0-07B7-7A3CAB029D21}"/>
              </a:ext>
            </a:extLst>
          </p:cNvPr>
          <p:cNvSpPr txBox="1"/>
          <p:nvPr/>
        </p:nvSpPr>
        <p:spPr>
          <a:xfrm>
            <a:off x="381000" y="1274862"/>
            <a:ext cx="8063753" cy="954107"/>
          </a:xfrm>
          <a:prstGeom prst="rect">
            <a:avLst/>
          </a:prstGeom>
          <a:noFill/>
        </p:spPr>
        <p:txBody>
          <a:bodyPr wrap="square">
            <a:spAutoFit/>
          </a:bodyPr>
          <a:lstStyle/>
          <a:p>
            <a:r>
              <a:rPr lang="en-US" dirty="0"/>
              <a:t>bash</a:t>
            </a:r>
          </a:p>
          <a:p>
            <a:r>
              <a:rPr lang="en-US" dirty="0"/>
              <a:t>ng g s services/user-data</a:t>
            </a:r>
          </a:p>
          <a:p>
            <a:r>
              <a:rPr lang="en-US" dirty="0"/>
              <a:t>ng g s services/auth --flat  # Without folder</a:t>
            </a:r>
          </a:p>
          <a:p>
            <a:r>
              <a:rPr lang="en-US" dirty="0"/>
              <a:t>ng g s services/</a:t>
            </a:r>
            <a:r>
              <a:rPr lang="en-US" dirty="0" err="1"/>
              <a:t>api</a:t>
            </a:r>
            <a:r>
              <a:rPr lang="en-US" dirty="0"/>
              <a:t> --skip-tests</a:t>
            </a:r>
            <a:endParaRPr lang="en-IN" dirty="0"/>
          </a:p>
        </p:txBody>
      </p:sp>
    </p:spTree>
    <p:extLst>
      <p:ext uri="{BB962C8B-B14F-4D97-AF65-F5344CB8AC3E}">
        <p14:creationId xmlns:p14="http://schemas.microsoft.com/office/powerpoint/2010/main" val="31219216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D7FF8AC2-8BD8-AEFA-8EA9-3ECA9A84F06A}"/>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6B993711-FB4C-EE41-4D6A-8553C0C37E5E}"/>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Angular CLI Other Generators</a:t>
            </a:r>
            <a:endParaRPr lang="en-IN" sz="2400" b="1" dirty="0"/>
          </a:p>
        </p:txBody>
      </p:sp>
      <p:sp>
        <p:nvSpPr>
          <p:cNvPr id="4" name="TextBox 3">
            <a:extLst>
              <a:ext uri="{FF2B5EF4-FFF2-40B4-BE49-F238E27FC236}">
                <a16:creationId xmlns:a16="http://schemas.microsoft.com/office/drawing/2014/main" id="{F60DB44F-E165-C1C3-BC92-75A6B73FB390}"/>
              </a:ext>
            </a:extLst>
          </p:cNvPr>
          <p:cNvSpPr txBox="1"/>
          <p:nvPr/>
        </p:nvSpPr>
        <p:spPr>
          <a:xfrm>
            <a:off x="381000" y="1274862"/>
            <a:ext cx="8063753" cy="1600438"/>
          </a:xfrm>
          <a:prstGeom prst="rect">
            <a:avLst/>
          </a:prstGeom>
          <a:noFill/>
        </p:spPr>
        <p:txBody>
          <a:bodyPr wrap="square">
            <a:spAutoFit/>
          </a:bodyPr>
          <a:lstStyle/>
          <a:p>
            <a:r>
              <a:rPr lang="en-US" dirty="0"/>
              <a:t>bash</a:t>
            </a:r>
          </a:p>
          <a:p>
            <a:r>
              <a:rPr lang="en-US" dirty="0"/>
              <a:t>ng g directive directives/highlight</a:t>
            </a:r>
          </a:p>
          <a:p>
            <a:r>
              <a:rPr lang="en-US" dirty="0"/>
              <a:t>ng g pipe pipes/date-format</a:t>
            </a:r>
          </a:p>
          <a:p>
            <a:r>
              <a:rPr lang="en-US" dirty="0"/>
              <a:t>ng g guard guards/auth</a:t>
            </a:r>
          </a:p>
          <a:p>
            <a:r>
              <a:rPr lang="en-US" dirty="0"/>
              <a:t>ng g interface models/user</a:t>
            </a:r>
          </a:p>
          <a:p>
            <a:r>
              <a:rPr lang="en-US" dirty="0"/>
              <a:t>ng g </a:t>
            </a:r>
            <a:r>
              <a:rPr lang="en-US" dirty="0" err="1"/>
              <a:t>enum</a:t>
            </a:r>
            <a:r>
              <a:rPr lang="en-US" dirty="0"/>
              <a:t> </a:t>
            </a:r>
            <a:r>
              <a:rPr lang="en-US" dirty="0" err="1"/>
              <a:t>enums</a:t>
            </a:r>
            <a:r>
              <a:rPr lang="en-US" dirty="0"/>
              <a:t>/status</a:t>
            </a:r>
          </a:p>
          <a:p>
            <a:r>
              <a:rPr lang="en-US" dirty="0"/>
              <a:t>ng g class models/product</a:t>
            </a:r>
            <a:endParaRPr lang="en-IN" dirty="0"/>
          </a:p>
        </p:txBody>
      </p:sp>
    </p:spTree>
    <p:extLst>
      <p:ext uri="{BB962C8B-B14F-4D97-AF65-F5344CB8AC3E}">
        <p14:creationId xmlns:p14="http://schemas.microsoft.com/office/powerpoint/2010/main" val="33789474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96B6A49D-A7D1-279F-76E0-1F7D04A42203}"/>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7D4E43F7-594D-0526-3C25-8ADD7EAAE7D7}"/>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Differences from </a:t>
            </a:r>
            <a:r>
              <a:rPr lang="en-IN" sz="2400" dirty="0" err="1"/>
              <a:t>NgModules</a:t>
            </a:r>
            <a:endParaRPr lang="en-IN" sz="2400" b="1" dirty="0"/>
          </a:p>
        </p:txBody>
      </p:sp>
      <p:graphicFrame>
        <p:nvGraphicFramePr>
          <p:cNvPr id="2" name="Table 1">
            <a:extLst>
              <a:ext uri="{FF2B5EF4-FFF2-40B4-BE49-F238E27FC236}">
                <a16:creationId xmlns:a16="http://schemas.microsoft.com/office/drawing/2014/main" id="{6EEB13E2-22BA-3A8C-EF68-0442EA48701C}"/>
              </a:ext>
            </a:extLst>
          </p:cNvPr>
          <p:cNvGraphicFramePr>
            <a:graphicFrameLocks noGrp="1"/>
          </p:cNvGraphicFramePr>
          <p:nvPr>
            <p:extLst>
              <p:ext uri="{D42A27DB-BD31-4B8C-83A1-F6EECF244321}">
                <p14:modId xmlns:p14="http://schemas.microsoft.com/office/powerpoint/2010/main" val="455180465"/>
              </p:ext>
            </p:extLst>
          </p:nvPr>
        </p:nvGraphicFramePr>
        <p:xfrm>
          <a:off x="578224" y="1566582"/>
          <a:ext cx="6858896" cy="2575494"/>
        </p:xfrm>
        <a:graphic>
          <a:graphicData uri="http://schemas.openxmlformats.org/drawingml/2006/table">
            <a:tbl>
              <a:tblPr/>
              <a:tblGrid>
                <a:gridCol w="3429448">
                  <a:extLst>
                    <a:ext uri="{9D8B030D-6E8A-4147-A177-3AD203B41FA5}">
                      <a16:colId xmlns:a16="http://schemas.microsoft.com/office/drawing/2014/main" val="2895963927"/>
                    </a:ext>
                  </a:extLst>
                </a:gridCol>
                <a:gridCol w="3429448">
                  <a:extLst>
                    <a:ext uri="{9D8B030D-6E8A-4147-A177-3AD203B41FA5}">
                      <a16:colId xmlns:a16="http://schemas.microsoft.com/office/drawing/2014/main" val="2709206681"/>
                    </a:ext>
                  </a:extLst>
                </a:gridCol>
              </a:tblGrid>
              <a:tr h="429249">
                <a:tc>
                  <a:txBody>
                    <a:bodyPr/>
                    <a:lstStyle/>
                    <a:p>
                      <a:pPr algn="l">
                        <a:lnSpc>
                          <a:spcPts val="1875"/>
                        </a:lnSpc>
                        <a:buNone/>
                      </a:pPr>
                      <a:r>
                        <a:rPr lang="en-IN" b="1">
                          <a:effectLst/>
                          <a:latin typeface="quote-cjk-patch"/>
                        </a:rPr>
                        <a:t>Standalone Components</a:t>
                      </a:r>
                      <a:endParaRPr lang="en-IN" b="0">
                        <a:effectLst/>
                        <a:latin typeface="quote-cjk-patch"/>
                      </a:endParaRPr>
                    </a:p>
                  </a:txBody>
                  <a:tcPr marR="121920" marT="76200" marB="76200" anchor="ctr">
                    <a:lnL>
                      <a:noFill/>
                    </a:lnL>
                    <a:lnR>
                      <a:noFill/>
                    </a:lnR>
                    <a:lnT>
                      <a:noFill/>
                    </a:lnT>
                    <a:lnB>
                      <a:noFill/>
                    </a:lnB>
                    <a:solidFill>
                      <a:srgbClr val="FFFFFF"/>
                    </a:solidFill>
                  </a:tcPr>
                </a:tc>
                <a:tc>
                  <a:txBody>
                    <a:bodyPr/>
                    <a:lstStyle/>
                    <a:p>
                      <a:pPr algn="l">
                        <a:lnSpc>
                          <a:spcPts val="1875"/>
                        </a:lnSpc>
                        <a:buNone/>
                      </a:pPr>
                      <a:r>
                        <a:rPr lang="en-IN" b="1">
                          <a:effectLst/>
                          <a:latin typeface="quote-cjk-patch"/>
                        </a:rPr>
                        <a:t>NgModules</a:t>
                      </a:r>
                      <a:endParaRPr lang="en-IN" b="0">
                        <a:effectLst/>
                        <a:latin typeface="quote-cjk-patch"/>
                      </a:endParaRPr>
                    </a:p>
                  </a:txBody>
                  <a:tcPr marL="121920" marR="121920" marT="76200" marB="76200" anchor="ctr">
                    <a:lnL>
                      <a:noFill/>
                    </a:lnL>
                    <a:lnR>
                      <a:noFill/>
                    </a:lnR>
                    <a:lnT>
                      <a:noFill/>
                    </a:lnT>
                    <a:lnB>
                      <a:noFill/>
                    </a:lnB>
                    <a:solidFill>
                      <a:srgbClr val="FFFFFF"/>
                    </a:solidFill>
                  </a:tcPr>
                </a:tc>
                <a:extLst>
                  <a:ext uri="{0D108BD9-81ED-4DB2-BD59-A6C34878D82A}">
                    <a16:rowId xmlns:a16="http://schemas.microsoft.com/office/drawing/2014/main" val="2862377943"/>
                  </a:ext>
                </a:extLst>
              </a:tr>
              <a:tr h="429249">
                <a:tc>
                  <a:txBody>
                    <a:bodyPr/>
                    <a:lstStyle/>
                    <a:p>
                      <a:pPr>
                        <a:lnSpc>
                          <a:spcPts val="1875"/>
                        </a:lnSpc>
                        <a:buNone/>
                      </a:pPr>
                      <a:r>
                        <a:rPr lang="en-IN" b="0">
                          <a:effectLst/>
                          <a:latin typeface="quote-cjk-patch"/>
                        </a:rPr>
                        <a:t>No module file needed</a:t>
                      </a:r>
                    </a:p>
                  </a:txBody>
                  <a:tcPr marR="121920" marT="76200" marB="76200" anchor="ctr">
                    <a:lnL>
                      <a:noFill/>
                    </a:lnL>
                    <a:lnR>
                      <a:noFill/>
                    </a:lnR>
                    <a:lnT>
                      <a:noFill/>
                    </a:lnT>
                    <a:lnB>
                      <a:noFill/>
                    </a:lnB>
                    <a:solidFill>
                      <a:srgbClr val="FFFFFF"/>
                    </a:solidFill>
                  </a:tcPr>
                </a:tc>
                <a:tc>
                  <a:txBody>
                    <a:bodyPr/>
                    <a:lstStyle/>
                    <a:p>
                      <a:pPr>
                        <a:lnSpc>
                          <a:spcPts val="1875"/>
                        </a:lnSpc>
                        <a:buNone/>
                      </a:pPr>
                      <a:r>
                        <a:rPr lang="en-IN" b="0">
                          <a:effectLst/>
                          <a:latin typeface="quote-cjk-patch"/>
                        </a:rPr>
                        <a:t>Requires module declaration</a:t>
                      </a:r>
                    </a:p>
                  </a:txBody>
                  <a:tcPr marL="121920" marT="76200" marB="76200" anchor="ctr">
                    <a:lnL>
                      <a:noFill/>
                    </a:lnL>
                    <a:lnR>
                      <a:noFill/>
                    </a:lnR>
                    <a:lnT>
                      <a:noFill/>
                    </a:lnT>
                    <a:lnB>
                      <a:noFill/>
                    </a:lnB>
                    <a:solidFill>
                      <a:srgbClr val="FFFFFF"/>
                    </a:solidFill>
                  </a:tcPr>
                </a:tc>
                <a:extLst>
                  <a:ext uri="{0D108BD9-81ED-4DB2-BD59-A6C34878D82A}">
                    <a16:rowId xmlns:a16="http://schemas.microsoft.com/office/drawing/2014/main" val="300832842"/>
                  </a:ext>
                </a:extLst>
              </a:tr>
              <a:tr h="429249">
                <a:tc>
                  <a:txBody>
                    <a:bodyPr/>
                    <a:lstStyle/>
                    <a:p>
                      <a:pPr>
                        <a:lnSpc>
                          <a:spcPts val="1875"/>
                        </a:lnSpc>
                        <a:buNone/>
                      </a:pPr>
                      <a:r>
                        <a:rPr lang="en-IN" b="0" dirty="0">
                          <a:effectLst/>
                          <a:latin typeface="quote-cjk-patch"/>
                        </a:rPr>
                        <a:t>Direct imports in component</a:t>
                      </a:r>
                    </a:p>
                  </a:txBody>
                  <a:tcPr marR="121920" marT="76200" marB="76200" anchor="ctr">
                    <a:lnL>
                      <a:noFill/>
                    </a:lnL>
                    <a:lnR>
                      <a:noFill/>
                    </a:lnR>
                    <a:lnT>
                      <a:noFill/>
                    </a:lnT>
                    <a:lnB>
                      <a:noFill/>
                    </a:lnB>
                    <a:solidFill>
                      <a:srgbClr val="FFFFFF"/>
                    </a:solidFill>
                  </a:tcPr>
                </a:tc>
                <a:tc>
                  <a:txBody>
                    <a:bodyPr/>
                    <a:lstStyle/>
                    <a:p>
                      <a:pPr>
                        <a:lnSpc>
                          <a:spcPts val="1875"/>
                        </a:lnSpc>
                        <a:buNone/>
                      </a:pPr>
                      <a:r>
                        <a:rPr lang="en-IN" b="0">
                          <a:effectLst/>
                          <a:latin typeface="quote-cjk-patch"/>
                        </a:rPr>
                        <a:t>Imports in module</a:t>
                      </a:r>
                    </a:p>
                  </a:txBody>
                  <a:tcPr marL="121920" marT="76200" marB="76200" anchor="ctr">
                    <a:lnL>
                      <a:noFill/>
                    </a:lnL>
                    <a:lnR>
                      <a:noFill/>
                    </a:lnR>
                    <a:lnT>
                      <a:noFill/>
                    </a:lnT>
                    <a:lnB>
                      <a:noFill/>
                    </a:lnB>
                    <a:solidFill>
                      <a:srgbClr val="FFFFFF"/>
                    </a:solidFill>
                  </a:tcPr>
                </a:tc>
                <a:extLst>
                  <a:ext uri="{0D108BD9-81ED-4DB2-BD59-A6C34878D82A}">
                    <a16:rowId xmlns:a16="http://schemas.microsoft.com/office/drawing/2014/main" val="700899578"/>
                  </a:ext>
                </a:extLst>
              </a:tr>
              <a:tr h="429249">
                <a:tc>
                  <a:txBody>
                    <a:bodyPr/>
                    <a:lstStyle/>
                    <a:p>
                      <a:pPr>
                        <a:lnSpc>
                          <a:spcPts val="1875"/>
                        </a:lnSpc>
                        <a:buNone/>
                      </a:pPr>
                      <a:r>
                        <a:rPr lang="en-US" b="0">
                          <a:effectLst/>
                          <a:latin typeface="quote-cjk-patch"/>
                        </a:rPr>
                        <a:t>Simpler setup for small apps</a:t>
                      </a:r>
                    </a:p>
                  </a:txBody>
                  <a:tcPr marR="121920" marT="76200" marB="76200" anchor="ctr">
                    <a:lnL>
                      <a:noFill/>
                    </a:lnL>
                    <a:lnR>
                      <a:noFill/>
                    </a:lnR>
                    <a:lnT>
                      <a:noFill/>
                    </a:lnT>
                    <a:lnB>
                      <a:noFill/>
                    </a:lnB>
                    <a:solidFill>
                      <a:srgbClr val="FFFFFF"/>
                    </a:solidFill>
                  </a:tcPr>
                </a:tc>
                <a:tc>
                  <a:txBody>
                    <a:bodyPr/>
                    <a:lstStyle/>
                    <a:p>
                      <a:pPr>
                        <a:lnSpc>
                          <a:spcPts val="1875"/>
                        </a:lnSpc>
                        <a:buNone/>
                      </a:pPr>
                      <a:r>
                        <a:rPr lang="en-IN" b="0">
                          <a:effectLst/>
                          <a:latin typeface="quote-cjk-patch"/>
                        </a:rPr>
                        <a:t>Better for large enterprise apps</a:t>
                      </a:r>
                    </a:p>
                  </a:txBody>
                  <a:tcPr marL="121920" marT="76200" marB="76200" anchor="ctr">
                    <a:lnL>
                      <a:noFill/>
                    </a:lnL>
                    <a:lnR>
                      <a:noFill/>
                    </a:lnR>
                    <a:lnT>
                      <a:noFill/>
                    </a:lnT>
                    <a:lnB>
                      <a:noFill/>
                    </a:lnB>
                    <a:solidFill>
                      <a:srgbClr val="FFFFFF"/>
                    </a:solidFill>
                  </a:tcPr>
                </a:tc>
                <a:extLst>
                  <a:ext uri="{0D108BD9-81ED-4DB2-BD59-A6C34878D82A}">
                    <a16:rowId xmlns:a16="http://schemas.microsoft.com/office/drawing/2014/main" val="3131509794"/>
                  </a:ext>
                </a:extLst>
              </a:tr>
              <a:tr h="429249">
                <a:tc>
                  <a:txBody>
                    <a:bodyPr/>
                    <a:lstStyle/>
                    <a:p>
                      <a:pPr>
                        <a:lnSpc>
                          <a:spcPts val="1875"/>
                        </a:lnSpc>
                        <a:buNone/>
                      </a:pPr>
                      <a:r>
                        <a:rPr lang="en-IN" b="0">
                          <a:effectLst/>
                          <a:latin typeface="quote-cjk-patch"/>
                        </a:rPr>
                        <a:t>Lighter bundle size</a:t>
                      </a:r>
                    </a:p>
                  </a:txBody>
                  <a:tcPr marR="121920" marT="76200" marB="76200" anchor="ctr">
                    <a:lnL>
                      <a:noFill/>
                    </a:lnL>
                    <a:lnR>
                      <a:noFill/>
                    </a:lnR>
                    <a:lnT>
                      <a:noFill/>
                    </a:lnT>
                    <a:lnB>
                      <a:noFill/>
                    </a:lnB>
                    <a:solidFill>
                      <a:srgbClr val="FFFFFF"/>
                    </a:solidFill>
                  </a:tcPr>
                </a:tc>
                <a:tc>
                  <a:txBody>
                    <a:bodyPr/>
                    <a:lstStyle/>
                    <a:p>
                      <a:pPr>
                        <a:lnSpc>
                          <a:spcPts val="1875"/>
                        </a:lnSpc>
                        <a:buNone/>
                      </a:pPr>
                      <a:r>
                        <a:rPr lang="en-IN" b="0">
                          <a:effectLst/>
                          <a:latin typeface="quote-cjk-patch"/>
                        </a:rPr>
                        <a:t>More boilerplate</a:t>
                      </a:r>
                    </a:p>
                  </a:txBody>
                  <a:tcPr marL="121920" marT="76200" marB="76200" anchor="ctr">
                    <a:lnL>
                      <a:noFill/>
                    </a:lnL>
                    <a:lnR>
                      <a:noFill/>
                    </a:lnR>
                    <a:lnT>
                      <a:noFill/>
                    </a:lnT>
                    <a:lnB>
                      <a:noFill/>
                    </a:lnB>
                    <a:solidFill>
                      <a:srgbClr val="FFFFFF"/>
                    </a:solidFill>
                  </a:tcPr>
                </a:tc>
                <a:extLst>
                  <a:ext uri="{0D108BD9-81ED-4DB2-BD59-A6C34878D82A}">
                    <a16:rowId xmlns:a16="http://schemas.microsoft.com/office/drawing/2014/main" val="3253310605"/>
                  </a:ext>
                </a:extLst>
              </a:tr>
              <a:tr h="429249">
                <a:tc>
                  <a:txBody>
                    <a:bodyPr/>
                    <a:lstStyle/>
                    <a:p>
                      <a:pPr>
                        <a:lnSpc>
                          <a:spcPts val="1875"/>
                        </a:lnSpc>
                        <a:buNone/>
                      </a:pPr>
                      <a:r>
                        <a:rPr lang="en-IN" b="0">
                          <a:effectLst/>
                          <a:latin typeface="quote-cjk-patch"/>
                        </a:rPr>
                        <a:t>Lazy loading by default</a:t>
                      </a:r>
                    </a:p>
                  </a:txBody>
                  <a:tcPr marR="121920" marT="76200" marB="76200" anchor="ctr">
                    <a:lnL>
                      <a:noFill/>
                    </a:lnL>
                    <a:lnR>
                      <a:noFill/>
                    </a:lnR>
                    <a:lnT>
                      <a:noFill/>
                    </a:lnT>
                    <a:lnB>
                      <a:noFill/>
                    </a:lnB>
                    <a:solidFill>
                      <a:srgbClr val="FFFFFF"/>
                    </a:solidFill>
                  </a:tcPr>
                </a:tc>
                <a:tc>
                  <a:txBody>
                    <a:bodyPr/>
                    <a:lstStyle/>
                    <a:p>
                      <a:pPr>
                        <a:lnSpc>
                          <a:spcPts val="1875"/>
                        </a:lnSpc>
                        <a:buNone/>
                      </a:pPr>
                      <a:r>
                        <a:rPr lang="en-IN" b="0" dirty="0">
                          <a:effectLst/>
                          <a:latin typeface="quote-cjk-patch"/>
                        </a:rPr>
                        <a:t>Explicit lazy loading configuration</a:t>
                      </a:r>
                    </a:p>
                  </a:txBody>
                  <a:tcPr marL="121920" marT="76200" marB="76200" anchor="ctr">
                    <a:lnL>
                      <a:noFill/>
                    </a:lnL>
                    <a:lnR>
                      <a:noFill/>
                    </a:lnR>
                    <a:lnT>
                      <a:noFill/>
                    </a:lnT>
                    <a:lnB>
                      <a:noFill/>
                    </a:lnB>
                    <a:solidFill>
                      <a:srgbClr val="FFFFFF"/>
                    </a:solidFill>
                  </a:tcPr>
                </a:tc>
                <a:extLst>
                  <a:ext uri="{0D108BD9-81ED-4DB2-BD59-A6C34878D82A}">
                    <a16:rowId xmlns:a16="http://schemas.microsoft.com/office/drawing/2014/main" val="1291060856"/>
                  </a:ext>
                </a:extLst>
              </a:tr>
            </a:tbl>
          </a:graphicData>
        </a:graphic>
      </p:graphicFrame>
    </p:spTree>
    <p:extLst>
      <p:ext uri="{BB962C8B-B14F-4D97-AF65-F5344CB8AC3E}">
        <p14:creationId xmlns:p14="http://schemas.microsoft.com/office/powerpoint/2010/main" val="37469268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9EBE38F7-C042-3A0C-EAC5-698111FF8FD0}"/>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8620FDF0-F67C-E99D-ED96-D630BB693676}"/>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State Management</a:t>
            </a:r>
            <a:endParaRPr lang="en-IN" sz="2400" b="1" dirty="0"/>
          </a:p>
        </p:txBody>
      </p:sp>
      <p:sp>
        <p:nvSpPr>
          <p:cNvPr id="4" name="TextBox 3">
            <a:extLst>
              <a:ext uri="{FF2B5EF4-FFF2-40B4-BE49-F238E27FC236}">
                <a16:creationId xmlns:a16="http://schemas.microsoft.com/office/drawing/2014/main" id="{9CA3725F-7AF2-43D9-146D-1BBCD9D53E79}"/>
              </a:ext>
            </a:extLst>
          </p:cNvPr>
          <p:cNvSpPr txBox="1"/>
          <p:nvPr/>
        </p:nvSpPr>
        <p:spPr>
          <a:xfrm>
            <a:off x="381000" y="1274862"/>
            <a:ext cx="8063753" cy="2677656"/>
          </a:xfrm>
          <a:prstGeom prst="rect">
            <a:avLst/>
          </a:prstGeom>
          <a:noFill/>
        </p:spPr>
        <p:txBody>
          <a:bodyPr wrap="square">
            <a:spAutoFit/>
          </a:bodyPr>
          <a:lstStyle/>
          <a:p>
            <a:r>
              <a:rPr lang="en-US" b="1" dirty="0"/>
              <a:t>What is State Management?</a:t>
            </a:r>
          </a:p>
          <a:p>
            <a:endParaRPr lang="en-US" b="1" dirty="0"/>
          </a:p>
          <a:p>
            <a:r>
              <a:rPr lang="en-US" dirty="0"/>
              <a:t>State management is the practice of handling data flow and application state in a predictable way. It helps:</a:t>
            </a:r>
          </a:p>
          <a:p>
            <a:endParaRPr lang="en-US" dirty="0"/>
          </a:p>
          <a:p>
            <a:r>
              <a:rPr lang="en-US" dirty="0"/>
              <a:t>Maintain consistency across components</a:t>
            </a:r>
          </a:p>
          <a:p>
            <a:endParaRPr lang="en-US" dirty="0"/>
          </a:p>
          <a:p>
            <a:r>
              <a:rPr lang="en-US" dirty="0"/>
              <a:t>Debug application state changes</a:t>
            </a:r>
          </a:p>
          <a:p>
            <a:endParaRPr lang="en-US" dirty="0"/>
          </a:p>
          <a:p>
            <a:r>
              <a:rPr lang="en-US" dirty="0"/>
              <a:t>Handle complex data flows</a:t>
            </a:r>
          </a:p>
          <a:p>
            <a:endParaRPr lang="en-US" dirty="0"/>
          </a:p>
          <a:p>
            <a:r>
              <a:rPr lang="en-US" dirty="0"/>
              <a:t>Improve performance with change detection</a:t>
            </a:r>
            <a:endParaRPr lang="en-IN" dirty="0"/>
          </a:p>
        </p:txBody>
      </p:sp>
    </p:spTree>
    <p:extLst>
      <p:ext uri="{BB962C8B-B14F-4D97-AF65-F5344CB8AC3E}">
        <p14:creationId xmlns:p14="http://schemas.microsoft.com/office/powerpoint/2010/main" val="25671711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FC0AD16B-BA73-752C-88E9-45FA479769C9}"/>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54106F96-2628-572B-B8A5-77CC4C54B4F8}"/>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err="1"/>
              <a:t>NgRx</a:t>
            </a:r>
            <a:r>
              <a:rPr lang="en-IN" sz="2400" dirty="0"/>
              <a:t> Flow Diagram</a:t>
            </a:r>
            <a:endParaRPr lang="en-IN" sz="2400" b="1" dirty="0"/>
          </a:p>
        </p:txBody>
      </p:sp>
      <p:sp>
        <p:nvSpPr>
          <p:cNvPr id="4" name="TextBox 3">
            <a:extLst>
              <a:ext uri="{FF2B5EF4-FFF2-40B4-BE49-F238E27FC236}">
                <a16:creationId xmlns:a16="http://schemas.microsoft.com/office/drawing/2014/main" id="{E61C6FFA-5FBF-7FCC-8374-AA4CCA364C46}"/>
              </a:ext>
            </a:extLst>
          </p:cNvPr>
          <p:cNvSpPr txBox="1"/>
          <p:nvPr/>
        </p:nvSpPr>
        <p:spPr>
          <a:xfrm>
            <a:off x="381000" y="1274862"/>
            <a:ext cx="8063753" cy="3108543"/>
          </a:xfrm>
          <a:prstGeom prst="rect">
            <a:avLst/>
          </a:prstGeom>
          <a:noFill/>
        </p:spPr>
        <p:txBody>
          <a:bodyPr wrap="square">
            <a:spAutoFit/>
          </a:bodyPr>
          <a:lstStyle/>
          <a:p>
            <a:r>
              <a:rPr lang="en-US" dirty="0"/>
              <a:t>Component → Dispatch Action → Reducer → Update Store → Component Selects State → UI Update</a:t>
            </a:r>
          </a:p>
          <a:p>
            <a:endParaRPr lang="en-US" dirty="0"/>
          </a:p>
          <a:p>
            <a:r>
              <a:rPr lang="en-US" b="1" dirty="0"/>
              <a:t>When to Use </a:t>
            </a:r>
            <a:r>
              <a:rPr lang="en-US" b="1" dirty="0" err="1"/>
              <a:t>NgRx</a:t>
            </a:r>
            <a:endParaRPr lang="en-US" b="1" dirty="0"/>
          </a:p>
          <a:p>
            <a:endParaRPr lang="en-US" b="1" dirty="0"/>
          </a:p>
          <a:p>
            <a:r>
              <a:rPr lang="en-US" dirty="0"/>
              <a:t>Large applications with complex state</a:t>
            </a:r>
          </a:p>
          <a:p>
            <a:endParaRPr lang="en-US" dirty="0"/>
          </a:p>
          <a:p>
            <a:r>
              <a:rPr lang="en-US" dirty="0"/>
              <a:t>Multiple data sources that need synchronization</a:t>
            </a:r>
          </a:p>
          <a:p>
            <a:endParaRPr lang="en-US" dirty="0"/>
          </a:p>
          <a:p>
            <a:r>
              <a:rPr lang="en-US" dirty="0"/>
              <a:t>Team development requiring predictable patterns</a:t>
            </a:r>
          </a:p>
          <a:p>
            <a:endParaRPr lang="en-US" dirty="0"/>
          </a:p>
          <a:p>
            <a:r>
              <a:rPr lang="en-US" dirty="0"/>
              <a:t>Heavy user interactions with undo/redo requirements</a:t>
            </a:r>
          </a:p>
          <a:p>
            <a:endParaRPr lang="en-US" dirty="0"/>
          </a:p>
          <a:p>
            <a:r>
              <a:rPr lang="en-US" dirty="0"/>
              <a:t>Performance-critical apps needing optimized change detection</a:t>
            </a:r>
            <a:endParaRPr lang="en-IN" dirty="0"/>
          </a:p>
        </p:txBody>
      </p:sp>
    </p:spTree>
    <p:extLst>
      <p:ext uri="{BB962C8B-B14F-4D97-AF65-F5344CB8AC3E}">
        <p14:creationId xmlns:p14="http://schemas.microsoft.com/office/powerpoint/2010/main" val="40852956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10"/>
          <p:cNvSpPr txBox="1"/>
          <p:nvPr/>
        </p:nvSpPr>
        <p:spPr>
          <a:xfrm>
            <a:off x="226925" y="151275"/>
            <a:ext cx="4962000" cy="8496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Check Your Understanding </a:t>
            </a:r>
            <a:endParaRPr sz="2400" b="1" i="0" u="none" strike="noStrike" cap="none">
              <a:solidFill>
                <a:srgbClr val="323F4F"/>
              </a:solidFill>
              <a:latin typeface="Proxima Nova"/>
              <a:ea typeface="Proxima Nova"/>
              <a:cs typeface="Proxima Nova"/>
              <a:sym typeface="Proxima Nova"/>
            </a:endParaRPr>
          </a:p>
          <a:p>
            <a:pPr marL="0" marR="0" lvl="0" indent="0" algn="l" rtl="0">
              <a:lnSpc>
                <a:spcPct val="90000"/>
              </a:lnSpc>
              <a:spcBef>
                <a:spcPts val="0"/>
              </a:spcBef>
              <a:spcAft>
                <a:spcPts val="0"/>
              </a:spcAft>
              <a:buClr>
                <a:srgbClr val="000000"/>
              </a:buClr>
              <a:buSzPts val="2400"/>
              <a:buFont typeface="Arial"/>
              <a:buNone/>
            </a:pPr>
            <a:endParaRPr sz="2400" b="1" i="0" u="none" strike="noStrike" cap="none">
              <a:solidFill>
                <a:srgbClr val="323F4F"/>
              </a:solidFill>
              <a:latin typeface="Proxima Nova"/>
              <a:ea typeface="Proxima Nova"/>
              <a:cs typeface="Proxima Nova"/>
              <a:sym typeface="Proxima Nova"/>
            </a:endParaRPr>
          </a:p>
        </p:txBody>
      </p:sp>
      <p:sp>
        <p:nvSpPr>
          <p:cNvPr id="490" name="Google Shape;490;p10"/>
          <p:cNvSpPr/>
          <p:nvPr/>
        </p:nvSpPr>
        <p:spPr>
          <a:xfrm rot="10800000" flipH="1">
            <a:off x="305900" y="627875"/>
            <a:ext cx="3763500" cy="104400"/>
          </a:xfrm>
          <a:prstGeom prst="rect">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roxima Nova"/>
              <a:ea typeface="Proxima Nova"/>
              <a:cs typeface="Proxima Nova"/>
              <a:sym typeface="Proxima Nova"/>
            </a:endParaRPr>
          </a:p>
        </p:txBody>
      </p:sp>
      <p:pic>
        <p:nvPicPr>
          <p:cNvPr id="491" name="Google Shape;491;p10" descr="check sign - Clip Art Library"/>
          <p:cNvPicPr preferRelativeResize="0"/>
          <p:nvPr/>
        </p:nvPicPr>
        <p:blipFill rotWithShape="1">
          <a:blip r:embed="rId3">
            <a:alphaModFix/>
          </a:blip>
          <a:srcRect/>
          <a:stretch/>
        </p:blipFill>
        <p:spPr>
          <a:xfrm>
            <a:off x="6007794" y="1088200"/>
            <a:ext cx="1768724" cy="1768724"/>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13"/>
          <p:cNvSpPr txBox="1"/>
          <p:nvPr/>
        </p:nvSpPr>
        <p:spPr>
          <a:xfrm>
            <a:off x="394950" y="223550"/>
            <a:ext cx="44427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Question &amp; Answer</a:t>
            </a:r>
            <a:endParaRPr sz="2400" b="1" i="0" u="none" strike="noStrike" cap="none">
              <a:solidFill>
                <a:srgbClr val="323F4F"/>
              </a:solidFill>
              <a:latin typeface="Proxima Nova"/>
              <a:ea typeface="Proxima Nova"/>
              <a:cs typeface="Proxima Nova"/>
              <a:sym typeface="Proxima Nova"/>
            </a:endParaRPr>
          </a:p>
        </p:txBody>
      </p:sp>
      <p:pic>
        <p:nvPicPr>
          <p:cNvPr id="498" name="Google Shape;498;p13"/>
          <p:cNvPicPr preferRelativeResize="0"/>
          <p:nvPr/>
        </p:nvPicPr>
        <p:blipFill rotWithShape="1">
          <a:blip r:embed="rId3">
            <a:alphaModFix/>
          </a:blip>
          <a:srcRect/>
          <a:stretch/>
        </p:blipFill>
        <p:spPr>
          <a:xfrm>
            <a:off x="1423175" y="940450"/>
            <a:ext cx="4832175" cy="33769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17"/>
          <p:cNvSpPr txBox="1">
            <a:spLocks noGrp="1"/>
          </p:cNvSpPr>
          <p:nvPr>
            <p:ph type="subTitle" idx="1"/>
          </p:nvPr>
        </p:nvSpPr>
        <p:spPr>
          <a:xfrm>
            <a:off x="2092775" y="2305650"/>
            <a:ext cx="5271900" cy="320700"/>
          </a:xfrm>
          <a:prstGeom prst="rect">
            <a:avLst/>
          </a:prstGeom>
          <a:noFill/>
          <a:ln>
            <a:noFill/>
          </a:ln>
        </p:spPr>
        <p:txBody>
          <a:bodyPr spcFirstLastPara="1" wrap="square" lIns="0" tIns="0" rIns="0" bIns="0" anchor="t" anchorCtr="0">
            <a:noAutofit/>
          </a:bodyPr>
          <a:lstStyle/>
          <a:p>
            <a:r>
              <a:rPr lang="en" sz="1600"/>
              <a:t>Benhar Charles Velankanni</a:t>
            </a:r>
            <a:endParaRPr sz="1600"/>
          </a:p>
        </p:txBody>
      </p:sp>
    </p:spTree>
  </p:cSld>
  <p:clrMapOvr>
    <a:masterClrMapping/>
  </p:clrMapOvr>
</p:sld>
</file>

<file path=ppt/theme/theme1.xml><?xml version="1.0" encoding="utf-8"?>
<a:theme xmlns:a="http://schemas.openxmlformats.org/drawingml/2006/main"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DE37E934965AB40B8C2959C180473A3" ma:contentTypeVersion="13" ma:contentTypeDescription="Create a new document." ma:contentTypeScope="" ma:versionID="b652bdf42f97bf36c4cecc4a137c9e6d">
  <xsd:schema xmlns:xsd="http://www.w3.org/2001/XMLSchema" xmlns:xs="http://www.w3.org/2001/XMLSchema" xmlns:p="http://schemas.microsoft.com/office/2006/metadata/properties" xmlns:ns2="9f6ad64a-8b6b-48eb-ae60-12a54eda0ca9" xmlns:ns3="70328ee1-d215-47f2-9f94-e66745c0848f" targetNamespace="http://schemas.microsoft.com/office/2006/metadata/properties" ma:root="true" ma:fieldsID="ef4dd843760eb6ba715a3d5caabb3102" ns2:_="" ns3:_="">
    <xsd:import namespace="9f6ad64a-8b6b-48eb-ae60-12a54eda0ca9"/>
    <xsd:import namespace="70328ee1-d215-47f2-9f94-e66745c0848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6ad64a-8b6b-48eb-ae60-12a54eda0ca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a156ab42-c15d-4f16-a227-b8fc8443f73b" ma:termSetId="09814cd3-568e-fe90-9814-8d621ff8fb84" ma:anchorId="fba54fb3-c3e1-fe81-a776-ca4b69148c4d" ma:open="true" ma:isKeyword="false">
      <xsd:complexType>
        <xsd:sequence>
          <xsd:element ref="pc:Terms" minOccurs="0" maxOccurs="1"/>
        </xsd:sequence>
      </xsd:complexType>
    </xsd:element>
    <xsd:element name="MediaServiceLocation" ma:index="19" nillable="true" ma:displayName="Location" ma:description="" ma:indexed="true"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0328ee1-d215-47f2-9f94-e66745c0848f"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dc998392-e962-4591-95d1-fdc2e5b3008b}" ma:internalName="TaxCatchAll" ma:showField="CatchAllData" ma:web="70328ee1-d215-47f2-9f94-e66745c0848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f6ad64a-8b6b-48eb-ae60-12a54eda0ca9">
      <Terms xmlns="http://schemas.microsoft.com/office/infopath/2007/PartnerControls"/>
    </lcf76f155ced4ddcb4097134ff3c332f>
    <TaxCatchAll xmlns="70328ee1-d215-47f2-9f94-e66745c0848f" xsi:nil="true"/>
    <MediaLengthInSeconds xmlns="9f6ad64a-8b6b-48eb-ae60-12a54eda0ca9" xsi:nil="true"/>
  </documentManagement>
</p:properties>
</file>

<file path=customXml/itemProps1.xml><?xml version="1.0" encoding="utf-8"?>
<ds:datastoreItem xmlns:ds="http://schemas.openxmlformats.org/officeDocument/2006/customXml" ds:itemID="{565DA012-BBE1-41E3-B821-9BF2DDCA651F}">
  <ds:schemaRefs>
    <ds:schemaRef ds:uri="http://schemas.microsoft.com/sharepoint/v3/contenttype/forms"/>
  </ds:schemaRefs>
</ds:datastoreItem>
</file>

<file path=customXml/itemProps2.xml><?xml version="1.0" encoding="utf-8"?>
<ds:datastoreItem xmlns:ds="http://schemas.openxmlformats.org/officeDocument/2006/customXml" ds:itemID="{1CFC267C-DE1B-4101-8C28-4BADF6AAF7D3}">
  <ds:schemaRefs>
    <ds:schemaRef ds:uri="70328ee1-d215-47f2-9f94-e66745c0848f"/>
    <ds:schemaRef ds:uri="9f6ad64a-8b6b-48eb-ae60-12a54eda0ca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C8A4D05-2C6B-4E3D-ACBF-D0F4E11F0DD3}">
  <ds:schemaRefs>
    <ds:schemaRef ds:uri="http://purl.org/dc/elements/1.1/"/>
    <ds:schemaRef ds:uri="http://schemas.microsoft.com/office/2006/metadata/properties"/>
    <ds:schemaRef ds:uri="http://schemas.microsoft.com/office/2006/documentManagement/types"/>
    <ds:schemaRef ds:uri="http://purl.org/dc/terms/"/>
    <ds:schemaRef ds:uri="9f6ad64a-8b6b-48eb-ae60-12a54eda0ca9"/>
    <ds:schemaRef ds:uri="http://purl.org/dc/dcmitype/"/>
    <ds:schemaRef ds:uri="http://schemas.microsoft.com/office/infopath/2007/PartnerControls"/>
    <ds:schemaRef ds:uri="http://schemas.openxmlformats.org/package/2006/metadata/core-properties"/>
    <ds:schemaRef ds:uri="70328ee1-d215-47f2-9f94-e66745c0848f"/>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37452</TotalTime>
  <Words>2496</Words>
  <Application>Microsoft Office PowerPoint</Application>
  <PresentationFormat>On-screen Show (16:9)</PresentationFormat>
  <Paragraphs>332</Paragraphs>
  <Slides>40</Slides>
  <Notes>40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40</vt:i4>
      </vt:variant>
    </vt:vector>
  </HeadingPairs>
  <TitlesOfParts>
    <vt:vector size="48" baseType="lpstr">
      <vt:lpstr>Proxima Nova Semibold</vt:lpstr>
      <vt:lpstr>Courier 10 Pitch</vt:lpstr>
      <vt:lpstr>Proxima Nova</vt:lpstr>
      <vt:lpstr>Arial</vt:lpstr>
      <vt:lpstr>quote-cjk-patch</vt:lpstr>
      <vt:lpstr>Calibri</vt:lpstr>
      <vt:lpstr>Relevantz - Internal Slide Template</vt:lpstr>
      <vt:lpstr>Relevantz - Internal Slide Template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Benhar Charles V</dc:creator>
  <cp:lastModifiedBy>Benhar Charles V</cp:lastModifiedBy>
  <cp:revision>47</cp:revision>
  <dcterms:modified xsi:type="dcterms:W3CDTF">2026-03-25T14:29:34Z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0x0101006DE37E934965AB40B8C2959C180473A3</vt:lpwstr>
  </property>
  <property fmtid="{D5CDD505-2E9C-101B-9397-08002B2CF9AE}" pid="3" name="Order">
    <vt:r8>391700</vt:r8>
  </property>
  <property fmtid="{D5CDD505-2E9C-101B-9397-08002B2CF9AE}" pid="4" name="_SourceUrl">
    <vt:lpwstr/>
  </property>
  <property fmtid="{D5CDD505-2E9C-101B-9397-08002B2CF9AE}" pid="5" name="_SharedFileIndex">
    <vt:lpwstr/>
  </property>
  <property fmtid="{D5CDD505-2E9C-101B-9397-08002B2CF9AE}" pid="6" name="ComplianceAssetId">
    <vt:lpwstr/>
  </property>
  <property fmtid="{D5CDD505-2E9C-101B-9397-08002B2CF9AE}" pid="7" name="_ExtendedDescription">
    <vt:lpwstr/>
  </property>
  <property fmtid="{D5CDD505-2E9C-101B-9397-08002B2CF9AE}" pid="8" name="TriggerFlowInfo">
    <vt:lpwstr/>
  </property>
  <property fmtid="{D5CDD505-2E9C-101B-9397-08002B2CF9AE}" pid="9" name="MediaServiceImageTags">
    <vt:lpwstr/>
  </property>
  <property fmtid="{D5CDD505-2E9C-101B-9397-08002B2CF9AE}" pid="10" name="MSIP_Label_defa4170-0d19-0005-0004-bc88714345d2_Enabled">
    <vt:lpwstr>true</vt:lpwstr>
  </property>
  <property fmtid="{D5CDD505-2E9C-101B-9397-08002B2CF9AE}" pid="11" name="MSIP_Label_defa4170-0d19-0005-0004-bc88714345d2_SetDate">
    <vt:lpwstr>2025-06-04T11:23:41Z</vt:lpwstr>
  </property>
  <property fmtid="{D5CDD505-2E9C-101B-9397-08002B2CF9AE}" pid="12" name="MSIP_Label_defa4170-0d19-0005-0004-bc88714345d2_Method">
    <vt:lpwstr>Standard</vt:lpwstr>
  </property>
  <property fmtid="{D5CDD505-2E9C-101B-9397-08002B2CF9AE}" pid="13" name="MSIP_Label_defa4170-0d19-0005-0004-bc88714345d2_Name">
    <vt:lpwstr>defa4170-0d19-0005-0004-bc88714345d2</vt:lpwstr>
  </property>
  <property fmtid="{D5CDD505-2E9C-101B-9397-08002B2CF9AE}" pid="14" name="MSIP_Label_defa4170-0d19-0005-0004-bc88714345d2_SiteId">
    <vt:lpwstr>fe66d7b1-c17e-4ba8-a08d-2e146117dc7e</vt:lpwstr>
  </property>
  <property fmtid="{D5CDD505-2E9C-101B-9397-08002B2CF9AE}" pid="15" name="MSIP_Label_defa4170-0d19-0005-0004-bc88714345d2_ActionId">
    <vt:lpwstr>db0fe4a2-2236-45c4-9210-9d9cc71c4f5d</vt:lpwstr>
  </property>
  <property fmtid="{D5CDD505-2E9C-101B-9397-08002B2CF9AE}" pid="16" name="MSIP_Label_defa4170-0d19-0005-0004-bc88714345d2_ContentBits">
    <vt:lpwstr>0</vt:lpwstr>
  </property>
  <property fmtid="{D5CDD505-2E9C-101B-9397-08002B2CF9AE}" pid="17" name="MSIP_Label_defa4170-0d19-0005-0004-bc88714345d2_Tag">
    <vt:lpwstr>10, 3, 0, 2</vt:lpwstr>
  </property>
</Properties>
</file>