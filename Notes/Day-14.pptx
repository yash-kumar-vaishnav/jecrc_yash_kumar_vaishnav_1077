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27"/>
  </p:notesMasterIdLst>
  <p:sldIdLst>
    <p:sldId id="361" r:id="rId6"/>
    <p:sldId id="409" r:id="rId7"/>
    <p:sldId id="423" r:id="rId8"/>
    <p:sldId id="424" r:id="rId9"/>
    <p:sldId id="425" r:id="rId10"/>
    <p:sldId id="426" r:id="rId11"/>
    <p:sldId id="429" r:id="rId12"/>
    <p:sldId id="427" r:id="rId13"/>
    <p:sldId id="430" r:id="rId14"/>
    <p:sldId id="431" r:id="rId15"/>
    <p:sldId id="407" r:id="rId16"/>
    <p:sldId id="408" r:id="rId17"/>
    <p:sldId id="433" r:id="rId18"/>
    <p:sldId id="434" r:id="rId19"/>
    <p:sldId id="432" r:id="rId20"/>
    <p:sldId id="422" r:id="rId21"/>
    <p:sldId id="410" r:id="rId22"/>
    <p:sldId id="411" r:id="rId23"/>
    <p:sldId id="310" r:id="rId24"/>
    <p:sldId id="311" r:id="rId25"/>
    <p:sldId id="313" r:id="rId26"/>
  </p:sldIdLst>
  <p:sldSz cx="9144000" cy="5143500" type="screen16x9"/>
  <p:notesSz cx="6858000" cy="9144000"/>
  <p:embeddedFontLst>
    <p:embeddedFont>
      <p:font typeface="Proxima Nova" panose="020B0604020202020204" charset="0"/>
      <p:regular r:id="rId28"/>
      <p:bold r:id="rId29"/>
      <p:italic r:id="rId30"/>
      <p:boldItalic r:id="rId31"/>
    </p:embeddedFont>
    <p:embeddedFont>
      <p:font typeface="Proxima Nova Semibold" panose="020B0604020202020204" charset="0"/>
      <p:regular r:id="rId32"/>
      <p:bold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95"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590"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98"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7.fntdata"/><Relationship Id="rId9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2.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5.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95"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4.fntdata"/><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7907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AC0383B5-4664-4866-600C-C0746F9D598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882935-B114-2F97-E82F-DA1E4E108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D816E20-B882-4520-C67D-515BB9F441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5323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41060CC-7012-7EEC-FCBE-8463D2EBB8E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91854B-F7D8-F4C5-D203-B3699FB70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A18499E-34C3-228D-DD10-4754C27BA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1377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D657B304-06CC-1F92-6DEB-B4DFE63CE5D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729502BC-5CC0-A495-ACB7-FD79178357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1D9B119-91B9-C431-50AF-94680A1631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355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58ED6EE-D096-9DA9-3D90-FBCC2B6E0F3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BDE9BBB2-50EF-6500-14EC-5F0F1E73E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D79F2AB3-4874-9633-A325-E6066318F8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0804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6A1AE19-94EC-7B1D-7CB9-C4A17BDABEE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45590C2F-75D3-651E-BC36-22E9D4CEE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3E1365EF-8E04-5618-EB5A-3522DECC0E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61325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28460DB-AC9E-B79E-21FA-9274FEB19B9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AEC31C0-1C09-925B-91BA-0AFC05175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B254FB3F-5937-16F9-195E-59C6FBC8D4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3603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89173FC-01EA-D499-E6D1-7579AD1415B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C27A8F2-0D31-E32E-C6B1-6D33D364B7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2DE3696-8407-2B1D-EC5B-0546372532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0241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172799F-AAD0-6C6D-F94C-596329C4DF0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FE56D4D7-1265-390A-3187-DDA6573C3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A218B0D-0A27-2A72-4629-5B055618E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6183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C0B97E8-0A93-0284-58EE-AECD15442C6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691124BC-F7B2-C4D5-21E6-63ACB06B17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626FCB00-2273-6BFA-9595-38368C585C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468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1B89EA4-B1C0-6ACB-5B21-7D7D36FB9B3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BCE8412F-D011-7891-7709-CBFE553D67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D286401-94C3-AA93-6BCF-105E7683B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23390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F5B08CD-0419-2708-95CE-DF00011453E3}"/>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ACDBB07-7E0C-9291-A8E4-B5B19B4A8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14D502B-5790-3A9E-474C-0B0E31CB7D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7716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056DE04-CC6A-3E88-AED1-D5C6E241C413}"/>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0B33273-861B-6765-CD46-63B60AFAC9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F8372F0E-8A5A-F176-859D-55E4851343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10560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A594AFE-8E43-64A9-0ABD-005A958ED0B8}"/>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AF01BF0-7B45-ADCF-F802-8A8248CA3B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047F9AA7-DA22-1095-8549-357D2AEAE1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5568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B7820A82-413F-7CCF-B16E-173F5A478F9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45F713D-6530-30AD-51B0-14533F863C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F9F8B31E-A1FA-AF82-7BDF-EF0A932172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0782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FF875EC7-6AF5-0F9B-2A80-7F4B68875B4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31AA47EA-2722-5CE3-A94C-C9EBC81B1E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0BC23F5-3D47-4D76-13C2-D62D2D4566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66511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23BA6F33-67C1-83AF-AD0B-AB9BECFBA3C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4B370F-4D96-2458-47F3-85BB2AA4A0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35BE3193-68A1-5A76-0625-525287ECC62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3861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8EEF51CD-7470-FDA2-6D10-5373BECAADD0}"/>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54DD959-A66B-483D-090C-D24E89F515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F892C88-9F4C-2486-A2D3-88C4C054AA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00694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8606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500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8"/>
        <p:cNvGrpSpPr/>
        <p:nvPr/>
      </p:nvGrpSpPr>
      <p:grpSpPr>
        <a:xfrm>
          <a:off x="0" y="0"/>
          <a:ext cx="0" cy="0"/>
          <a:chOff x="0" y="0"/>
          <a:chExt cx="0" cy="0"/>
        </a:xfrm>
      </p:grpSpPr>
      <p:sp>
        <p:nvSpPr>
          <p:cNvPr id="19" name="Google Shape;19;p23"/>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20" name="Google Shape;20;p23"/>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23" name="Google Shape;23;p23"/>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a16="http://schemas.microsoft.com/office/drawing/2014/main" val="20000"/>
                    </a:ext>
                  </a:extLst>
                </a:gridCol>
                <a:gridCol w="2702325">
                  <a:extLst>
                    <a:ext uri="{9D8B030D-6E8A-4147-A177-3AD203B41FA5}">
                      <a16:colId xmlns:a16="http://schemas.microsoft.com/office/drawing/2014/main" val="20001"/>
                    </a:ext>
                  </a:extLst>
                </a:gridCol>
                <a:gridCol w="2926625">
                  <a:extLst>
                    <a:ext uri="{9D8B030D-6E8A-4147-A177-3AD203B41FA5}">
                      <a16:colId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7"/>
                  </a:ext>
                </a:extLst>
              </a:tr>
            </a:tbl>
          </a:graphicData>
        </a:graphic>
      </p:graphicFrame>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grpSp>
        <p:nvGrpSpPr>
          <p:cNvPr id="81" name="Google Shape;81;p22"/>
          <p:cNvGrpSpPr/>
          <p:nvPr/>
        </p:nvGrpSpPr>
        <p:grpSpPr>
          <a:xfrm>
            <a:off x="6588505" y="-28"/>
            <a:ext cx="2555491" cy="5143634"/>
            <a:chOff x="6484825" y="114035"/>
            <a:chExt cx="2659200" cy="5029465"/>
          </a:xfrm>
        </p:grpSpPr>
        <p:sp>
          <p:nvSpPr>
            <p:cNvPr id="82" name="Google Shape;82;p22"/>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IN" sz="4000" dirty="0">
                <a:solidFill>
                  <a:schemeClr val="lt1"/>
                </a:solidFill>
                <a:latin typeface="Proxima Nova"/>
                <a:ea typeface="Proxima Nova"/>
                <a:cs typeface="Proxima Nova"/>
              </a:rPr>
              <a:t>Frontend with Angular</a:t>
            </a:r>
          </a:p>
        </p:txBody>
      </p:sp>
    </p:spTree>
    <p:extLst>
      <p:ext uri="{BB962C8B-B14F-4D97-AF65-F5344CB8AC3E}">
        <p14:creationId xmlns:p14="http://schemas.microsoft.com/office/powerpoint/2010/main" val="187629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E6BC2F85-BF1C-BA7D-EE18-505C2E0AD2D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3CCFDBD-0856-6439-17E1-4EDFA8EA9303}"/>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What is </a:t>
            </a:r>
            <a:r>
              <a:rPr lang="en-IN" sz="2400" dirty="0"/>
              <a:t>Metadata?</a:t>
            </a:r>
            <a:endParaRPr lang="en-IN" sz="2400" b="1" dirty="0"/>
          </a:p>
        </p:txBody>
      </p:sp>
      <p:sp>
        <p:nvSpPr>
          <p:cNvPr id="6" name="TextBox 5">
            <a:extLst>
              <a:ext uri="{FF2B5EF4-FFF2-40B4-BE49-F238E27FC236}">
                <a16:creationId xmlns:a16="http://schemas.microsoft.com/office/drawing/2014/main" id="{019A9C95-5D10-7214-A2B1-8797FB01CB0A}"/>
              </a:ext>
            </a:extLst>
          </p:cNvPr>
          <p:cNvSpPr txBox="1"/>
          <p:nvPr/>
        </p:nvSpPr>
        <p:spPr>
          <a:xfrm>
            <a:off x="426945" y="1132650"/>
            <a:ext cx="7063068" cy="1815882"/>
          </a:xfrm>
          <a:prstGeom prst="rect">
            <a:avLst/>
          </a:prstGeom>
          <a:noFill/>
        </p:spPr>
        <p:txBody>
          <a:bodyPr wrap="square">
            <a:spAutoFit/>
          </a:bodyPr>
          <a:lstStyle/>
          <a:p>
            <a:r>
              <a:rPr lang="en-US" b="1" dirty="0"/>
              <a:t>Metadata</a:t>
            </a:r>
            <a:r>
              <a:rPr lang="en-US" dirty="0"/>
              <a:t> provides configuration information to Angular using </a:t>
            </a:r>
            <a:r>
              <a:rPr lang="en-US" b="1" dirty="0"/>
              <a:t>decorators</a:t>
            </a:r>
            <a:r>
              <a:rPr lang="en-US" dirty="0"/>
              <a:t>.</a:t>
            </a:r>
            <a:r>
              <a:rPr lang="en-IN" dirty="0"/>
              <a:t> </a:t>
            </a:r>
          </a:p>
          <a:p>
            <a:endParaRPr lang="en-IN" dirty="0"/>
          </a:p>
          <a:p>
            <a:r>
              <a:rPr lang="en-US" dirty="0"/>
              <a:t>Decorators are the features of Typescript and are implemented as functions. </a:t>
            </a:r>
          </a:p>
          <a:p>
            <a:endParaRPr lang="en-US" dirty="0"/>
          </a:p>
          <a:p>
            <a:r>
              <a:rPr lang="en-US" dirty="0"/>
              <a:t>The name of the decorator starts with </a:t>
            </a:r>
            <a:r>
              <a:rPr lang="en-US" b="1" dirty="0"/>
              <a:t>@</a:t>
            </a:r>
            <a:r>
              <a:rPr lang="en-US" dirty="0"/>
              <a:t> symbol following by brackets and arguments. </a:t>
            </a:r>
          </a:p>
          <a:p>
            <a:endParaRPr lang="en-US" dirty="0"/>
          </a:p>
          <a:p>
            <a:r>
              <a:rPr lang="en-US" dirty="0"/>
              <a:t>That means in angular whenever you find something which is prefixed by </a:t>
            </a:r>
            <a:r>
              <a:rPr lang="en-US" b="1" dirty="0"/>
              <a:t>@</a:t>
            </a:r>
            <a:r>
              <a:rPr lang="en-US" dirty="0"/>
              <a:t> symbol, then you need to consider it as a decorator.</a:t>
            </a:r>
            <a:endParaRPr lang="en-IN" dirty="0"/>
          </a:p>
        </p:txBody>
      </p:sp>
    </p:spTree>
    <p:extLst>
      <p:ext uri="{BB962C8B-B14F-4D97-AF65-F5344CB8AC3E}">
        <p14:creationId xmlns:p14="http://schemas.microsoft.com/office/powerpoint/2010/main" val="288870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C9663FF-BA1F-EC23-0E08-20625C8A67E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D5C70E3F-98CA-86C0-1D70-5DD9175D7EF0}"/>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6" name="TextBox 5">
            <a:extLst>
              <a:ext uri="{FF2B5EF4-FFF2-40B4-BE49-F238E27FC236}">
                <a16:creationId xmlns:a16="http://schemas.microsoft.com/office/drawing/2014/main" id="{0328984A-8197-8EE4-FA98-E1F5C2AF7CDE}"/>
              </a:ext>
            </a:extLst>
          </p:cNvPr>
          <p:cNvSpPr txBox="1"/>
          <p:nvPr/>
        </p:nvSpPr>
        <p:spPr>
          <a:xfrm>
            <a:off x="426945" y="1132650"/>
            <a:ext cx="7063068" cy="307777"/>
          </a:xfrm>
          <a:prstGeom prst="rect">
            <a:avLst/>
          </a:prstGeom>
          <a:noFill/>
        </p:spPr>
        <p:txBody>
          <a:bodyPr wrap="square">
            <a:spAutoFit/>
          </a:bodyPr>
          <a:lstStyle/>
          <a:p>
            <a:r>
              <a:rPr lang="en-IN" dirty="0"/>
              <a:t>Common Angular Decorators</a:t>
            </a:r>
          </a:p>
        </p:txBody>
      </p:sp>
      <p:graphicFrame>
        <p:nvGraphicFramePr>
          <p:cNvPr id="2" name="Table 1">
            <a:extLst>
              <a:ext uri="{FF2B5EF4-FFF2-40B4-BE49-F238E27FC236}">
                <a16:creationId xmlns:a16="http://schemas.microsoft.com/office/drawing/2014/main" id="{92FC4751-D792-2327-B726-6ADCBD50738B}"/>
              </a:ext>
            </a:extLst>
          </p:cNvPr>
          <p:cNvGraphicFramePr>
            <a:graphicFrameLocks noGrp="1"/>
          </p:cNvGraphicFramePr>
          <p:nvPr>
            <p:extLst>
              <p:ext uri="{D42A27DB-BD31-4B8C-83A1-F6EECF244321}">
                <p14:modId xmlns:p14="http://schemas.microsoft.com/office/powerpoint/2010/main" val="2388345138"/>
              </p:ext>
            </p:extLst>
          </p:nvPr>
        </p:nvGraphicFramePr>
        <p:xfrm>
          <a:off x="426945" y="1911908"/>
          <a:ext cx="7063070" cy="2438400"/>
        </p:xfrm>
        <a:graphic>
          <a:graphicData uri="http://schemas.openxmlformats.org/drawingml/2006/table">
            <a:tbl>
              <a:tblPr>
                <a:tableStyleId>{5940675A-B579-460E-94D1-54222C63F5DA}</a:tableStyleId>
              </a:tblPr>
              <a:tblGrid>
                <a:gridCol w="3531535">
                  <a:extLst>
                    <a:ext uri="{9D8B030D-6E8A-4147-A177-3AD203B41FA5}">
                      <a16:colId xmlns:a16="http://schemas.microsoft.com/office/drawing/2014/main" val="20000"/>
                    </a:ext>
                  </a:extLst>
                </a:gridCol>
                <a:gridCol w="3531535">
                  <a:extLst>
                    <a:ext uri="{9D8B030D-6E8A-4147-A177-3AD203B41FA5}">
                      <a16:colId xmlns:a16="http://schemas.microsoft.com/office/drawing/2014/main" val="20001"/>
                    </a:ext>
                  </a:extLst>
                </a:gridCol>
              </a:tblGrid>
              <a:tr h="214899">
                <a:tc>
                  <a:txBody>
                    <a:bodyPr/>
                    <a:lstStyle/>
                    <a:p>
                      <a:r>
                        <a:rPr lang="en-IN" b="1" dirty="0"/>
                        <a:t>Decorator</a:t>
                      </a:r>
                    </a:p>
                  </a:txBody>
                  <a:tcPr anchor="ctr"/>
                </a:tc>
                <a:tc>
                  <a:txBody>
                    <a:bodyPr/>
                    <a:lstStyle/>
                    <a:p>
                      <a:r>
                        <a:rPr lang="en-IN" b="1" dirty="0"/>
                        <a:t>Purpose</a:t>
                      </a:r>
                    </a:p>
                  </a:txBody>
                  <a:tcPr anchor="ctr"/>
                </a:tc>
                <a:extLst>
                  <a:ext uri="{0D108BD9-81ED-4DB2-BD59-A6C34878D82A}">
                    <a16:rowId xmlns:a16="http://schemas.microsoft.com/office/drawing/2014/main" val="10000"/>
                  </a:ext>
                </a:extLst>
              </a:tr>
              <a:tr h="214899">
                <a:tc>
                  <a:txBody>
                    <a:bodyPr/>
                    <a:lstStyle/>
                    <a:p>
                      <a:r>
                        <a:rPr lang="en-IN" dirty="0"/>
                        <a:t>@NgModule</a:t>
                      </a:r>
                    </a:p>
                  </a:txBody>
                  <a:tcPr anchor="ctr"/>
                </a:tc>
                <a:tc>
                  <a:txBody>
                    <a:bodyPr/>
                    <a:lstStyle/>
                    <a:p>
                      <a:r>
                        <a:rPr lang="en-IN"/>
                        <a:t>Defines a module</a:t>
                      </a:r>
                    </a:p>
                  </a:txBody>
                  <a:tcPr anchor="ctr"/>
                </a:tc>
                <a:extLst>
                  <a:ext uri="{0D108BD9-81ED-4DB2-BD59-A6C34878D82A}">
                    <a16:rowId xmlns:a16="http://schemas.microsoft.com/office/drawing/2014/main" val="10001"/>
                  </a:ext>
                </a:extLst>
              </a:tr>
              <a:tr h="214899">
                <a:tc>
                  <a:txBody>
                    <a:bodyPr/>
                    <a:lstStyle/>
                    <a:p>
                      <a:r>
                        <a:rPr lang="en-IN"/>
                        <a:t>@Component</a:t>
                      </a:r>
                    </a:p>
                  </a:txBody>
                  <a:tcPr anchor="ctr"/>
                </a:tc>
                <a:tc>
                  <a:txBody>
                    <a:bodyPr/>
                    <a:lstStyle/>
                    <a:p>
                      <a:r>
                        <a:rPr lang="en-IN"/>
                        <a:t>Defines a component</a:t>
                      </a:r>
                    </a:p>
                  </a:txBody>
                  <a:tcPr anchor="ctr"/>
                </a:tc>
                <a:extLst>
                  <a:ext uri="{0D108BD9-81ED-4DB2-BD59-A6C34878D82A}">
                    <a16:rowId xmlns:a16="http://schemas.microsoft.com/office/drawing/2014/main" val="10002"/>
                  </a:ext>
                </a:extLst>
              </a:tr>
              <a:tr h="214899">
                <a:tc>
                  <a:txBody>
                    <a:bodyPr/>
                    <a:lstStyle/>
                    <a:p>
                      <a:r>
                        <a:rPr lang="en-IN" dirty="0"/>
                        <a:t>@Directive</a:t>
                      </a:r>
                    </a:p>
                  </a:txBody>
                  <a:tcPr anchor="ctr"/>
                </a:tc>
                <a:tc>
                  <a:txBody>
                    <a:bodyPr/>
                    <a:lstStyle/>
                    <a:p>
                      <a:r>
                        <a:rPr lang="en-IN"/>
                        <a:t>Defines a directive</a:t>
                      </a:r>
                    </a:p>
                  </a:txBody>
                  <a:tcPr anchor="ctr"/>
                </a:tc>
                <a:extLst>
                  <a:ext uri="{0D108BD9-81ED-4DB2-BD59-A6C34878D82A}">
                    <a16:rowId xmlns:a16="http://schemas.microsoft.com/office/drawing/2014/main" val="10003"/>
                  </a:ext>
                </a:extLst>
              </a:tr>
              <a:tr h="214899">
                <a:tc>
                  <a:txBody>
                    <a:bodyPr/>
                    <a:lstStyle/>
                    <a:p>
                      <a:r>
                        <a:rPr lang="en-IN"/>
                        <a:t>@Pipe</a:t>
                      </a:r>
                    </a:p>
                  </a:txBody>
                  <a:tcPr anchor="ctr"/>
                </a:tc>
                <a:tc>
                  <a:txBody>
                    <a:bodyPr/>
                    <a:lstStyle/>
                    <a:p>
                      <a:r>
                        <a:rPr lang="en-IN"/>
                        <a:t>Defines a pipe</a:t>
                      </a:r>
                    </a:p>
                  </a:txBody>
                  <a:tcPr anchor="ctr"/>
                </a:tc>
                <a:extLst>
                  <a:ext uri="{0D108BD9-81ED-4DB2-BD59-A6C34878D82A}">
                    <a16:rowId xmlns:a16="http://schemas.microsoft.com/office/drawing/2014/main" val="10004"/>
                  </a:ext>
                </a:extLst>
              </a:tr>
              <a:tr h="214899">
                <a:tc>
                  <a:txBody>
                    <a:bodyPr/>
                    <a:lstStyle/>
                    <a:p>
                      <a:r>
                        <a:rPr lang="en-IN"/>
                        <a:t>@Injectable</a:t>
                      </a:r>
                    </a:p>
                  </a:txBody>
                  <a:tcPr anchor="ctr"/>
                </a:tc>
                <a:tc>
                  <a:txBody>
                    <a:bodyPr/>
                    <a:lstStyle/>
                    <a:p>
                      <a:r>
                        <a:rPr lang="en-IN" dirty="0"/>
                        <a:t>Defines a service</a:t>
                      </a:r>
                    </a:p>
                  </a:txBody>
                  <a:tcPr anchor="ctr"/>
                </a:tc>
                <a:extLst>
                  <a:ext uri="{0D108BD9-81ED-4DB2-BD59-A6C34878D82A}">
                    <a16:rowId xmlns:a16="http://schemas.microsoft.com/office/drawing/2014/main" val="10005"/>
                  </a:ext>
                </a:extLst>
              </a:tr>
              <a:tr h="214899">
                <a:tc>
                  <a:txBody>
                    <a:bodyPr/>
                    <a:lstStyle/>
                    <a:p>
                      <a:r>
                        <a:rPr lang="en-US" dirty="0"/>
                        <a:t>@Input</a:t>
                      </a:r>
                      <a:endParaRPr lang="en-IN" dirty="0"/>
                    </a:p>
                  </a:txBody>
                  <a:tcPr anchor="ctr"/>
                </a:tc>
                <a:tc>
                  <a:txBody>
                    <a:bodyPr/>
                    <a:lstStyle/>
                    <a:p>
                      <a:endParaRPr lang="en-IN" dirty="0"/>
                    </a:p>
                  </a:txBody>
                  <a:tcPr anchor="ctr"/>
                </a:tc>
                <a:extLst>
                  <a:ext uri="{0D108BD9-81ED-4DB2-BD59-A6C34878D82A}">
                    <a16:rowId xmlns:a16="http://schemas.microsoft.com/office/drawing/2014/main" val="10006"/>
                  </a:ext>
                </a:extLst>
              </a:tr>
              <a:tr h="214899">
                <a:tc>
                  <a:txBody>
                    <a:bodyPr/>
                    <a:lstStyle/>
                    <a:p>
                      <a:r>
                        <a:rPr lang="en-US" dirty="0"/>
                        <a:t>@Output</a:t>
                      </a:r>
                      <a:endParaRPr lang="en-IN" dirty="0"/>
                    </a:p>
                  </a:txBody>
                  <a:tcPr anchor="ctr"/>
                </a:tc>
                <a:tc>
                  <a:txBody>
                    <a:bodyPr/>
                    <a:lstStyle/>
                    <a:p>
                      <a:endParaRPr lang="en-IN" dirty="0"/>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9723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27F98073-2781-B7A0-909B-4D9A18B299D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2B8C484-9CD0-2491-218D-D597ED9AEAFD}"/>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6" name="TextBox 5">
            <a:extLst>
              <a:ext uri="{FF2B5EF4-FFF2-40B4-BE49-F238E27FC236}">
                <a16:creationId xmlns:a16="http://schemas.microsoft.com/office/drawing/2014/main" id="{DBA8596E-65A7-C26C-205F-006025931B21}"/>
              </a:ext>
            </a:extLst>
          </p:cNvPr>
          <p:cNvSpPr txBox="1"/>
          <p:nvPr/>
        </p:nvSpPr>
        <p:spPr>
          <a:xfrm>
            <a:off x="426945" y="1132650"/>
            <a:ext cx="7063068" cy="2677656"/>
          </a:xfrm>
          <a:prstGeom prst="rect">
            <a:avLst/>
          </a:prstGeom>
          <a:noFill/>
        </p:spPr>
        <p:txBody>
          <a:bodyPr wrap="square">
            <a:spAutoFit/>
          </a:bodyPr>
          <a:lstStyle/>
          <a:p>
            <a:pPr fontAlgn="base"/>
            <a:r>
              <a:rPr lang="en-US" dirty="0"/>
              <a:t>Decorators are classified into 4 types. They are as follows:</a:t>
            </a:r>
          </a:p>
          <a:p>
            <a:pPr fontAlgn="base"/>
            <a:endParaRPr lang="en-US" dirty="0"/>
          </a:p>
          <a:p>
            <a:pPr lvl="1" fontAlgn="base"/>
            <a:r>
              <a:rPr lang="en-US" b="1" dirty="0"/>
              <a:t>Class Decorators:</a:t>
            </a:r>
            <a:r>
              <a:rPr lang="en-US" dirty="0"/>
              <a:t> @Component and @NgModule</a:t>
            </a:r>
          </a:p>
          <a:p>
            <a:pPr lvl="1" fontAlgn="base"/>
            <a:endParaRPr lang="en-US" dirty="0"/>
          </a:p>
          <a:p>
            <a:pPr lvl="1" fontAlgn="base"/>
            <a:r>
              <a:rPr lang="en-US" b="1" dirty="0"/>
              <a:t>Property Decorators:</a:t>
            </a:r>
            <a:r>
              <a:rPr lang="en-US" dirty="0"/>
              <a:t> @Input and @Output (These two decorators are used inside a class)</a:t>
            </a:r>
          </a:p>
          <a:p>
            <a:pPr lvl="1" fontAlgn="base"/>
            <a:endParaRPr lang="en-US" dirty="0"/>
          </a:p>
          <a:p>
            <a:pPr lvl="1" fontAlgn="base"/>
            <a:r>
              <a:rPr lang="en-US" b="1" dirty="0"/>
              <a:t>Method Decorators:</a:t>
            </a:r>
            <a:r>
              <a:rPr lang="en-US" dirty="0"/>
              <a:t> @HostListener (This decorator is used for methods inside a class like a click, mouse hover, etc.)</a:t>
            </a:r>
          </a:p>
          <a:p>
            <a:pPr lvl="1" fontAlgn="base"/>
            <a:endParaRPr lang="en-US" dirty="0"/>
          </a:p>
          <a:p>
            <a:pPr lvl="1" fontAlgn="base"/>
            <a:r>
              <a:rPr lang="en-US" b="1" dirty="0"/>
              <a:t>Parameter Decorators:</a:t>
            </a:r>
            <a:r>
              <a:rPr lang="en-US" dirty="0"/>
              <a:t> @Inject (This decorator is used inside class constructor).</a:t>
            </a:r>
          </a:p>
          <a:p>
            <a:endParaRPr lang="en-IN" dirty="0"/>
          </a:p>
        </p:txBody>
      </p:sp>
    </p:spTree>
    <p:extLst>
      <p:ext uri="{BB962C8B-B14F-4D97-AF65-F5344CB8AC3E}">
        <p14:creationId xmlns:p14="http://schemas.microsoft.com/office/powerpoint/2010/main" val="186291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6126887-0B1F-4F18-9DDC-1064E21141A5}"/>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B6A2992-D9E0-D046-3EBC-596905C1B48E}"/>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pic>
        <p:nvPicPr>
          <p:cNvPr id="2" name="Picture 2" descr="@NgModule in Angular in Detail">
            <a:extLst>
              <a:ext uri="{FF2B5EF4-FFF2-40B4-BE49-F238E27FC236}">
                <a16:creationId xmlns:a16="http://schemas.microsoft.com/office/drawing/2014/main" id="{0D47580E-029C-2CC7-D7D1-8832AD66C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252" y="1149724"/>
            <a:ext cx="6497956" cy="3267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573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4BD17395-DAE4-612C-2CF3-57A05693951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515AAA4-743A-433A-94C0-1FD2C42C9E9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pic>
        <p:nvPicPr>
          <p:cNvPr id="3" name="Picture 2" descr="Declarations Array (declarations) in NgModule">
            <a:extLst>
              <a:ext uri="{FF2B5EF4-FFF2-40B4-BE49-F238E27FC236}">
                <a16:creationId xmlns:a16="http://schemas.microsoft.com/office/drawing/2014/main" id="{C42CBBCA-AAF5-4ED3-F7FA-ED810A3FC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037674"/>
            <a:ext cx="2978991" cy="18264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What exactly a module is in angular?">
            <a:extLst>
              <a:ext uri="{FF2B5EF4-FFF2-40B4-BE49-F238E27FC236}">
                <a16:creationId xmlns:a16="http://schemas.microsoft.com/office/drawing/2014/main" id="{B1530426-85B5-521E-297F-16D68B1298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1015" y="1120962"/>
            <a:ext cx="4287980" cy="3520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807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7244592-E330-B372-3DE0-51E749D325C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89077AC-AED8-82D5-4995-35CB5327837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What is an Angular Component?</a:t>
            </a:r>
            <a:endParaRPr lang="en-IN" sz="2400" b="1" dirty="0"/>
          </a:p>
        </p:txBody>
      </p:sp>
      <p:sp>
        <p:nvSpPr>
          <p:cNvPr id="6" name="TextBox 5">
            <a:extLst>
              <a:ext uri="{FF2B5EF4-FFF2-40B4-BE49-F238E27FC236}">
                <a16:creationId xmlns:a16="http://schemas.microsoft.com/office/drawing/2014/main" id="{9637F1A3-6591-7FED-F12B-FE6ECC561FD6}"/>
              </a:ext>
            </a:extLst>
          </p:cNvPr>
          <p:cNvSpPr txBox="1"/>
          <p:nvPr/>
        </p:nvSpPr>
        <p:spPr>
          <a:xfrm>
            <a:off x="426945" y="1132650"/>
            <a:ext cx="7063068" cy="3539430"/>
          </a:xfrm>
          <a:prstGeom prst="rect">
            <a:avLst/>
          </a:prstGeom>
          <a:noFill/>
        </p:spPr>
        <p:txBody>
          <a:bodyPr wrap="square">
            <a:spAutoFit/>
          </a:bodyPr>
          <a:lstStyle/>
          <a:p>
            <a:r>
              <a:rPr lang="en-US" dirty="0"/>
              <a:t>The Angular Component is the main building block of an Angular application.</a:t>
            </a:r>
          </a:p>
          <a:p>
            <a:endParaRPr lang="en-US" dirty="0"/>
          </a:p>
          <a:p>
            <a:r>
              <a:rPr lang="en-US" dirty="0"/>
              <a:t>The Component contains the data and user interaction logic that define how the View looks and behaves. A view in Angular refers to a template (HTML).</a:t>
            </a:r>
          </a:p>
          <a:p>
            <a:endParaRPr lang="en-US" dirty="0"/>
          </a:p>
          <a:p>
            <a:r>
              <a:rPr lang="en-US" dirty="0"/>
              <a:t>The Angular Components are plain JavaScript classes defined using the @Component Decorator. This Decorator provides the Component with a View to display and Metadata about the Component.</a:t>
            </a:r>
          </a:p>
          <a:p>
            <a:endParaRPr lang="en-US" dirty="0"/>
          </a:p>
          <a:p>
            <a:r>
              <a:rPr lang="en-US" dirty="0"/>
              <a:t>The Component is responsible for providing the data to the View. Angular uses data binding to get the data from the Component to the View and vice versa.</a:t>
            </a:r>
          </a:p>
          <a:p>
            <a:r>
              <a:rPr lang="en-US" dirty="0"/>
              <a:t>The Components consist of three main building blocks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Template</a:t>
            </a:r>
          </a:p>
          <a:p>
            <a:pPr marL="285750" indent="-285750">
              <a:buFont typeface="Arial" panose="020B0604020202020204" pitchFamily="34" charset="0"/>
              <a:buChar char="•"/>
            </a:pPr>
            <a:r>
              <a:rPr lang="en-US" dirty="0"/>
              <a:t>Class</a:t>
            </a:r>
          </a:p>
          <a:p>
            <a:pPr marL="285750" indent="-285750">
              <a:buFont typeface="Arial" panose="020B0604020202020204" pitchFamily="34" charset="0"/>
              <a:buChar char="•"/>
            </a:pPr>
            <a:r>
              <a:rPr lang="en-US" dirty="0" err="1"/>
              <a:t>MetaData</a:t>
            </a:r>
            <a:endParaRPr lang="en-IN" dirty="0"/>
          </a:p>
        </p:txBody>
      </p:sp>
    </p:spTree>
    <p:extLst>
      <p:ext uri="{BB962C8B-B14F-4D97-AF65-F5344CB8AC3E}">
        <p14:creationId xmlns:p14="http://schemas.microsoft.com/office/powerpoint/2010/main" val="1726927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F800182-AEAD-C0C2-4B7F-DED6908B844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9DD87CB-4F20-42B1-A1EB-A11834CB013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4" name="TextBox 3">
            <a:extLst>
              <a:ext uri="{FF2B5EF4-FFF2-40B4-BE49-F238E27FC236}">
                <a16:creationId xmlns:a16="http://schemas.microsoft.com/office/drawing/2014/main" id="{23C1B4F7-1B07-5901-A856-F96C81EF985F}"/>
              </a:ext>
            </a:extLst>
          </p:cNvPr>
          <p:cNvSpPr txBox="1"/>
          <p:nvPr/>
        </p:nvSpPr>
        <p:spPr>
          <a:xfrm>
            <a:off x="381000" y="1274862"/>
            <a:ext cx="4572000" cy="307777"/>
          </a:xfrm>
          <a:prstGeom prst="rect">
            <a:avLst/>
          </a:prstGeom>
          <a:noFill/>
        </p:spPr>
        <p:txBody>
          <a:bodyPr wrap="square">
            <a:spAutoFit/>
          </a:bodyPr>
          <a:lstStyle/>
          <a:p>
            <a:r>
              <a:rPr lang="en-IN" dirty="0"/>
              <a:t>Component Metadata Example</a:t>
            </a:r>
          </a:p>
        </p:txBody>
      </p:sp>
      <p:sp>
        <p:nvSpPr>
          <p:cNvPr id="5" name="Rectangle 4">
            <a:extLst>
              <a:ext uri="{FF2B5EF4-FFF2-40B4-BE49-F238E27FC236}">
                <a16:creationId xmlns:a16="http://schemas.microsoft.com/office/drawing/2014/main" id="{44900F46-E7A6-60FE-17B7-61BF9D81C5F3}"/>
              </a:ext>
            </a:extLst>
          </p:cNvPr>
          <p:cNvSpPr/>
          <p:nvPr/>
        </p:nvSpPr>
        <p:spPr>
          <a:xfrm>
            <a:off x="524436" y="1728341"/>
            <a:ext cx="4572000" cy="1384995"/>
          </a:xfrm>
          <a:prstGeom prst="rect">
            <a:avLst/>
          </a:prstGeom>
        </p:spPr>
        <p:txBody>
          <a:bodyPr wrap="square">
            <a:spAutoFit/>
          </a:bodyPr>
          <a:lstStyle/>
          <a:p>
            <a:r>
              <a:rPr lang="en-IN" dirty="0"/>
              <a:t>@Component({</a:t>
            </a:r>
          </a:p>
          <a:p>
            <a:r>
              <a:rPr lang="en-IN" dirty="0"/>
              <a:t>  selector: 'app-login',</a:t>
            </a:r>
          </a:p>
          <a:p>
            <a:r>
              <a:rPr lang="en-IN" dirty="0"/>
              <a:t>  </a:t>
            </a:r>
            <a:r>
              <a:rPr lang="en-IN" dirty="0" err="1"/>
              <a:t>templateUrl</a:t>
            </a:r>
            <a:r>
              <a:rPr lang="en-IN" dirty="0"/>
              <a:t>: './login.component.html',</a:t>
            </a:r>
          </a:p>
          <a:p>
            <a:r>
              <a:rPr lang="en-IN" dirty="0"/>
              <a:t>  </a:t>
            </a:r>
            <a:r>
              <a:rPr lang="en-IN" dirty="0" err="1"/>
              <a:t>styleUrls</a:t>
            </a:r>
            <a:r>
              <a:rPr lang="en-IN" dirty="0"/>
              <a:t>: ['./login.component.css']</a:t>
            </a:r>
          </a:p>
          <a:p>
            <a:r>
              <a:rPr lang="en-IN" dirty="0"/>
              <a:t>})</a:t>
            </a:r>
          </a:p>
          <a:p>
            <a:r>
              <a:rPr lang="en-IN" dirty="0"/>
              <a:t>export class </a:t>
            </a:r>
            <a:r>
              <a:rPr lang="en-IN" dirty="0" err="1"/>
              <a:t>LoginComponent</a:t>
            </a:r>
            <a:r>
              <a:rPr lang="en-IN" dirty="0"/>
              <a:t> {}</a:t>
            </a:r>
          </a:p>
        </p:txBody>
      </p:sp>
      <p:graphicFrame>
        <p:nvGraphicFramePr>
          <p:cNvPr id="6" name="Table 5">
            <a:extLst>
              <a:ext uri="{FF2B5EF4-FFF2-40B4-BE49-F238E27FC236}">
                <a16:creationId xmlns:a16="http://schemas.microsoft.com/office/drawing/2014/main" id="{70BB44A6-CE72-68B2-9F42-EE1F79302387}"/>
              </a:ext>
            </a:extLst>
          </p:cNvPr>
          <p:cNvGraphicFramePr>
            <a:graphicFrameLocks noGrp="1"/>
          </p:cNvGraphicFramePr>
          <p:nvPr>
            <p:extLst>
              <p:ext uri="{D42A27DB-BD31-4B8C-83A1-F6EECF244321}">
                <p14:modId xmlns:p14="http://schemas.microsoft.com/office/powerpoint/2010/main" val="3087600326"/>
              </p:ext>
            </p:extLst>
          </p:nvPr>
        </p:nvGraphicFramePr>
        <p:xfrm>
          <a:off x="381000" y="3259038"/>
          <a:ext cx="6829926" cy="1219200"/>
        </p:xfrm>
        <a:graphic>
          <a:graphicData uri="http://schemas.openxmlformats.org/drawingml/2006/table">
            <a:tbl>
              <a:tblPr>
                <a:tableStyleId>{5940675A-B579-460E-94D1-54222C63F5DA}</a:tableStyleId>
              </a:tblPr>
              <a:tblGrid>
                <a:gridCol w="3414963">
                  <a:extLst>
                    <a:ext uri="{9D8B030D-6E8A-4147-A177-3AD203B41FA5}">
                      <a16:colId xmlns:a16="http://schemas.microsoft.com/office/drawing/2014/main" val="20000"/>
                    </a:ext>
                  </a:extLst>
                </a:gridCol>
                <a:gridCol w="3414963">
                  <a:extLst>
                    <a:ext uri="{9D8B030D-6E8A-4147-A177-3AD203B41FA5}">
                      <a16:colId xmlns:a16="http://schemas.microsoft.com/office/drawing/2014/main" val="20001"/>
                    </a:ext>
                  </a:extLst>
                </a:gridCol>
              </a:tblGrid>
              <a:tr h="214558">
                <a:tc>
                  <a:txBody>
                    <a:bodyPr/>
                    <a:lstStyle/>
                    <a:p>
                      <a:r>
                        <a:rPr lang="en-IN" b="1" dirty="0"/>
                        <a:t>Field</a:t>
                      </a:r>
                    </a:p>
                  </a:txBody>
                  <a:tcPr anchor="ctr"/>
                </a:tc>
                <a:tc>
                  <a:txBody>
                    <a:bodyPr/>
                    <a:lstStyle/>
                    <a:p>
                      <a:r>
                        <a:rPr lang="en-IN" b="1" dirty="0"/>
                        <a:t>Description</a:t>
                      </a:r>
                    </a:p>
                  </a:txBody>
                  <a:tcPr anchor="ctr"/>
                </a:tc>
                <a:extLst>
                  <a:ext uri="{0D108BD9-81ED-4DB2-BD59-A6C34878D82A}">
                    <a16:rowId xmlns:a16="http://schemas.microsoft.com/office/drawing/2014/main" val="10000"/>
                  </a:ext>
                </a:extLst>
              </a:tr>
              <a:tr h="214558">
                <a:tc>
                  <a:txBody>
                    <a:bodyPr/>
                    <a:lstStyle/>
                    <a:p>
                      <a:r>
                        <a:rPr lang="en-IN"/>
                        <a:t>selector</a:t>
                      </a:r>
                    </a:p>
                  </a:txBody>
                  <a:tcPr anchor="ctr"/>
                </a:tc>
                <a:tc>
                  <a:txBody>
                    <a:bodyPr/>
                    <a:lstStyle/>
                    <a:p>
                      <a:r>
                        <a:rPr lang="en-IN" dirty="0"/>
                        <a:t>Custom HTML tag</a:t>
                      </a:r>
                    </a:p>
                  </a:txBody>
                  <a:tcPr anchor="ctr"/>
                </a:tc>
                <a:extLst>
                  <a:ext uri="{0D108BD9-81ED-4DB2-BD59-A6C34878D82A}">
                    <a16:rowId xmlns:a16="http://schemas.microsoft.com/office/drawing/2014/main" val="10001"/>
                  </a:ext>
                </a:extLst>
              </a:tr>
              <a:tr h="214558">
                <a:tc>
                  <a:txBody>
                    <a:bodyPr/>
                    <a:lstStyle/>
                    <a:p>
                      <a:r>
                        <a:rPr lang="en-IN"/>
                        <a:t>templateUrl</a:t>
                      </a:r>
                    </a:p>
                  </a:txBody>
                  <a:tcPr anchor="ctr"/>
                </a:tc>
                <a:tc>
                  <a:txBody>
                    <a:bodyPr/>
                    <a:lstStyle/>
                    <a:p>
                      <a:r>
                        <a:rPr lang="en-IN" dirty="0"/>
                        <a:t>HTML file</a:t>
                      </a:r>
                    </a:p>
                  </a:txBody>
                  <a:tcPr anchor="ctr"/>
                </a:tc>
                <a:extLst>
                  <a:ext uri="{0D108BD9-81ED-4DB2-BD59-A6C34878D82A}">
                    <a16:rowId xmlns:a16="http://schemas.microsoft.com/office/drawing/2014/main" val="10002"/>
                  </a:ext>
                </a:extLst>
              </a:tr>
              <a:tr h="214558">
                <a:tc>
                  <a:txBody>
                    <a:bodyPr/>
                    <a:lstStyle/>
                    <a:p>
                      <a:r>
                        <a:rPr lang="en-IN"/>
                        <a:t>styleUrls</a:t>
                      </a:r>
                    </a:p>
                  </a:txBody>
                  <a:tcPr anchor="ctr"/>
                </a:tc>
                <a:tc>
                  <a:txBody>
                    <a:bodyPr/>
                    <a:lstStyle/>
                    <a:p>
                      <a:r>
                        <a:rPr lang="en-IN" dirty="0"/>
                        <a:t>CSS files</a:t>
                      </a:r>
                    </a:p>
                  </a:txBody>
                  <a:tcPr anchor="ctr"/>
                </a:tc>
                <a:extLst>
                  <a:ext uri="{0D108BD9-81ED-4DB2-BD59-A6C34878D82A}">
                    <a16:rowId xmlns:a16="http://schemas.microsoft.com/office/drawing/2014/main" val="10003"/>
                  </a:ext>
                </a:extLst>
              </a:tr>
            </a:tbl>
          </a:graphicData>
        </a:graphic>
      </p:graphicFrame>
      <p:pic>
        <p:nvPicPr>
          <p:cNvPr id="24578" name="Picture 2" descr="Building Blocks of Angular Component Template, Metadata and Class">
            <a:extLst>
              <a:ext uri="{FF2B5EF4-FFF2-40B4-BE49-F238E27FC236}">
                <a16:creationId xmlns:a16="http://schemas.microsoft.com/office/drawing/2014/main" id="{6480D8AF-3A09-2541-A66C-FD09096E1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5963" y="774452"/>
            <a:ext cx="3962990" cy="2411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944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821F539-780C-7B02-3BF7-8CB24C00426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E1B0AEC-993B-1499-C544-A54E057D65C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4" name="TextBox 3">
            <a:extLst>
              <a:ext uri="{FF2B5EF4-FFF2-40B4-BE49-F238E27FC236}">
                <a16:creationId xmlns:a16="http://schemas.microsoft.com/office/drawing/2014/main" id="{93959FE6-579C-0381-335E-2AA80E6270BC}"/>
              </a:ext>
            </a:extLst>
          </p:cNvPr>
          <p:cNvSpPr txBox="1"/>
          <p:nvPr/>
        </p:nvSpPr>
        <p:spPr>
          <a:xfrm>
            <a:off x="381000" y="1274862"/>
            <a:ext cx="4572000" cy="307777"/>
          </a:xfrm>
          <a:prstGeom prst="rect">
            <a:avLst/>
          </a:prstGeom>
          <a:noFill/>
        </p:spPr>
        <p:txBody>
          <a:bodyPr wrap="square">
            <a:spAutoFit/>
          </a:bodyPr>
          <a:lstStyle/>
          <a:p>
            <a:r>
              <a:rPr lang="en-IN" dirty="0"/>
              <a:t>Component Metadata Example</a:t>
            </a:r>
          </a:p>
        </p:txBody>
      </p:sp>
      <p:pic>
        <p:nvPicPr>
          <p:cNvPr id="31746" name="Picture 2" descr="HelloWorldComponent as Root Angular Component">
            <a:extLst>
              <a:ext uri="{FF2B5EF4-FFF2-40B4-BE49-F238E27FC236}">
                <a16:creationId xmlns:a16="http://schemas.microsoft.com/office/drawing/2014/main" id="{F8FF39B6-635F-B024-35CB-6D3822CA3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257" y="1582639"/>
            <a:ext cx="6017559" cy="3148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979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710160A-EAD8-15EE-281C-517B00E9418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1197192-1DEC-F798-6A37-000D4F01878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4" name="TextBox 3">
            <a:extLst>
              <a:ext uri="{FF2B5EF4-FFF2-40B4-BE49-F238E27FC236}">
                <a16:creationId xmlns:a16="http://schemas.microsoft.com/office/drawing/2014/main" id="{04029CB2-2821-749D-13F9-A7A6F1C1BF28}"/>
              </a:ext>
            </a:extLst>
          </p:cNvPr>
          <p:cNvSpPr txBox="1"/>
          <p:nvPr/>
        </p:nvSpPr>
        <p:spPr>
          <a:xfrm>
            <a:off x="381000" y="1274862"/>
            <a:ext cx="4572000" cy="307777"/>
          </a:xfrm>
          <a:prstGeom prst="rect">
            <a:avLst/>
          </a:prstGeom>
          <a:noFill/>
        </p:spPr>
        <p:txBody>
          <a:bodyPr wrap="square">
            <a:spAutoFit/>
          </a:bodyPr>
          <a:lstStyle/>
          <a:p>
            <a:r>
              <a:rPr lang="en-IN" dirty="0"/>
              <a:t>Component Metadata Example</a:t>
            </a:r>
          </a:p>
        </p:txBody>
      </p:sp>
      <p:pic>
        <p:nvPicPr>
          <p:cNvPr id="32770" name="Picture 2" descr="Multiple Root Angular Components in Angular">
            <a:extLst>
              <a:ext uri="{FF2B5EF4-FFF2-40B4-BE49-F238E27FC236}">
                <a16:creationId xmlns:a16="http://schemas.microsoft.com/office/drawing/2014/main" id="{357A5AC4-25B0-7718-A16C-49DA77E5A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1514" y="1679798"/>
            <a:ext cx="5906621" cy="3107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388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949CD35-2982-ED12-F370-1B5ECD6EF16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E07177F-B20E-D7B7-63A2-F8907CCBD458}"/>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pPr lvl="0" eaLnBrk="0" fontAlgn="base" hangingPunct="0">
              <a:spcBef>
                <a:spcPct val="0"/>
              </a:spcBef>
              <a:spcAft>
                <a:spcPct val="0"/>
              </a:spcAft>
              <a:buClrTx/>
            </a:pPr>
            <a:r>
              <a:rPr lang="en-US" altLang="en-US" sz="2400" dirty="0"/>
              <a:t>Data Binding Deep Dive</a:t>
            </a:r>
          </a:p>
        </p:txBody>
      </p:sp>
      <p:graphicFrame>
        <p:nvGraphicFramePr>
          <p:cNvPr id="2" name="Table 1">
            <a:extLst>
              <a:ext uri="{FF2B5EF4-FFF2-40B4-BE49-F238E27FC236}">
                <a16:creationId xmlns:a16="http://schemas.microsoft.com/office/drawing/2014/main" id="{04FD22E0-50A7-F975-BA50-6990EBAD1F2F}"/>
              </a:ext>
            </a:extLst>
          </p:cNvPr>
          <p:cNvGraphicFramePr>
            <a:graphicFrameLocks noGrp="1"/>
          </p:cNvGraphicFramePr>
          <p:nvPr>
            <p:extLst>
              <p:ext uri="{D42A27DB-BD31-4B8C-83A1-F6EECF244321}">
                <p14:modId xmlns:p14="http://schemas.microsoft.com/office/powerpoint/2010/main" val="2184264415"/>
              </p:ext>
            </p:extLst>
          </p:nvPr>
        </p:nvGraphicFramePr>
        <p:xfrm>
          <a:off x="381000" y="2737809"/>
          <a:ext cx="7680512" cy="1950720"/>
        </p:xfrm>
        <a:graphic>
          <a:graphicData uri="http://schemas.openxmlformats.org/drawingml/2006/table">
            <a:tbl>
              <a:tblPr>
                <a:tableStyleId>{5940675A-B579-460E-94D1-54222C63F5DA}</a:tableStyleId>
              </a:tblPr>
              <a:tblGrid>
                <a:gridCol w="2584076">
                  <a:extLst>
                    <a:ext uri="{9D8B030D-6E8A-4147-A177-3AD203B41FA5}">
                      <a16:colId xmlns:a16="http://schemas.microsoft.com/office/drawing/2014/main" val="4039343338"/>
                    </a:ext>
                  </a:extLst>
                </a:gridCol>
                <a:gridCol w="1593477">
                  <a:extLst>
                    <a:ext uri="{9D8B030D-6E8A-4147-A177-3AD203B41FA5}">
                      <a16:colId xmlns:a16="http://schemas.microsoft.com/office/drawing/2014/main" val="764053388"/>
                    </a:ext>
                  </a:extLst>
                </a:gridCol>
                <a:gridCol w="1808629">
                  <a:extLst>
                    <a:ext uri="{9D8B030D-6E8A-4147-A177-3AD203B41FA5}">
                      <a16:colId xmlns:a16="http://schemas.microsoft.com/office/drawing/2014/main" val="1835559487"/>
                    </a:ext>
                  </a:extLst>
                </a:gridCol>
                <a:gridCol w="1694330">
                  <a:extLst>
                    <a:ext uri="{9D8B030D-6E8A-4147-A177-3AD203B41FA5}">
                      <a16:colId xmlns:a16="http://schemas.microsoft.com/office/drawing/2014/main" val="4098628345"/>
                    </a:ext>
                  </a:extLst>
                </a:gridCol>
              </a:tblGrid>
              <a:tr h="0">
                <a:tc>
                  <a:txBody>
                    <a:bodyPr/>
                    <a:lstStyle/>
                    <a:p>
                      <a:pPr>
                        <a:buNone/>
                      </a:pPr>
                      <a:r>
                        <a:rPr lang="en-IN" b="1"/>
                        <a:t>Type</a:t>
                      </a:r>
                    </a:p>
                  </a:txBody>
                  <a:tcPr anchor="ctr"/>
                </a:tc>
                <a:tc>
                  <a:txBody>
                    <a:bodyPr/>
                    <a:lstStyle/>
                    <a:p>
                      <a:pPr>
                        <a:buNone/>
                      </a:pPr>
                      <a:r>
                        <a:rPr lang="en-IN" b="1"/>
                        <a:t>Syntax</a:t>
                      </a:r>
                    </a:p>
                  </a:txBody>
                  <a:tcPr anchor="ctr"/>
                </a:tc>
                <a:tc>
                  <a:txBody>
                    <a:bodyPr/>
                    <a:lstStyle/>
                    <a:p>
                      <a:pPr>
                        <a:buNone/>
                      </a:pPr>
                      <a:r>
                        <a:rPr lang="en-IN" b="1" dirty="0"/>
                        <a:t>Direction</a:t>
                      </a:r>
                    </a:p>
                  </a:txBody>
                  <a:tcPr anchor="ctr"/>
                </a:tc>
                <a:tc>
                  <a:txBody>
                    <a:bodyPr/>
                    <a:lstStyle/>
                    <a:p>
                      <a:r>
                        <a:rPr lang="en-IN" b="1" dirty="0"/>
                        <a:t>Direction</a:t>
                      </a:r>
                    </a:p>
                  </a:txBody>
                  <a:tcPr anchor="ctr"/>
                </a:tc>
                <a:extLst>
                  <a:ext uri="{0D108BD9-81ED-4DB2-BD59-A6C34878D82A}">
                    <a16:rowId xmlns:a16="http://schemas.microsoft.com/office/drawing/2014/main" val="1081243304"/>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Interpolation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1" i="0" u="none" strike="noStrike" cap="none" dirty="0">
                          <a:solidFill>
                            <a:schemeClr val="tx1"/>
                          </a:solidFill>
                          <a:effectLst/>
                          <a:latin typeface="+mn-lt"/>
                          <a:ea typeface="+mn-ea"/>
                          <a:cs typeface="+mn-cs"/>
                          <a:sym typeface="Arial"/>
                        </a:rPr>
                        <a:t>One-way Data Binding</a:t>
                      </a:r>
                    </a:p>
                    <a:p>
                      <a:pPr>
                        <a:buNone/>
                      </a:pPr>
                      <a:endParaRPr lang="en-IN" dirty="0"/>
                    </a:p>
                  </a:txBody>
                  <a:tcPr anchor="ctr"/>
                </a:tc>
                <a:tc>
                  <a:txBody>
                    <a:bodyPr/>
                    <a:lstStyle/>
                    <a:p>
                      <a:pPr>
                        <a:buNone/>
                      </a:pPr>
                      <a:r>
                        <a:rPr lang="en-IN" dirty="0"/>
                        <a:t>{{ }}</a:t>
                      </a:r>
                    </a:p>
                  </a:txBody>
                  <a:tcPr anchor="ctr"/>
                </a:tc>
                <a:tc>
                  <a:txBody>
                    <a:bodyPr/>
                    <a:lstStyle/>
                    <a:p>
                      <a:pPr>
                        <a:buNone/>
                      </a:pPr>
                      <a:r>
                        <a:rPr lang="en-IN" dirty="0"/>
                        <a:t>Component → View</a:t>
                      </a:r>
                    </a:p>
                  </a:txBody>
                  <a:tcPr anchor="ctr"/>
                </a:tc>
                <a:tc>
                  <a:txBody>
                    <a:bodyPr/>
                    <a:lstStyle/>
                    <a:p>
                      <a:r>
                        <a:rPr lang="en-IN" dirty="0"/>
                        <a:t>TS → HTML</a:t>
                      </a:r>
                    </a:p>
                  </a:txBody>
                  <a:tcPr anchor="ctr"/>
                </a:tc>
                <a:extLst>
                  <a:ext uri="{0D108BD9-81ED-4DB2-BD59-A6C34878D82A}">
                    <a16:rowId xmlns:a16="http://schemas.microsoft.com/office/drawing/2014/main" val="3257570264"/>
                  </a:ext>
                </a:extLst>
              </a:tr>
              <a:tr h="0">
                <a:tc>
                  <a:txBody>
                    <a:bodyPr/>
                    <a:lstStyle/>
                    <a:p>
                      <a:pPr>
                        <a:buNone/>
                      </a:pPr>
                      <a:r>
                        <a:rPr lang="en-IN"/>
                        <a:t>Property Binding</a:t>
                      </a:r>
                    </a:p>
                  </a:txBody>
                  <a:tcPr anchor="ctr"/>
                </a:tc>
                <a:tc>
                  <a:txBody>
                    <a:bodyPr/>
                    <a:lstStyle/>
                    <a:p>
                      <a:pPr>
                        <a:buNone/>
                      </a:pPr>
                      <a:r>
                        <a:rPr lang="en-IN" dirty="0"/>
                        <a:t>[property]</a:t>
                      </a:r>
                    </a:p>
                  </a:txBody>
                  <a:tcPr anchor="ctr"/>
                </a:tc>
                <a:tc>
                  <a:txBody>
                    <a:bodyPr/>
                    <a:lstStyle/>
                    <a:p>
                      <a:pPr>
                        <a:buNone/>
                      </a:pPr>
                      <a:r>
                        <a:rPr lang="en-IN" dirty="0"/>
                        <a:t>Component → View</a:t>
                      </a:r>
                    </a:p>
                  </a:txBody>
                  <a:tcPr anchor="ctr"/>
                </a:tc>
                <a:tc>
                  <a:txBody>
                    <a:bodyPr/>
                    <a:lstStyle/>
                    <a:p>
                      <a:r>
                        <a:rPr lang="en-IN" dirty="0"/>
                        <a:t>TS → HTML</a:t>
                      </a:r>
                    </a:p>
                  </a:txBody>
                  <a:tcPr anchor="ctr"/>
                </a:tc>
                <a:extLst>
                  <a:ext uri="{0D108BD9-81ED-4DB2-BD59-A6C34878D82A}">
                    <a16:rowId xmlns:a16="http://schemas.microsoft.com/office/drawing/2014/main" val="3088139145"/>
                  </a:ext>
                </a:extLst>
              </a:tr>
              <a:tr h="0">
                <a:tc>
                  <a:txBody>
                    <a:bodyPr/>
                    <a:lstStyle/>
                    <a:p>
                      <a:pPr>
                        <a:buNone/>
                      </a:pPr>
                      <a:r>
                        <a:rPr lang="en-IN"/>
                        <a:t>Event Binding</a:t>
                      </a:r>
                    </a:p>
                  </a:txBody>
                  <a:tcPr anchor="ctr"/>
                </a:tc>
                <a:tc>
                  <a:txBody>
                    <a:bodyPr/>
                    <a:lstStyle/>
                    <a:p>
                      <a:pPr>
                        <a:buNone/>
                      </a:pPr>
                      <a:r>
                        <a:rPr lang="en-IN"/>
                        <a:t>(event)</a:t>
                      </a:r>
                    </a:p>
                  </a:txBody>
                  <a:tcPr anchor="ctr"/>
                </a:tc>
                <a:tc>
                  <a:txBody>
                    <a:bodyPr/>
                    <a:lstStyle/>
                    <a:p>
                      <a:pPr>
                        <a:buNone/>
                      </a:pPr>
                      <a:r>
                        <a:rPr lang="en-IN"/>
                        <a:t>View → Component</a:t>
                      </a:r>
                    </a:p>
                  </a:txBody>
                  <a:tcPr anchor="ctr"/>
                </a:tc>
                <a:tc>
                  <a:txBody>
                    <a:bodyPr/>
                    <a:lstStyle/>
                    <a:p>
                      <a:r>
                        <a:rPr lang="en-IN" dirty="0"/>
                        <a:t>HTML → TS</a:t>
                      </a:r>
                    </a:p>
                  </a:txBody>
                  <a:tcPr anchor="ctr"/>
                </a:tc>
                <a:extLst>
                  <a:ext uri="{0D108BD9-81ED-4DB2-BD59-A6C34878D82A}">
                    <a16:rowId xmlns:a16="http://schemas.microsoft.com/office/drawing/2014/main" val="2943117841"/>
                  </a:ext>
                </a:extLst>
              </a:tr>
              <a:tr h="0">
                <a:tc>
                  <a:txBody>
                    <a:bodyPr/>
                    <a:lstStyle/>
                    <a:p>
                      <a:pPr>
                        <a:buNone/>
                      </a:pPr>
                      <a:r>
                        <a:rPr lang="en-IN" dirty="0"/>
                        <a:t>Two-way Binding</a:t>
                      </a:r>
                    </a:p>
                  </a:txBody>
                  <a:tcPr anchor="ctr"/>
                </a:tc>
                <a:tc>
                  <a:txBody>
                    <a:bodyPr/>
                    <a:lstStyle/>
                    <a:p>
                      <a:pPr>
                        <a:buNone/>
                      </a:pPr>
                      <a:r>
                        <a:rPr lang="en-IN" dirty="0"/>
                        <a:t>[(</a:t>
                      </a:r>
                      <a:r>
                        <a:rPr lang="en-IN" dirty="0" err="1"/>
                        <a:t>ngModel</a:t>
                      </a:r>
                      <a:r>
                        <a:rPr lang="en-IN" dirty="0"/>
                        <a:t>)]</a:t>
                      </a:r>
                    </a:p>
                  </a:txBody>
                  <a:tcPr anchor="ctr"/>
                </a:tc>
                <a:tc>
                  <a:txBody>
                    <a:bodyPr/>
                    <a:lstStyle/>
                    <a:p>
                      <a:pPr>
                        <a:buNone/>
                      </a:pPr>
                      <a:r>
                        <a:rPr lang="en-IN" dirty="0"/>
                        <a:t>Component ↔ View</a:t>
                      </a:r>
                    </a:p>
                  </a:txBody>
                  <a:tcPr anchor="ctr"/>
                </a:tc>
                <a:tc>
                  <a:txBody>
                    <a:bodyPr/>
                    <a:lstStyle/>
                    <a:p>
                      <a:r>
                        <a:rPr lang="en-IN" dirty="0"/>
                        <a:t>TS ⇄ HTML</a:t>
                      </a:r>
                    </a:p>
                  </a:txBody>
                  <a:tcPr anchor="ctr"/>
                </a:tc>
                <a:extLst>
                  <a:ext uri="{0D108BD9-81ED-4DB2-BD59-A6C34878D82A}">
                    <a16:rowId xmlns:a16="http://schemas.microsoft.com/office/drawing/2014/main" val="1843433042"/>
                  </a:ext>
                </a:extLst>
              </a:tr>
            </a:tbl>
          </a:graphicData>
        </a:graphic>
      </p:graphicFrame>
      <p:sp>
        <p:nvSpPr>
          <p:cNvPr id="3" name="Rectangle 1">
            <a:extLst>
              <a:ext uri="{FF2B5EF4-FFF2-40B4-BE49-F238E27FC236}">
                <a16:creationId xmlns:a16="http://schemas.microsoft.com/office/drawing/2014/main" id="{A6CE5B75-0FCF-3AE5-F12C-99AC3CBD977E}"/>
              </a:ext>
            </a:extLst>
          </p:cNvPr>
          <p:cNvSpPr>
            <a:spLocks noChangeArrowheads="1"/>
          </p:cNvSpPr>
          <p:nvPr/>
        </p:nvSpPr>
        <p:spPr bwMode="auto">
          <a:xfrm>
            <a:off x="460561" y="881691"/>
            <a:ext cx="7500098"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dirty="0"/>
              <a:t>Data Binding connects the Component (TypeScript) with the Template (HTML).</a:t>
            </a:r>
          </a:p>
          <a:p>
            <a:pPr lvl="0" eaLnBrk="0" fontAlgn="base" hangingPunct="0">
              <a:spcBef>
                <a:spcPct val="0"/>
              </a:spcBef>
              <a:spcAft>
                <a:spcPct val="0"/>
              </a:spcAft>
              <a:buClrTx/>
            </a:pPr>
            <a:r>
              <a:rPr lang="en-US" altLang="en-US" dirty="0"/>
              <a:t>It allows data to flow between UI and application logic.</a:t>
            </a:r>
          </a:p>
          <a:p>
            <a:pPr lvl="0" eaLnBrk="0" fontAlgn="base" hangingPunct="0">
              <a:spcBef>
                <a:spcPct val="0"/>
              </a:spcBef>
              <a:spcAft>
                <a:spcPct val="0"/>
              </a:spcAft>
              <a:buClrTx/>
            </a:pPr>
            <a:endParaRPr lang="en-US" altLang="en-US" dirty="0"/>
          </a:p>
          <a:p>
            <a:pPr lvl="0" eaLnBrk="0" fontAlgn="base" hangingPunct="0">
              <a:spcBef>
                <a:spcPct val="0"/>
              </a:spcBef>
              <a:spcAft>
                <a:spcPct val="0"/>
              </a:spcAft>
              <a:buClrTx/>
            </a:pPr>
            <a:r>
              <a:rPr lang="en-US" dirty="0"/>
              <a:t>Data binding is the communication mechanism between the component's business logic (TypeScript) and the template (HTML).</a:t>
            </a:r>
          </a:p>
          <a:p>
            <a:pPr lvl="0" eaLnBrk="0" fontAlgn="base" hangingPunct="0">
              <a:spcBef>
                <a:spcPct val="0"/>
              </a:spcBef>
              <a:spcAft>
                <a:spcPct val="0"/>
              </a:spcAft>
              <a:buClrTx/>
            </a:pPr>
            <a:endParaRPr lang="en-US" altLang="en-US" dirty="0"/>
          </a:p>
          <a:p>
            <a:pPr lvl="0" eaLnBrk="0" fontAlgn="base" hangingPunct="0">
              <a:spcBef>
                <a:spcPct val="0"/>
              </a:spcBef>
              <a:spcAft>
                <a:spcPct val="0"/>
              </a:spcAft>
              <a:buClrTx/>
            </a:pPr>
            <a:r>
              <a:rPr lang="en-US" altLang="en-US" dirty="0"/>
              <a:t>Angular provides 4 types of data binding:</a:t>
            </a:r>
          </a:p>
        </p:txBody>
      </p:sp>
    </p:spTree>
    <p:extLst>
      <p:ext uri="{BB962C8B-B14F-4D97-AF65-F5344CB8AC3E}">
        <p14:creationId xmlns:p14="http://schemas.microsoft.com/office/powerpoint/2010/main" val="3026481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0692435B-BE4D-9E3E-634C-F106B35A0B8A}"/>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1BDF279-1155-308C-E83B-4053B23E38B7}"/>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One-Way Data Binding</a:t>
            </a:r>
            <a:endParaRPr lang="en-IN" sz="2400" b="1" dirty="0"/>
          </a:p>
        </p:txBody>
      </p:sp>
      <p:sp>
        <p:nvSpPr>
          <p:cNvPr id="4" name="Rectangle 3">
            <a:extLst>
              <a:ext uri="{FF2B5EF4-FFF2-40B4-BE49-F238E27FC236}">
                <a16:creationId xmlns:a16="http://schemas.microsoft.com/office/drawing/2014/main" id="{0FEFFF08-CDED-D053-509E-0D3605309DA3}"/>
              </a:ext>
            </a:extLst>
          </p:cNvPr>
          <p:cNvSpPr/>
          <p:nvPr/>
        </p:nvSpPr>
        <p:spPr>
          <a:xfrm>
            <a:off x="381000" y="1056670"/>
            <a:ext cx="8582696" cy="307777"/>
          </a:xfrm>
          <a:prstGeom prst="rect">
            <a:avLst/>
          </a:prstGeom>
        </p:spPr>
        <p:txBody>
          <a:bodyPr wrap="square">
            <a:spAutoFit/>
          </a:bodyPr>
          <a:lstStyle/>
          <a:p>
            <a:r>
              <a:rPr lang="en-US" dirty="0"/>
              <a:t>Angular automatically updates the </a:t>
            </a:r>
            <a:r>
              <a:rPr lang="en-US" b="1" dirty="0"/>
              <a:t>view when component data changes</a:t>
            </a:r>
            <a:r>
              <a:rPr lang="en-US" dirty="0"/>
              <a:t>.</a:t>
            </a:r>
          </a:p>
        </p:txBody>
      </p:sp>
      <p:sp>
        <p:nvSpPr>
          <p:cNvPr id="5" name="TextBox 4">
            <a:extLst>
              <a:ext uri="{FF2B5EF4-FFF2-40B4-BE49-F238E27FC236}">
                <a16:creationId xmlns:a16="http://schemas.microsoft.com/office/drawing/2014/main" id="{4B115728-D5A5-B973-DB1F-EDDE8879740E}"/>
              </a:ext>
            </a:extLst>
          </p:cNvPr>
          <p:cNvSpPr txBox="1"/>
          <p:nvPr/>
        </p:nvSpPr>
        <p:spPr>
          <a:xfrm>
            <a:off x="638736" y="1886122"/>
            <a:ext cx="4572000" cy="2246769"/>
          </a:xfrm>
          <a:prstGeom prst="rect">
            <a:avLst/>
          </a:prstGeom>
          <a:noFill/>
        </p:spPr>
        <p:txBody>
          <a:bodyPr wrap="square">
            <a:spAutoFit/>
          </a:bodyPr>
          <a:lstStyle/>
          <a:p>
            <a:r>
              <a:rPr lang="en-IN" dirty="0" err="1"/>
              <a:t>app.ts</a:t>
            </a:r>
            <a:endParaRPr lang="en-IN" dirty="0"/>
          </a:p>
          <a:p>
            <a:endParaRPr lang="en-IN" dirty="0"/>
          </a:p>
          <a:p>
            <a:r>
              <a:rPr lang="en-IN" dirty="0"/>
              <a:t>// </a:t>
            </a:r>
            <a:r>
              <a:rPr lang="en-IN" dirty="0" err="1"/>
              <a:t>component.ts</a:t>
            </a:r>
            <a:endParaRPr lang="en-IN" dirty="0"/>
          </a:p>
          <a:p>
            <a:r>
              <a:rPr lang="en-IN" dirty="0"/>
              <a:t>export class </a:t>
            </a:r>
            <a:r>
              <a:rPr lang="en-IN" dirty="0" err="1"/>
              <a:t>AppComponent</a:t>
            </a:r>
            <a:r>
              <a:rPr lang="en-IN" dirty="0"/>
              <a:t> {</a:t>
            </a:r>
          </a:p>
          <a:p>
            <a:r>
              <a:rPr lang="en-IN" dirty="0"/>
              <a:t>  title = 'My App';</a:t>
            </a:r>
          </a:p>
          <a:p>
            <a:r>
              <a:rPr lang="en-IN" dirty="0"/>
              <a:t>  user = { name: 'John', age: 30 };</a:t>
            </a:r>
          </a:p>
          <a:p>
            <a:r>
              <a:rPr lang="en-IN" dirty="0"/>
              <a:t>  </a:t>
            </a:r>
            <a:r>
              <a:rPr lang="en-IN" dirty="0" err="1"/>
              <a:t>getGreeting</a:t>
            </a:r>
            <a:r>
              <a:rPr lang="en-IN" dirty="0"/>
              <a:t>() {</a:t>
            </a:r>
          </a:p>
          <a:p>
            <a:r>
              <a:rPr lang="en-IN" dirty="0"/>
              <a:t>    return 'Hello ' + this.user.name;</a:t>
            </a:r>
          </a:p>
          <a:p>
            <a:r>
              <a:rPr lang="en-IN" dirty="0"/>
              <a:t>  }</a:t>
            </a:r>
          </a:p>
          <a:p>
            <a:r>
              <a:rPr lang="en-IN" dirty="0"/>
              <a:t>}</a:t>
            </a:r>
          </a:p>
        </p:txBody>
      </p:sp>
      <p:sp>
        <p:nvSpPr>
          <p:cNvPr id="7" name="TextBox 6">
            <a:extLst>
              <a:ext uri="{FF2B5EF4-FFF2-40B4-BE49-F238E27FC236}">
                <a16:creationId xmlns:a16="http://schemas.microsoft.com/office/drawing/2014/main" id="{2A559C6A-FD62-EB77-D3B7-39E38D9A8BB0}"/>
              </a:ext>
            </a:extLst>
          </p:cNvPr>
          <p:cNvSpPr txBox="1"/>
          <p:nvPr/>
        </p:nvSpPr>
        <p:spPr>
          <a:xfrm>
            <a:off x="4296335" y="1886122"/>
            <a:ext cx="4572000" cy="1600438"/>
          </a:xfrm>
          <a:prstGeom prst="rect">
            <a:avLst/>
          </a:prstGeom>
          <a:noFill/>
        </p:spPr>
        <p:txBody>
          <a:bodyPr wrap="square">
            <a:spAutoFit/>
          </a:bodyPr>
          <a:lstStyle/>
          <a:p>
            <a:r>
              <a:rPr lang="en-IN" b="1" dirty="0"/>
              <a:t>app.html</a:t>
            </a:r>
          </a:p>
          <a:p>
            <a:endParaRPr lang="en-IN" dirty="0"/>
          </a:p>
          <a:p>
            <a:endParaRPr lang="en-IN" dirty="0"/>
          </a:p>
          <a:p>
            <a:pPr latinLnBrk="1"/>
            <a:r>
              <a:rPr lang="en-IN" dirty="0"/>
              <a:t>&lt;h1&gt;{{ title }}&lt;/h1&gt;</a:t>
            </a:r>
          </a:p>
          <a:p>
            <a:pPr latinLnBrk="1"/>
            <a:r>
              <a:rPr lang="en-IN" dirty="0"/>
              <a:t>&lt;p&gt;User: {{ user.name }}, Age: {{ </a:t>
            </a:r>
            <a:r>
              <a:rPr lang="en-IN" dirty="0" err="1"/>
              <a:t>user.age</a:t>
            </a:r>
            <a:r>
              <a:rPr lang="en-IN" dirty="0"/>
              <a:t> }}&lt;/p&gt;</a:t>
            </a:r>
          </a:p>
          <a:p>
            <a:pPr latinLnBrk="1"/>
            <a:r>
              <a:rPr lang="en-IN" dirty="0"/>
              <a:t>&lt;p&gt;{{ </a:t>
            </a:r>
            <a:r>
              <a:rPr lang="en-IN" dirty="0" err="1"/>
              <a:t>getGreeting</a:t>
            </a:r>
            <a:r>
              <a:rPr lang="en-IN" dirty="0"/>
              <a:t>() }}&lt;/p&gt;</a:t>
            </a:r>
          </a:p>
          <a:p>
            <a:pPr latinLnBrk="1"/>
            <a:r>
              <a:rPr lang="en-IN" dirty="0"/>
              <a:t>&lt;p&gt;{{ 5 + 5 }}&lt;/p&gt;</a:t>
            </a:r>
          </a:p>
        </p:txBody>
      </p:sp>
    </p:spTree>
    <p:extLst>
      <p:ext uri="{BB962C8B-B14F-4D97-AF65-F5344CB8AC3E}">
        <p14:creationId xmlns:p14="http://schemas.microsoft.com/office/powerpoint/2010/main" val="400521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25D9DBF-B7F6-552E-69BA-BBE501B47754}"/>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FC3664B-9415-5ED5-9E2E-0F988F0762ED}"/>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Property binding</a:t>
            </a:r>
            <a:endParaRPr lang="en-IN" sz="2400" b="1" dirty="0"/>
          </a:p>
        </p:txBody>
      </p:sp>
      <p:sp>
        <p:nvSpPr>
          <p:cNvPr id="4" name="Rectangle 3">
            <a:extLst>
              <a:ext uri="{FF2B5EF4-FFF2-40B4-BE49-F238E27FC236}">
                <a16:creationId xmlns:a16="http://schemas.microsoft.com/office/drawing/2014/main" id="{D2338CEF-EEA2-D553-F8A7-B72D55B39DD4}"/>
              </a:ext>
            </a:extLst>
          </p:cNvPr>
          <p:cNvSpPr/>
          <p:nvPr/>
        </p:nvSpPr>
        <p:spPr>
          <a:xfrm>
            <a:off x="381000" y="1056670"/>
            <a:ext cx="8582696" cy="1384995"/>
          </a:xfrm>
          <a:prstGeom prst="rect">
            <a:avLst/>
          </a:prstGeom>
        </p:spPr>
        <p:txBody>
          <a:bodyPr wrap="square">
            <a:spAutoFit/>
          </a:bodyPr>
          <a:lstStyle/>
          <a:p>
            <a:r>
              <a:rPr lang="en-US" dirty="0"/>
              <a:t>The Property binding allows us to bind HTML element property to a property in the component. </a:t>
            </a:r>
          </a:p>
          <a:p>
            <a:endParaRPr lang="en-US" dirty="0"/>
          </a:p>
          <a:p>
            <a:r>
              <a:rPr lang="en-US" dirty="0"/>
              <a:t>Whenever the value of the component changes, the Angular updates the element property in the View. </a:t>
            </a:r>
          </a:p>
          <a:p>
            <a:endParaRPr lang="en-US" dirty="0"/>
          </a:p>
          <a:p>
            <a:r>
              <a:rPr lang="en-US" dirty="0"/>
              <a:t>You can set the properties such as class, </a:t>
            </a:r>
            <a:r>
              <a:rPr lang="en-US" dirty="0" err="1"/>
              <a:t>href</a:t>
            </a:r>
            <a:r>
              <a:rPr lang="en-US" dirty="0"/>
              <a:t>, </a:t>
            </a:r>
            <a:r>
              <a:rPr lang="en-US" dirty="0" err="1"/>
              <a:t>src</a:t>
            </a:r>
            <a:r>
              <a:rPr lang="en-US" dirty="0"/>
              <a:t>, </a:t>
            </a:r>
            <a:r>
              <a:rPr lang="en-US" dirty="0" err="1"/>
              <a:t>textContent</a:t>
            </a:r>
            <a:r>
              <a:rPr lang="en-US" dirty="0"/>
              <a:t>, </a:t>
            </a:r>
            <a:r>
              <a:rPr lang="en-US" dirty="0" err="1"/>
              <a:t>etc</a:t>
            </a:r>
            <a:r>
              <a:rPr lang="en-US" dirty="0"/>
              <a:t> using property binding. You can also use it to set the properties of custom components or directives (properties decorated with @Input).</a:t>
            </a:r>
          </a:p>
        </p:txBody>
      </p:sp>
      <p:sp>
        <p:nvSpPr>
          <p:cNvPr id="5" name="TextBox 4">
            <a:extLst>
              <a:ext uri="{FF2B5EF4-FFF2-40B4-BE49-F238E27FC236}">
                <a16:creationId xmlns:a16="http://schemas.microsoft.com/office/drawing/2014/main" id="{3D7C96E4-347A-048D-7162-04B08CC66FDB}"/>
              </a:ext>
            </a:extLst>
          </p:cNvPr>
          <p:cNvSpPr txBox="1"/>
          <p:nvPr/>
        </p:nvSpPr>
        <p:spPr>
          <a:xfrm>
            <a:off x="381000" y="2441665"/>
            <a:ext cx="4572000" cy="2031325"/>
          </a:xfrm>
          <a:prstGeom prst="rect">
            <a:avLst/>
          </a:prstGeom>
          <a:noFill/>
        </p:spPr>
        <p:txBody>
          <a:bodyPr wrap="square">
            <a:spAutoFit/>
          </a:bodyPr>
          <a:lstStyle/>
          <a:p>
            <a:r>
              <a:rPr lang="en-IN" dirty="0" err="1"/>
              <a:t>app.ts</a:t>
            </a:r>
            <a:endParaRPr lang="en-IN" dirty="0"/>
          </a:p>
          <a:p>
            <a:endParaRPr lang="en-IN" dirty="0"/>
          </a:p>
          <a:p>
            <a:r>
              <a:rPr lang="en-IN" dirty="0"/>
              <a:t>&lt;!-- Bind to DOM properties --&gt;</a:t>
            </a:r>
          </a:p>
          <a:p>
            <a:r>
              <a:rPr lang="en-IN" dirty="0"/>
              <a:t>&lt;</a:t>
            </a:r>
            <a:r>
              <a:rPr lang="en-IN" dirty="0" err="1"/>
              <a:t>img</a:t>
            </a:r>
            <a:r>
              <a:rPr lang="en-IN" dirty="0"/>
              <a:t> [</a:t>
            </a:r>
            <a:r>
              <a:rPr lang="en-IN" dirty="0" err="1"/>
              <a:t>src</a:t>
            </a:r>
            <a:r>
              <a:rPr lang="en-IN" dirty="0"/>
              <a:t>]="</a:t>
            </a:r>
            <a:r>
              <a:rPr lang="en-IN" dirty="0" err="1"/>
              <a:t>imageUrl</a:t>
            </a:r>
            <a:r>
              <a:rPr lang="en-IN" dirty="0"/>
              <a:t>"&gt;</a:t>
            </a:r>
          </a:p>
          <a:p>
            <a:r>
              <a:rPr lang="en-IN" dirty="0"/>
              <a:t>&lt;button [disabled]="</a:t>
            </a:r>
            <a:r>
              <a:rPr lang="en-IN" dirty="0" err="1"/>
              <a:t>isDisabled</a:t>
            </a:r>
            <a:r>
              <a:rPr lang="en-IN" dirty="0"/>
              <a:t>"&gt;Click me&lt;/button&gt;</a:t>
            </a:r>
          </a:p>
          <a:p>
            <a:r>
              <a:rPr lang="en-IN" dirty="0"/>
              <a:t>&lt;div [</a:t>
            </a:r>
            <a:r>
              <a:rPr lang="en-IN" dirty="0" err="1"/>
              <a:t>innerHTML</a:t>
            </a:r>
            <a:r>
              <a:rPr lang="en-IN" dirty="0"/>
              <a:t>]="</a:t>
            </a:r>
            <a:r>
              <a:rPr lang="en-IN" dirty="0" err="1"/>
              <a:t>htmlContent</a:t>
            </a:r>
            <a:r>
              <a:rPr lang="en-IN" dirty="0"/>
              <a:t>"&gt;&lt;/div&gt;</a:t>
            </a:r>
          </a:p>
          <a:p>
            <a:endParaRPr lang="en-IN" dirty="0"/>
          </a:p>
          <a:p>
            <a:r>
              <a:rPr lang="en-IN" dirty="0"/>
              <a:t>&lt;!-- Bind to custom component @Input() --&gt;</a:t>
            </a:r>
          </a:p>
          <a:p>
            <a:r>
              <a:rPr lang="en-IN" dirty="0"/>
              <a:t>&lt;app-child [</a:t>
            </a:r>
            <a:r>
              <a:rPr lang="en-IN" dirty="0" err="1"/>
              <a:t>childProperty</a:t>
            </a:r>
            <a:r>
              <a:rPr lang="en-IN" dirty="0"/>
              <a:t>]="</a:t>
            </a:r>
            <a:r>
              <a:rPr lang="en-IN" dirty="0" err="1"/>
              <a:t>parentData</a:t>
            </a:r>
            <a:r>
              <a:rPr lang="en-IN" dirty="0"/>
              <a:t>"&gt;&lt;/app-child&gt;</a:t>
            </a:r>
          </a:p>
        </p:txBody>
      </p:sp>
    </p:spTree>
    <p:extLst>
      <p:ext uri="{BB962C8B-B14F-4D97-AF65-F5344CB8AC3E}">
        <p14:creationId xmlns:p14="http://schemas.microsoft.com/office/powerpoint/2010/main" val="377376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7E5049C-BF16-1F1D-409C-003AD522E157}"/>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3B5E74B4-8699-C60E-A4B1-3DA400594310}"/>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Event Binding</a:t>
            </a:r>
            <a:endParaRPr lang="en-IN" sz="2400" b="1" dirty="0"/>
          </a:p>
        </p:txBody>
      </p:sp>
      <p:sp>
        <p:nvSpPr>
          <p:cNvPr id="4" name="Rectangle 3">
            <a:extLst>
              <a:ext uri="{FF2B5EF4-FFF2-40B4-BE49-F238E27FC236}">
                <a16:creationId xmlns:a16="http://schemas.microsoft.com/office/drawing/2014/main" id="{5193F804-ED79-BC14-B1AC-A294EFA91595}"/>
              </a:ext>
            </a:extLst>
          </p:cNvPr>
          <p:cNvSpPr/>
          <p:nvPr/>
        </p:nvSpPr>
        <p:spPr>
          <a:xfrm>
            <a:off x="381000" y="1056670"/>
            <a:ext cx="8582696" cy="2031325"/>
          </a:xfrm>
          <a:prstGeom prst="rect">
            <a:avLst/>
          </a:prstGeom>
        </p:spPr>
        <p:txBody>
          <a:bodyPr wrap="square">
            <a:spAutoFit/>
          </a:bodyPr>
          <a:lstStyle/>
          <a:p>
            <a:r>
              <a:rPr lang="en-US" dirty="0"/>
              <a:t>Event binding allows us to bind events such as keystrokes, clicks, hover, touch, </a:t>
            </a:r>
            <a:r>
              <a:rPr lang="en-US" dirty="0" err="1"/>
              <a:t>etc</a:t>
            </a:r>
            <a:r>
              <a:rPr lang="en-US" dirty="0"/>
              <a:t> to a method in component. It is one way from view to component. </a:t>
            </a:r>
          </a:p>
          <a:p>
            <a:endParaRPr lang="en-US" dirty="0"/>
          </a:p>
          <a:p>
            <a:r>
              <a:rPr lang="en-US" dirty="0"/>
              <a:t>By tracking the user events in the view and responding to it, we can keep our component in sync with the view. </a:t>
            </a:r>
          </a:p>
          <a:p>
            <a:endParaRPr lang="en-US" dirty="0"/>
          </a:p>
          <a:p>
            <a:r>
              <a:rPr lang="en-US" dirty="0"/>
              <a:t>For Example, when the user changes input in a text box, we can update the model in the component, run some validations, etc. When the user submits the button, we can then save the model to the backend server.</a:t>
            </a:r>
          </a:p>
        </p:txBody>
      </p:sp>
      <p:sp>
        <p:nvSpPr>
          <p:cNvPr id="3" name="TextBox 2">
            <a:extLst>
              <a:ext uri="{FF2B5EF4-FFF2-40B4-BE49-F238E27FC236}">
                <a16:creationId xmlns:a16="http://schemas.microsoft.com/office/drawing/2014/main" id="{7881B3C2-EE30-4C0A-C2B5-2A2A277B9048}"/>
              </a:ext>
            </a:extLst>
          </p:cNvPr>
          <p:cNvSpPr txBox="1"/>
          <p:nvPr/>
        </p:nvSpPr>
        <p:spPr>
          <a:xfrm>
            <a:off x="1324536" y="3269697"/>
            <a:ext cx="4572000" cy="307777"/>
          </a:xfrm>
          <a:prstGeom prst="rect">
            <a:avLst/>
          </a:prstGeom>
          <a:noFill/>
        </p:spPr>
        <p:txBody>
          <a:bodyPr wrap="square">
            <a:spAutoFit/>
          </a:bodyPr>
          <a:lstStyle/>
          <a:p>
            <a:r>
              <a:rPr lang="en-US" b="0" i="0" dirty="0">
                <a:solidFill>
                  <a:srgbClr val="000000"/>
                </a:solidFill>
                <a:effectLst/>
                <a:latin typeface="Courier 10 Pitch"/>
              </a:rPr>
              <a:t>&lt;button (click)="</a:t>
            </a:r>
            <a:r>
              <a:rPr lang="en-US" b="0" i="0" dirty="0" err="1">
                <a:solidFill>
                  <a:srgbClr val="000000"/>
                </a:solidFill>
                <a:effectLst/>
                <a:latin typeface="Courier 10 Pitch"/>
              </a:rPr>
              <a:t>onSave</a:t>
            </a:r>
            <a:r>
              <a:rPr lang="en-US" b="0" i="0" dirty="0">
                <a:solidFill>
                  <a:srgbClr val="000000"/>
                </a:solidFill>
                <a:effectLst/>
                <a:latin typeface="Courier 10 Pitch"/>
              </a:rPr>
              <a:t>()"&gt;Save&lt;/button&gt;</a:t>
            </a:r>
            <a:endParaRPr lang="en-IN" dirty="0"/>
          </a:p>
        </p:txBody>
      </p:sp>
    </p:spTree>
    <p:extLst>
      <p:ext uri="{BB962C8B-B14F-4D97-AF65-F5344CB8AC3E}">
        <p14:creationId xmlns:p14="http://schemas.microsoft.com/office/powerpoint/2010/main" val="356026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88BF16C6-285D-3028-6F1D-221D55738FB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56A897D-7C62-D382-AD5B-D04DDC8766A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Two Way binding</a:t>
            </a:r>
            <a:endParaRPr lang="en-IN" sz="2400" b="1" dirty="0"/>
          </a:p>
        </p:txBody>
      </p:sp>
      <p:sp>
        <p:nvSpPr>
          <p:cNvPr id="4" name="Rectangle 3">
            <a:extLst>
              <a:ext uri="{FF2B5EF4-FFF2-40B4-BE49-F238E27FC236}">
                <a16:creationId xmlns:a16="http://schemas.microsoft.com/office/drawing/2014/main" id="{E24AFA16-C742-AE4B-1B34-706A31421224}"/>
              </a:ext>
            </a:extLst>
          </p:cNvPr>
          <p:cNvSpPr/>
          <p:nvPr/>
        </p:nvSpPr>
        <p:spPr>
          <a:xfrm>
            <a:off x="381000" y="1056670"/>
            <a:ext cx="8582696" cy="1384995"/>
          </a:xfrm>
          <a:prstGeom prst="rect">
            <a:avLst/>
          </a:prstGeom>
        </p:spPr>
        <p:txBody>
          <a:bodyPr wrap="square">
            <a:spAutoFit/>
          </a:bodyPr>
          <a:lstStyle/>
          <a:p>
            <a:r>
              <a:rPr lang="en-US" dirty="0"/>
              <a:t>Two-way binding means that changes made to our model in the component are propagated to the view and that any changes made in the view are immediately updated in the underlying component</a:t>
            </a:r>
          </a:p>
          <a:p>
            <a:endParaRPr lang="en-US" dirty="0"/>
          </a:p>
          <a:p>
            <a:r>
              <a:rPr lang="en-US" dirty="0"/>
              <a:t>Two-way binding is useful in data entry forms. Whenever a user makes changes to a form field, we would like to update our model. Similarly, when we update the model with new data, we would like to update the view as well</a:t>
            </a:r>
          </a:p>
        </p:txBody>
      </p:sp>
      <p:sp>
        <p:nvSpPr>
          <p:cNvPr id="3" name="TextBox 2">
            <a:extLst>
              <a:ext uri="{FF2B5EF4-FFF2-40B4-BE49-F238E27FC236}">
                <a16:creationId xmlns:a16="http://schemas.microsoft.com/office/drawing/2014/main" id="{0A5DEA4C-4A92-F06E-F069-B5D710EF406D}"/>
              </a:ext>
            </a:extLst>
          </p:cNvPr>
          <p:cNvSpPr txBox="1"/>
          <p:nvPr/>
        </p:nvSpPr>
        <p:spPr>
          <a:xfrm>
            <a:off x="1351429" y="2969046"/>
            <a:ext cx="6125135" cy="307777"/>
          </a:xfrm>
          <a:prstGeom prst="rect">
            <a:avLst/>
          </a:prstGeom>
          <a:noFill/>
        </p:spPr>
        <p:txBody>
          <a:bodyPr wrap="square">
            <a:spAutoFit/>
          </a:bodyPr>
          <a:lstStyle/>
          <a:p>
            <a:r>
              <a:rPr lang="en-US" b="0" i="0" dirty="0">
                <a:solidFill>
                  <a:srgbClr val="000000"/>
                </a:solidFill>
                <a:effectLst/>
                <a:latin typeface="Courier 10 Pitch"/>
              </a:rPr>
              <a:t>&lt;input type="text" name="value" [(</a:t>
            </a:r>
            <a:r>
              <a:rPr lang="en-US" b="0" i="0" dirty="0" err="1">
                <a:solidFill>
                  <a:srgbClr val="000000"/>
                </a:solidFill>
                <a:effectLst/>
                <a:latin typeface="Courier 10 Pitch"/>
              </a:rPr>
              <a:t>ngModel</a:t>
            </a:r>
            <a:r>
              <a:rPr lang="en-US" b="0" i="0" dirty="0">
                <a:solidFill>
                  <a:srgbClr val="000000"/>
                </a:solidFill>
                <a:effectLst/>
                <a:latin typeface="Courier 10 Pitch"/>
              </a:rPr>
              <a:t>)]="value"&gt;</a:t>
            </a:r>
            <a:endParaRPr lang="en-IN" dirty="0"/>
          </a:p>
        </p:txBody>
      </p:sp>
    </p:spTree>
    <p:extLst>
      <p:ext uri="{BB962C8B-B14F-4D97-AF65-F5344CB8AC3E}">
        <p14:creationId xmlns:p14="http://schemas.microsoft.com/office/powerpoint/2010/main" val="237725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68219B4-C277-AD73-AA3C-A90CD0A40E6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0990A32C-7E0F-0BD8-8367-2F303FF6B1DB}"/>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Directives</a:t>
            </a:r>
            <a:endParaRPr lang="en-IN" sz="2400" b="1" dirty="0"/>
          </a:p>
        </p:txBody>
      </p:sp>
      <p:sp>
        <p:nvSpPr>
          <p:cNvPr id="7" name="TextBox 6">
            <a:extLst>
              <a:ext uri="{FF2B5EF4-FFF2-40B4-BE49-F238E27FC236}">
                <a16:creationId xmlns:a16="http://schemas.microsoft.com/office/drawing/2014/main" id="{5085951F-7FE2-EB8A-5815-5DF56B25775C}"/>
              </a:ext>
            </a:extLst>
          </p:cNvPr>
          <p:cNvSpPr txBox="1"/>
          <p:nvPr/>
        </p:nvSpPr>
        <p:spPr>
          <a:xfrm>
            <a:off x="381000" y="1044954"/>
            <a:ext cx="8023412" cy="3539430"/>
          </a:xfrm>
          <a:prstGeom prst="rect">
            <a:avLst/>
          </a:prstGeom>
          <a:noFill/>
        </p:spPr>
        <p:txBody>
          <a:bodyPr wrap="square">
            <a:spAutoFit/>
          </a:bodyPr>
          <a:lstStyle/>
          <a:p>
            <a:r>
              <a:rPr lang="en-US" dirty="0"/>
              <a:t>The Angular directive helps us to manipulate the DOM. You can change a DOM element’s appearance, behavior, or layout using the directives. </a:t>
            </a:r>
          </a:p>
          <a:p>
            <a:endParaRPr lang="en-US" dirty="0"/>
          </a:p>
          <a:p>
            <a:r>
              <a:rPr lang="en-US" dirty="0"/>
              <a:t>The </a:t>
            </a:r>
            <a:r>
              <a:rPr lang="en-US" b="1" dirty="0" err="1"/>
              <a:t>ngFor</a:t>
            </a:r>
            <a:r>
              <a:rPr lang="en-US" dirty="0"/>
              <a:t> is an Angular structural directive that repeats a portion of the HTML template once per each item from an </a:t>
            </a:r>
            <a:r>
              <a:rPr lang="en-US" dirty="0" err="1"/>
              <a:t>iterable</a:t>
            </a:r>
            <a:r>
              <a:rPr lang="en-US" dirty="0"/>
              <a:t> list (Collection). </a:t>
            </a:r>
          </a:p>
          <a:p>
            <a:endParaRPr lang="en-US" dirty="0"/>
          </a:p>
          <a:p>
            <a:r>
              <a:rPr lang="en-US" dirty="0"/>
              <a:t>The </a:t>
            </a:r>
            <a:r>
              <a:rPr lang="en-US" b="1" dirty="0" err="1"/>
              <a:t>ngSwitch</a:t>
            </a:r>
            <a:r>
              <a:rPr lang="en-US" dirty="0"/>
              <a:t> allows us to Add/Remove DOM elements. It is similar to the switch statement of </a:t>
            </a:r>
            <a:r>
              <a:rPr lang="en-US" dirty="0" err="1"/>
              <a:t>Javascript</a:t>
            </a:r>
            <a:r>
              <a:rPr lang="en-US" dirty="0"/>
              <a:t>.  </a:t>
            </a:r>
          </a:p>
          <a:p>
            <a:endParaRPr lang="en-US" dirty="0"/>
          </a:p>
          <a:p>
            <a:r>
              <a:rPr lang="en-US" dirty="0"/>
              <a:t>The </a:t>
            </a:r>
            <a:r>
              <a:rPr lang="en-US" b="1" dirty="0" err="1"/>
              <a:t>ngIf</a:t>
            </a:r>
            <a:r>
              <a:rPr lang="en-US" dirty="0"/>
              <a:t> allows us to Add/Remove DOM elements. </a:t>
            </a:r>
          </a:p>
          <a:p>
            <a:endParaRPr lang="en-US" dirty="0"/>
          </a:p>
          <a:p>
            <a:r>
              <a:rPr lang="en-US" dirty="0"/>
              <a:t>The </a:t>
            </a:r>
            <a:r>
              <a:rPr lang="en-US" b="1" dirty="0" err="1"/>
              <a:t>ngClass</a:t>
            </a:r>
            <a:r>
              <a:rPr lang="en-US" dirty="0"/>
              <a:t> Directive is an Angular Attribute Directive, which allows us to add or remove CSS classes to an HTML element. </a:t>
            </a:r>
          </a:p>
          <a:p>
            <a:endParaRPr lang="en-US" dirty="0"/>
          </a:p>
          <a:p>
            <a:r>
              <a:rPr lang="en-US" dirty="0"/>
              <a:t>The </a:t>
            </a:r>
            <a:r>
              <a:rPr lang="en-US" b="1" dirty="0" err="1"/>
              <a:t>ngStyle</a:t>
            </a:r>
            <a:r>
              <a:rPr lang="en-US" dirty="0"/>
              <a:t> directive allows you to modify the style of an HTML element using the expression.  </a:t>
            </a:r>
          </a:p>
          <a:p>
            <a:endParaRPr lang="en-US" dirty="0"/>
          </a:p>
        </p:txBody>
      </p:sp>
    </p:spTree>
    <p:extLst>
      <p:ext uri="{BB962C8B-B14F-4D97-AF65-F5344CB8AC3E}">
        <p14:creationId xmlns:p14="http://schemas.microsoft.com/office/powerpoint/2010/main" val="64946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A672964-5753-3E91-7035-5ED56D731B8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6D006229-C8DC-DA10-B21C-DE0125A8A9CB}"/>
              </a:ext>
            </a:extLst>
          </p:cNvPr>
          <p:cNvSpPr txBox="1"/>
          <p:nvPr/>
        </p:nvSpPr>
        <p:spPr>
          <a:xfrm>
            <a:off x="838200" y="388271"/>
            <a:ext cx="8382000" cy="553968"/>
          </a:xfrm>
          <a:prstGeom prst="rect">
            <a:avLst/>
          </a:prstGeom>
          <a:noFill/>
          <a:ln>
            <a:noFill/>
          </a:ln>
        </p:spPr>
        <p:txBody>
          <a:bodyPr spcFirstLastPara="1" wrap="square" lIns="91425" tIns="91425" rIns="91425" bIns="91425" anchor="t" anchorCtr="0">
            <a:spAutoFit/>
          </a:bodyPr>
          <a:lstStyle/>
          <a:p>
            <a:r>
              <a:rPr lang="en-IN" sz="2400" dirty="0"/>
              <a:t>Custom Directive creation </a:t>
            </a:r>
            <a:r>
              <a:rPr lang="en-IN" b="1" dirty="0"/>
              <a:t>Using Custom Directive </a:t>
            </a:r>
          </a:p>
        </p:txBody>
      </p:sp>
      <p:sp>
        <p:nvSpPr>
          <p:cNvPr id="4" name="Rectangle 3">
            <a:extLst>
              <a:ext uri="{FF2B5EF4-FFF2-40B4-BE49-F238E27FC236}">
                <a16:creationId xmlns:a16="http://schemas.microsoft.com/office/drawing/2014/main" id="{5B64E06E-75AF-08EA-290B-DFB53FF3DDB5}"/>
              </a:ext>
            </a:extLst>
          </p:cNvPr>
          <p:cNvSpPr/>
          <p:nvPr/>
        </p:nvSpPr>
        <p:spPr>
          <a:xfrm>
            <a:off x="381000" y="1056670"/>
            <a:ext cx="8582696" cy="1384995"/>
          </a:xfrm>
          <a:prstGeom prst="rect">
            <a:avLst/>
          </a:prstGeom>
        </p:spPr>
        <p:txBody>
          <a:bodyPr wrap="square">
            <a:spAutoFit/>
          </a:bodyPr>
          <a:lstStyle/>
          <a:p>
            <a:endParaRPr lang="en-IN" dirty="0"/>
          </a:p>
          <a:p>
            <a:r>
              <a:rPr lang="en-IN" dirty="0"/>
              <a:t>In Angular, a custom directive allows you to:</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Reuse </a:t>
            </a:r>
            <a:r>
              <a:rPr lang="en-IN" dirty="0" err="1"/>
              <a:t>behavior</a:t>
            </a:r>
            <a:r>
              <a:rPr lang="en-IN" dirty="0"/>
              <a:t> across multiple elements</a:t>
            </a:r>
          </a:p>
          <a:p>
            <a:pPr marL="285750" indent="-285750">
              <a:buFont typeface="Arial" panose="020B0604020202020204" pitchFamily="34" charset="0"/>
              <a:buChar char="•"/>
            </a:pPr>
            <a:r>
              <a:rPr lang="en-IN" dirty="0"/>
              <a:t>Encapsulate DOM logic</a:t>
            </a:r>
          </a:p>
          <a:p>
            <a:pPr marL="285750" indent="-285750">
              <a:buFont typeface="Arial" panose="020B0604020202020204" pitchFamily="34" charset="0"/>
              <a:buChar char="•"/>
            </a:pPr>
            <a:r>
              <a:rPr lang="en-IN" dirty="0"/>
              <a:t>Build enterprise-level reusable UI </a:t>
            </a:r>
            <a:r>
              <a:rPr lang="en-IN" dirty="0" err="1"/>
              <a:t>behavior</a:t>
            </a:r>
            <a:endParaRPr lang="en-IN" dirty="0"/>
          </a:p>
        </p:txBody>
      </p:sp>
      <p:graphicFrame>
        <p:nvGraphicFramePr>
          <p:cNvPr id="9" name="Table 8">
            <a:extLst>
              <a:ext uri="{FF2B5EF4-FFF2-40B4-BE49-F238E27FC236}">
                <a16:creationId xmlns:a16="http://schemas.microsoft.com/office/drawing/2014/main" id="{2B0E9362-8B5D-929D-2E6D-03DB342BFB4A}"/>
              </a:ext>
            </a:extLst>
          </p:cNvPr>
          <p:cNvGraphicFramePr>
            <a:graphicFrameLocks noGrp="1"/>
          </p:cNvGraphicFramePr>
          <p:nvPr>
            <p:extLst>
              <p:ext uri="{D42A27DB-BD31-4B8C-83A1-F6EECF244321}">
                <p14:modId xmlns:p14="http://schemas.microsoft.com/office/powerpoint/2010/main" val="3784894510"/>
              </p:ext>
            </p:extLst>
          </p:nvPr>
        </p:nvGraphicFramePr>
        <p:xfrm>
          <a:off x="581585" y="2833080"/>
          <a:ext cx="7886700" cy="914400"/>
        </p:xfrm>
        <a:graphic>
          <a:graphicData uri="http://schemas.openxmlformats.org/drawingml/2006/table">
            <a:tbl>
              <a:tblPr/>
              <a:tblGrid>
                <a:gridCol w="3943350">
                  <a:extLst>
                    <a:ext uri="{9D8B030D-6E8A-4147-A177-3AD203B41FA5}">
                      <a16:colId xmlns:a16="http://schemas.microsoft.com/office/drawing/2014/main" val="2360157735"/>
                    </a:ext>
                  </a:extLst>
                </a:gridCol>
                <a:gridCol w="3943350">
                  <a:extLst>
                    <a:ext uri="{9D8B030D-6E8A-4147-A177-3AD203B41FA5}">
                      <a16:colId xmlns:a16="http://schemas.microsoft.com/office/drawing/2014/main" val="2286049934"/>
                    </a:ext>
                  </a:extLst>
                </a:gridCol>
              </a:tblGrid>
              <a:tr h="0">
                <a:tc>
                  <a:txBody>
                    <a:bodyPr/>
                    <a:lstStyle/>
                    <a:p>
                      <a:pPr>
                        <a:buNone/>
                      </a:pPr>
                      <a:r>
                        <a:rPr lang="en-IN" b="1"/>
                        <a:t>Type</a:t>
                      </a:r>
                    </a:p>
                  </a:txBody>
                  <a:tcPr anchor="ctr">
                    <a:lnL>
                      <a:noFill/>
                    </a:lnL>
                    <a:lnR>
                      <a:noFill/>
                    </a:lnR>
                    <a:lnT>
                      <a:noFill/>
                    </a:lnT>
                    <a:lnB>
                      <a:noFill/>
                    </a:lnB>
                    <a:noFill/>
                  </a:tcPr>
                </a:tc>
                <a:tc>
                  <a:txBody>
                    <a:bodyPr/>
                    <a:lstStyle/>
                    <a:p>
                      <a:pPr>
                        <a:buNone/>
                      </a:pPr>
                      <a:r>
                        <a:rPr lang="en-IN" b="1" dirty="0"/>
                        <a:t>Purpose</a:t>
                      </a:r>
                    </a:p>
                  </a:txBody>
                  <a:tcPr anchor="ctr">
                    <a:lnL>
                      <a:noFill/>
                    </a:lnL>
                    <a:lnR>
                      <a:noFill/>
                    </a:lnR>
                    <a:lnT>
                      <a:noFill/>
                    </a:lnT>
                    <a:lnB>
                      <a:noFill/>
                    </a:lnB>
                    <a:noFill/>
                  </a:tcPr>
                </a:tc>
                <a:extLst>
                  <a:ext uri="{0D108BD9-81ED-4DB2-BD59-A6C34878D82A}">
                    <a16:rowId xmlns:a16="http://schemas.microsoft.com/office/drawing/2014/main" val="3057973080"/>
                  </a:ext>
                </a:extLst>
              </a:tr>
              <a:tr h="0">
                <a:tc>
                  <a:txBody>
                    <a:bodyPr/>
                    <a:lstStyle/>
                    <a:p>
                      <a:pPr>
                        <a:buNone/>
                      </a:pPr>
                      <a:r>
                        <a:rPr lang="en-IN"/>
                        <a:t>Attribute Directive</a:t>
                      </a:r>
                    </a:p>
                  </a:txBody>
                  <a:tcPr anchor="ctr">
                    <a:lnL>
                      <a:noFill/>
                    </a:lnL>
                    <a:lnR>
                      <a:noFill/>
                    </a:lnR>
                    <a:lnT>
                      <a:noFill/>
                    </a:lnT>
                    <a:lnB>
                      <a:noFill/>
                    </a:lnB>
                    <a:noFill/>
                  </a:tcPr>
                </a:tc>
                <a:tc>
                  <a:txBody>
                    <a:bodyPr/>
                    <a:lstStyle/>
                    <a:p>
                      <a:pPr>
                        <a:buNone/>
                      </a:pPr>
                      <a:r>
                        <a:rPr lang="en-IN"/>
                        <a:t>Change style/behavior</a:t>
                      </a:r>
                    </a:p>
                  </a:txBody>
                  <a:tcPr anchor="ctr">
                    <a:lnL>
                      <a:noFill/>
                    </a:lnL>
                    <a:lnR>
                      <a:noFill/>
                    </a:lnR>
                    <a:lnT>
                      <a:noFill/>
                    </a:lnT>
                    <a:lnB>
                      <a:noFill/>
                    </a:lnB>
                    <a:noFill/>
                  </a:tcPr>
                </a:tc>
                <a:extLst>
                  <a:ext uri="{0D108BD9-81ED-4DB2-BD59-A6C34878D82A}">
                    <a16:rowId xmlns:a16="http://schemas.microsoft.com/office/drawing/2014/main" val="3117563115"/>
                  </a:ext>
                </a:extLst>
              </a:tr>
              <a:tr h="0">
                <a:tc>
                  <a:txBody>
                    <a:bodyPr/>
                    <a:lstStyle/>
                    <a:p>
                      <a:pPr>
                        <a:buNone/>
                      </a:pPr>
                      <a:r>
                        <a:rPr lang="en-IN" dirty="0"/>
                        <a:t>Structural Directive</a:t>
                      </a:r>
                    </a:p>
                  </a:txBody>
                  <a:tcPr anchor="ctr">
                    <a:lnL>
                      <a:noFill/>
                    </a:lnL>
                    <a:lnR>
                      <a:noFill/>
                    </a:lnR>
                    <a:lnT>
                      <a:noFill/>
                    </a:lnT>
                    <a:lnB>
                      <a:noFill/>
                    </a:lnB>
                    <a:noFill/>
                  </a:tcPr>
                </a:tc>
                <a:tc>
                  <a:txBody>
                    <a:bodyPr/>
                    <a:lstStyle/>
                    <a:p>
                      <a:pPr>
                        <a:buNone/>
                      </a:pPr>
                      <a:r>
                        <a:rPr lang="en-IN" dirty="0"/>
                        <a:t>Change DOM structure</a:t>
                      </a:r>
                    </a:p>
                  </a:txBody>
                  <a:tcPr anchor="ctr">
                    <a:lnL>
                      <a:noFill/>
                    </a:lnL>
                    <a:lnR>
                      <a:noFill/>
                    </a:lnR>
                    <a:lnT>
                      <a:noFill/>
                    </a:lnT>
                    <a:lnB>
                      <a:noFill/>
                    </a:lnB>
                    <a:noFill/>
                  </a:tcPr>
                </a:tc>
                <a:extLst>
                  <a:ext uri="{0D108BD9-81ED-4DB2-BD59-A6C34878D82A}">
                    <a16:rowId xmlns:a16="http://schemas.microsoft.com/office/drawing/2014/main" val="3508354221"/>
                  </a:ext>
                </a:extLst>
              </a:tr>
            </a:tbl>
          </a:graphicData>
        </a:graphic>
      </p:graphicFrame>
    </p:spTree>
    <p:extLst>
      <p:ext uri="{BB962C8B-B14F-4D97-AF65-F5344CB8AC3E}">
        <p14:creationId xmlns:p14="http://schemas.microsoft.com/office/powerpoint/2010/main" val="425584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 calcmode="lin" valueType="num">
                                      <p:cBhvr additive="base">
                                        <p:cTn id="2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73E7847-2AA8-2C41-95D0-70098B3D80C7}"/>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8C02D12D-2DCA-ED5A-B942-7B9848F7E021}"/>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Pipes</a:t>
            </a:r>
            <a:endParaRPr lang="en-IN" sz="2400" b="1" dirty="0"/>
          </a:p>
        </p:txBody>
      </p:sp>
      <p:sp>
        <p:nvSpPr>
          <p:cNvPr id="7" name="TextBox 6">
            <a:extLst>
              <a:ext uri="{FF2B5EF4-FFF2-40B4-BE49-F238E27FC236}">
                <a16:creationId xmlns:a16="http://schemas.microsoft.com/office/drawing/2014/main" id="{0CD00E4C-0DE0-E0F5-0135-34EF1CBA1EA2}"/>
              </a:ext>
            </a:extLst>
          </p:cNvPr>
          <p:cNvSpPr txBox="1"/>
          <p:nvPr/>
        </p:nvSpPr>
        <p:spPr>
          <a:xfrm>
            <a:off x="381000" y="1448366"/>
            <a:ext cx="8023412" cy="2246769"/>
          </a:xfrm>
          <a:prstGeom prst="rect">
            <a:avLst/>
          </a:prstGeom>
          <a:noFill/>
        </p:spPr>
        <p:txBody>
          <a:bodyPr wrap="square">
            <a:spAutoFit/>
          </a:bodyPr>
          <a:lstStyle/>
          <a:p>
            <a:r>
              <a:rPr lang="en-IN" dirty="0"/>
              <a:t>The Angular pipes are used to Transform the Data. For Example, the Date pipe formats the date according to locale rules. We can pass arguments to pipe and chain pipes. Angular also allows us to create a Custom Pipe.</a:t>
            </a:r>
          </a:p>
          <a:p>
            <a:endParaRPr lang="en-IN" dirty="0"/>
          </a:p>
          <a:p>
            <a:r>
              <a:rPr lang="en-IN" dirty="0"/>
              <a:t>Angular Pipes</a:t>
            </a:r>
          </a:p>
          <a:p>
            <a:pPr marL="285750" indent="-285750">
              <a:buFont typeface="Arial" panose="020B0604020202020204" pitchFamily="34" charset="0"/>
              <a:buChar char="•"/>
            </a:pPr>
            <a:r>
              <a:rPr lang="en-IN" dirty="0"/>
              <a:t>Angular Custom Pipes</a:t>
            </a:r>
          </a:p>
          <a:p>
            <a:pPr marL="285750" indent="-285750">
              <a:buFont typeface="Arial" panose="020B0604020202020204" pitchFamily="34" charset="0"/>
              <a:buChar char="•"/>
            </a:pPr>
            <a:r>
              <a:rPr lang="en-IN" dirty="0"/>
              <a:t>Date Pipe</a:t>
            </a:r>
          </a:p>
          <a:p>
            <a:pPr marL="285750" indent="-285750">
              <a:buFont typeface="Arial" panose="020B0604020202020204" pitchFamily="34" charset="0"/>
              <a:buChar char="•"/>
            </a:pPr>
            <a:r>
              <a:rPr lang="en-IN" dirty="0"/>
              <a:t>Async Pipe</a:t>
            </a:r>
          </a:p>
          <a:p>
            <a:pPr marL="285750" indent="-285750">
              <a:buFont typeface="Arial" panose="020B0604020202020204" pitchFamily="34" charset="0"/>
              <a:buChar char="•"/>
            </a:pPr>
            <a:r>
              <a:rPr lang="en-IN" dirty="0" err="1"/>
              <a:t>KeyValue</a:t>
            </a:r>
            <a:r>
              <a:rPr lang="en-IN" dirty="0"/>
              <a:t> Pipe</a:t>
            </a:r>
          </a:p>
          <a:p>
            <a:pPr marL="285750" indent="-285750">
              <a:buFont typeface="Arial" panose="020B0604020202020204" pitchFamily="34" charset="0"/>
              <a:buChar char="•"/>
            </a:pPr>
            <a:r>
              <a:rPr lang="en-IN" dirty="0"/>
              <a:t>Using Pipes in Components &amp; Services</a:t>
            </a:r>
          </a:p>
        </p:txBody>
      </p:sp>
    </p:spTree>
    <p:extLst>
      <p:ext uri="{BB962C8B-B14F-4D97-AF65-F5344CB8AC3E}">
        <p14:creationId xmlns:p14="http://schemas.microsoft.com/office/powerpoint/2010/main" val="3586806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6007794" y="1088200"/>
            <a:ext cx="1768724" cy="17687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17"/>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p>
            <a:r>
              <a:rPr lang="en" sz="1600"/>
              <a:t>Benhar Charles Velankanni</a:t>
            </a:r>
            <a:endParaRPr sz="1600"/>
          </a:p>
        </p:txBody>
      </p:sp>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8A4D05-2C6B-4E3D-ACBF-D0F4E11F0DD3}">
  <ds:schemaRefs>
    <ds:schemaRef ds:uri="http://purl.org/dc/elements/1.1/"/>
    <ds:schemaRef ds:uri="http://schemas.microsoft.com/office/2006/metadata/properties"/>
    <ds:schemaRef ds:uri="http://schemas.microsoft.com/office/2006/documentManagement/types"/>
    <ds:schemaRef ds:uri="http://purl.org/dc/terms/"/>
    <ds:schemaRef ds:uri="9f6ad64a-8b6b-48eb-ae60-12a54eda0ca9"/>
    <ds:schemaRef ds:uri="http://purl.org/dc/dcmitype/"/>
    <ds:schemaRef ds:uri="http://schemas.microsoft.com/office/infopath/2007/PartnerControls"/>
    <ds:schemaRef ds:uri="http://schemas.openxmlformats.org/package/2006/metadata/core-properties"/>
    <ds:schemaRef ds:uri="70328ee1-d215-47f2-9f94-e66745c0848f"/>
    <ds:schemaRef ds:uri="http://www.w3.org/XML/1998/namespace"/>
  </ds:schemaRefs>
</ds:datastoreItem>
</file>

<file path=customXml/itemProps2.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5DA012-BBE1-41E3-B821-9BF2DDCA65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27329</TotalTime>
  <Words>1161</Words>
  <Application>Microsoft Office PowerPoint</Application>
  <PresentationFormat>On-screen Show (16:9)</PresentationFormat>
  <Paragraphs>181</Paragraphs>
  <Slides>21</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Courier 10 Pitch</vt:lpstr>
      <vt:lpstr>Proxima Nova Semibold</vt:lpstr>
      <vt:lpstr>Calibri</vt:lpstr>
      <vt:lpstr>Proxima Nova</vt:lpstr>
      <vt:lpstr>Arial</vt:lpstr>
      <vt:lpstr>Relevantz - Internal Slide Template</vt:lpstr>
      <vt:lpstr>Relevantz - Internal Slide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Benhar Charles V</cp:lastModifiedBy>
  <cp:revision>42</cp:revision>
  <dcterms:modified xsi:type="dcterms:W3CDTF">2026-03-18T13:28:56Z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