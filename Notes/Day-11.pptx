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7" r:id="rId5"/>
  </p:sldMasterIdLst>
  <p:notesMasterIdLst>
    <p:notesMasterId r:id="rId17"/>
  </p:notesMasterIdLst>
  <p:sldIdLst>
    <p:sldId id="361" r:id="rId6"/>
    <p:sldId id="377" r:id="rId7"/>
    <p:sldId id="378" r:id="rId8"/>
    <p:sldId id="379" r:id="rId9"/>
    <p:sldId id="380" r:id="rId10"/>
    <p:sldId id="398" r:id="rId11"/>
    <p:sldId id="381" r:id="rId12"/>
    <p:sldId id="399" r:id="rId13"/>
    <p:sldId id="310" r:id="rId14"/>
    <p:sldId id="311" r:id="rId15"/>
    <p:sldId id="313" r:id="rId16"/>
  </p:sldIdLst>
  <p:sldSz cx="9144000" cy="5143500" type="screen16x9"/>
  <p:notesSz cx="6858000" cy="9144000"/>
  <p:embeddedFontLst>
    <p:embeddedFont>
      <p:font typeface="Proxima Nova" panose="020B0604020202020204" charset="0"/>
      <p:regular r:id="rId18"/>
      <p:bold r:id="rId19"/>
      <p:italic r:id="rId20"/>
      <p:boldItalic r:id="rId21"/>
    </p:embeddedFont>
    <p:embeddedFont>
      <p:font typeface="Proxima Nova Semibold" panose="020B0604020202020204" charset="0"/>
      <p:regular r:id="rId22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95" roundtripDataSignature="AMtx7miPhXGxc0iE9gpBlCh+HQf++GaL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958573-18DD-4F4F-87A5-23D0A4D2D5AC}">
  <a:tblStyle styleId="{51958573-18DD-4F4F-87A5-23D0A4D2D5A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FDA3176-15EB-4DB9-A849-97660B76C8F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4472C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B9BAF51-D252-47A5-B818-23F1545D66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9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9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97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7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6.fntdata"/><Relationship Id="rId95" Type="http://customschemas.google.com/relationships/presentationmetadata" Target="metadata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7635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625e78053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27625e78053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90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475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468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93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170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D85CB453-61F3-7EC7-A23C-69741E26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64FC4051-9611-8243-B709-7B13FAF45D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E36B954C-AB84-608C-7D03-1BFDF3009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578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671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B428F8DA-A066-BB5B-AF10-3411720B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462A00AC-27C9-3500-0718-9EDBDEFCD6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0BBCFEB8-50C6-B199-DADF-E13297229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7534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860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863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50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/>
          <p:nvPr/>
        </p:nvSpPr>
        <p:spPr>
          <a:xfrm rot="10800000" flipH="1">
            <a:off x="457200" y="809428"/>
            <a:ext cx="32763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23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3" name="Google Shape;23;p23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25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6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" name="Google Shape;46;p26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7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7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" name="Google Shape;56;p27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7" name="Google Shape;57;p27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7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9" name="Google Shape;59;p27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0" name="Google Shape;60;p27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7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" name="Google Shape;62;p27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27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27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Pre -Tes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424543" y="143088"/>
            <a:ext cx="83193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sldNum" idx="12"/>
          </p:nvPr>
        </p:nvSpPr>
        <p:spPr>
          <a:xfrm>
            <a:off x="689491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28" descr="C:\Users\rajthilaks\Desktop\LogoPNG.png"/>
          <p:cNvPicPr preferRelativeResize="0"/>
          <p:nvPr/>
        </p:nvPicPr>
        <p:blipFill rotWithShape="1">
          <a:blip r:embed="rId3">
            <a:alphaModFix/>
          </a:blip>
          <a:srcRect b="23652"/>
          <a:stretch/>
        </p:blipFill>
        <p:spPr>
          <a:xfrm>
            <a:off x="8398669" y="139151"/>
            <a:ext cx="579129" cy="2364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" name="Google Shape;74;p28"/>
          <p:cNvGraphicFramePr/>
          <p:nvPr/>
        </p:nvGraphicFramePr>
        <p:xfrm>
          <a:off x="1317713" y="833000"/>
          <a:ext cx="6221200" cy="3742000"/>
        </p:xfrm>
        <a:graphic>
          <a:graphicData uri="http://schemas.openxmlformats.org/drawingml/2006/table">
            <a:tbl>
              <a:tblPr firstRow="1" bandRow="1">
                <a:noFill/>
                <a:tableStyleId>{51958573-18DD-4F4F-87A5-23D0A4D2D5AC}</a:tableStyleId>
              </a:tblPr>
              <a:tblGrid>
                <a:gridCol w="5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S.No.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Question 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Answer Options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8" name="Google Shape;78;p22"/>
          <p:cNvPicPr preferRelativeResize="0"/>
          <p:nvPr/>
        </p:nvPicPr>
        <p:blipFill rotWithShape="1">
          <a:blip r:embed="rId2">
            <a:alphaModFix/>
          </a:blip>
          <a:srcRect t="835" b="835"/>
          <a:stretch/>
        </p:blipFill>
        <p:spPr>
          <a:xfrm>
            <a:off x="7828161" y="4769500"/>
            <a:ext cx="858649" cy="16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22"/>
          <p:cNvGrpSpPr/>
          <p:nvPr/>
        </p:nvGrpSpPr>
        <p:grpSpPr>
          <a:xfrm>
            <a:off x="6588505" y="-28"/>
            <a:ext cx="2555491" cy="5143634"/>
            <a:chOff x="6484825" y="114035"/>
            <a:chExt cx="2659200" cy="5029465"/>
          </a:xfrm>
        </p:grpSpPr>
        <p:sp>
          <p:nvSpPr>
            <p:cNvPr id="82" name="Google Shape;82;p22"/>
            <p:cNvSpPr/>
            <p:nvPr/>
          </p:nvSpPr>
          <p:spPr>
            <a:xfrm rot="10800000">
              <a:off x="7629606" y="114035"/>
              <a:ext cx="1514400" cy="2285100"/>
            </a:xfrm>
            <a:prstGeom prst="rtTriangle">
              <a:avLst/>
            </a:prstGeom>
            <a:gradFill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2"/>
            <p:cNvSpPr/>
            <p:nvPr/>
          </p:nvSpPr>
          <p:spPr>
            <a:xfrm rot="-5400000">
              <a:off x="5810725" y="1810200"/>
              <a:ext cx="4007400" cy="265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">
  <p:cSld name="TITLE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>
            <a:spLocks noGrp="1"/>
          </p:cNvSpPr>
          <p:nvPr>
            <p:ph type="title"/>
          </p:nvPr>
        </p:nvSpPr>
        <p:spPr>
          <a:xfrm>
            <a:off x="3613500" y="160615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subTitle" idx="1"/>
          </p:nvPr>
        </p:nvSpPr>
        <p:spPr>
          <a:xfrm>
            <a:off x="3651850" y="311102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8" name="Google Shape;88;p29"/>
          <p:cNvSpPr txBox="1"/>
          <p:nvPr/>
        </p:nvSpPr>
        <p:spPr>
          <a:xfrm>
            <a:off x="4258440" y="4657790"/>
            <a:ext cx="442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">
  <p:cSld name="TITLE_1_1_1_1_1">
    <p:bg>
      <p:bgPr>
        <a:noFill/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8217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30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31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32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32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113" name="Google Shape;11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33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3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33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2" name="Google Shape;122;p33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3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33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5" name="Google Shape;125;p33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3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33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33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33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34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8" name="Google Shape;138;p34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7625e78053_0_64"/>
          <p:cNvSpPr txBox="1"/>
          <p:nvPr/>
        </p:nvSpPr>
        <p:spPr>
          <a:xfrm>
            <a:off x="702325" y="1771000"/>
            <a:ext cx="6725400" cy="6636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SzPts val="4000"/>
            </a:pPr>
            <a:r>
              <a:rPr lang="en-IN" sz="40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8762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Why Modern JavaScript?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Traditional JavaScript had 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Global scope pollution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Callback hell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Poor modularity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Hard-to-maintain large codebases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Modern JavaScript (ES6+) introduces: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Modules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Promises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Async/Await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Enhanced Objects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Iterators &amp; Loops</a:t>
            </a:r>
            <a:endParaRPr lang="en-IN" dirty="0"/>
          </a:p>
          <a:p>
            <a:r>
              <a:rPr lang="en-IN" dirty="0"/>
              <a:t>These features help developers build </a:t>
            </a:r>
            <a:r>
              <a:rPr lang="en-IN" b="1" dirty="0"/>
              <a:t>scalable enterprise applications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685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b="1" dirty="0"/>
              <a:t>JavaScript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Modules allow developers to </a:t>
            </a:r>
            <a:r>
              <a:rPr lang="en-US" b="1" dirty="0"/>
              <a:t>split applications into reusable components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reuse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Separation of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Dependency management</a:t>
            </a:r>
          </a:p>
          <a:p>
            <a:br>
              <a:rPr lang="en-US" dirty="0"/>
            </a:br>
            <a:r>
              <a:rPr lang="en-US" b="1" dirty="0"/>
              <a:t>ES6 Modules allow developers to reuse shared code across multiple projects instead of copying the same functions repeatedly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1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b="1" dirty="0"/>
              <a:t>E</a:t>
            </a:r>
            <a:r>
              <a:rPr lang="en-IN" sz="2400" b="1" dirty="0"/>
              <a:t>S6- high-level overview.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IN" dirty="0"/>
              <a:t>2015 ──────────────────────────────────────────────────────────►</a:t>
            </a:r>
          </a:p>
          <a:p>
            <a:pPr latinLnBrk="1"/>
            <a:r>
              <a:rPr lang="en-IN" dirty="0"/>
              <a:t>    │</a:t>
            </a:r>
          </a:p>
          <a:p>
            <a:pPr latinLnBrk="1"/>
            <a:r>
              <a:rPr lang="en-IN" dirty="0"/>
              <a:t>    ├── ES5 (2009): No native modules (IIFE patterns)</a:t>
            </a:r>
          </a:p>
          <a:p>
            <a:pPr latinLnBrk="1"/>
            <a:r>
              <a:rPr lang="en-IN" dirty="0"/>
              <a:t>    │</a:t>
            </a:r>
          </a:p>
          <a:p>
            <a:pPr latinLnBrk="1"/>
            <a:r>
              <a:rPr lang="en-IN" dirty="0"/>
              <a:t>    ├── ES6/ES2015: Native modules introduced</a:t>
            </a:r>
          </a:p>
          <a:p>
            <a:pPr latinLnBrk="1"/>
            <a:r>
              <a:rPr lang="en-IN" dirty="0"/>
              <a:t>    │   • import/export syntax</a:t>
            </a:r>
          </a:p>
          <a:p>
            <a:pPr latinLnBrk="1"/>
            <a:r>
              <a:rPr lang="en-IN" dirty="0"/>
              <a:t>    │   • Static structure</a:t>
            </a:r>
          </a:p>
          <a:p>
            <a:pPr latinLnBrk="1"/>
            <a:r>
              <a:rPr lang="en-IN" dirty="0"/>
              <a:t>    │   • Live bindings</a:t>
            </a:r>
          </a:p>
          <a:p>
            <a:pPr latinLnBrk="1"/>
            <a:r>
              <a:rPr lang="en-IN" dirty="0"/>
              <a:t>    │</a:t>
            </a:r>
          </a:p>
          <a:p>
            <a:pPr latinLnBrk="1"/>
            <a:r>
              <a:rPr lang="en-IN" dirty="0"/>
              <a:t>    ├── ES2016-2017: Refinements</a:t>
            </a:r>
          </a:p>
          <a:p>
            <a:pPr latinLnBrk="1"/>
            <a:r>
              <a:rPr lang="en-IN" dirty="0"/>
              <a:t>    │   • Dynamic import() proposal</a:t>
            </a:r>
          </a:p>
          <a:p>
            <a:pPr latinLnBrk="1"/>
            <a:r>
              <a:rPr lang="en-IN" dirty="0"/>
              <a:t>    │</a:t>
            </a:r>
          </a:p>
          <a:p>
            <a:pPr latinLnBrk="1"/>
            <a:r>
              <a:rPr lang="en-IN" dirty="0"/>
              <a:t>    ├── ES2018-2020: Enhancements</a:t>
            </a:r>
          </a:p>
          <a:p>
            <a:pPr latinLnBrk="1"/>
            <a:r>
              <a:rPr lang="en-IN" dirty="0"/>
              <a:t>    │   • </a:t>
            </a:r>
            <a:r>
              <a:rPr lang="en-IN" dirty="0" err="1"/>
              <a:t>import.meta</a:t>
            </a:r>
            <a:endParaRPr lang="en-IN" dirty="0"/>
          </a:p>
          <a:p>
            <a:pPr latinLnBrk="1"/>
            <a:r>
              <a:rPr lang="en-IN" dirty="0"/>
              <a:t>    │   • Namespace exports</a:t>
            </a:r>
          </a:p>
          <a:p>
            <a:pPr latinLnBrk="1"/>
            <a:r>
              <a:rPr lang="en-IN" dirty="0"/>
              <a:t>    │</a:t>
            </a:r>
          </a:p>
          <a:p>
            <a:pPr latinLnBrk="1"/>
            <a:r>
              <a:rPr lang="en-IN" dirty="0"/>
              <a:t>    └── ES2022+: Top-level await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96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Export Syntax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78217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Named exports allow a module to export multiple values, each with a specific name. This is the most common and flexible export type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358880" y="2044871"/>
            <a:ext cx="35019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i="1" dirty="0"/>
              <a:t>// math.js</a:t>
            </a:r>
            <a:endParaRPr lang="en-US" dirty="0"/>
          </a:p>
          <a:p>
            <a:pPr latinLnBrk="1"/>
            <a:r>
              <a:rPr lang="en-US" dirty="0"/>
              <a:t>export const PI = 3.14159;</a:t>
            </a:r>
          </a:p>
          <a:p>
            <a:pPr latinLnBrk="1"/>
            <a:r>
              <a:rPr lang="en-US" dirty="0"/>
              <a:t>export function add(a, b) { return a + b; }</a:t>
            </a:r>
          </a:p>
          <a:p>
            <a:pPr latinLnBrk="1"/>
            <a:r>
              <a:rPr lang="en-US" dirty="0"/>
              <a:t>export function multiply(a, b) { return a * b; }</a:t>
            </a:r>
          </a:p>
        </p:txBody>
      </p:sp>
    </p:spTree>
    <p:extLst>
      <p:ext uri="{BB962C8B-B14F-4D97-AF65-F5344CB8AC3E}">
        <p14:creationId xmlns:p14="http://schemas.microsoft.com/office/powerpoint/2010/main" val="72318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C26ED452-02A4-9E2C-B2A7-E1BC1687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C928E7AD-CDE2-80AD-FC2A-EAE2C2D4EBD0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Import Syntax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5CB45A-3DFB-7F2D-5DD6-06A18307829D}"/>
              </a:ext>
            </a:extLst>
          </p:cNvPr>
          <p:cNvSpPr/>
          <p:nvPr/>
        </p:nvSpPr>
        <p:spPr>
          <a:xfrm>
            <a:off x="381000" y="1056670"/>
            <a:ext cx="78217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Named imports must use the exact names exported by the module, unless you rename them.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90F660-01B2-C42E-993E-1B2FF344C666}"/>
              </a:ext>
            </a:extLst>
          </p:cNvPr>
          <p:cNvSpPr/>
          <p:nvPr/>
        </p:nvSpPr>
        <p:spPr>
          <a:xfrm>
            <a:off x="1305092" y="1896953"/>
            <a:ext cx="418130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IN" i="1" dirty="0"/>
              <a:t>// app.js</a:t>
            </a:r>
            <a:endParaRPr lang="en-IN" dirty="0"/>
          </a:p>
          <a:p>
            <a:pPr latinLnBrk="1"/>
            <a:r>
              <a:rPr lang="en-IN" i="1" dirty="0"/>
              <a:t>// Import specific named exports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import { PI, add, multiply } from './math.js';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console.log(PI); </a:t>
            </a:r>
            <a:r>
              <a:rPr lang="en-IN" i="1" dirty="0"/>
              <a:t>// 3.14159</a:t>
            </a:r>
            <a:endParaRPr lang="en-IN" dirty="0"/>
          </a:p>
          <a:p>
            <a:pPr latinLnBrk="1"/>
            <a:r>
              <a:rPr lang="en-IN" dirty="0"/>
              <a:t>console.log(add(5, 3)); </a:t>
            </a:r>
            <a:r>
              <a:rPr lang="en-IN" i="1" dirty="0"/>
              <a:t>// 8</a:t>
            </a:r>
            <a:endParaRPr lang="en-IN" dirty="0"/>
          </a:p>
          <a:p>
            <a:pPr latinLnBrk="1"/>
            <a:r>
              <a:rPr lang="en-IN" dirty="0"/>
              <a:t>console.log(multiply(4, 2)); </a:t>
            </a:r>
            <a:r>
              <a:rPr lang="en-IN" i="1" dirty="0"/>
              <a:t>// 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73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Promises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2452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What is a Promise?</a:t>
            </a:r>
          </a:p>
          <a:p>
            <a:r>
              <a:rPr lang="en-US" dirty="0"/>
              <a:t>A Promise is an object representing the eventual completion (or failure) of an asynchronous operation. Think of it as a placeholder for a future value.</a:t>
            </a:r>
          </a:p>
          <a:p>
            <a:endParaRPr lang="en-US" b="1" dirty="0"/>
          </a:p>
          <a:p>
            <a:pPr latinLnBrk="1"/>
            <a:r>
              <a:rPr lang="en-IN" dirty="0"/>
              <a:t>You order food → You get a receipt (PROMISE)          </a:t>
            </a:r>
          </a:p>
          <a:p>
            <a:pPr latinLnBrk="1"/>
            <a:r>
              <a:rPr lang="en-IN" dirty="0"/>
              <a:t>│                                                         </a:t>
            </a:r>
          </a:p>
          <a:p>
            <a:pPr latinLnBrk="1"/>
            <a:r>
              <a:rPr lang="en-IN" dirty="0"/>
              <a:t>│  The receipt represents your future meal                </a:t>
            </a:r>
          </a:p>
          <a:p>
            <a:pPr latinLnBrk="1"/>
            <a:r>
              <a:rPr lang="en-IN" dirty="0"/>
              <a:t>│                                                         </a:t>
            </a:r>
          </a:p>
          <a:p>
            <a:pPr latinLnBrk="1"/>
            <a:r>
              <a:rPr lang="en-IN" dirty="0"/>
              <a:t>│  Three possible states:                                 </a:t>
            </a:r>
          </a:p>
          <a:p>
            <a:pPr latinLnBrk="1"/>
            <a:r>
              <a:rPr lang="en-IN" dirty="0"/>
              <a:t>│  ┌─────────────┐                                        </a:t>
            </a:r>
          </a:p>
          <a:p>
            <a:pPr latinLnBrk="1"/>
            <a:r>
              <a:rPr lang="en-IN" dirty="0"/>
              <a:t>│  │ PENDING    │ → Food being prepared                   </a:t>
            </a:r>
          </a:p>
          <a:p>
            <a:pPr latinLnBrk="1"/>
            <a:r>
              <a:rPr lang="en-IN" dirty="0"/>
              <a:t>│  ├─────────────┤                                        </a:t>
            </a:r>
          </a:p>
          <a:p>
            <a:pPr latinLnBrk="1"/>
            <a:r>
              <a:rPr lang="en-IN" dirty="0"/>
              <a:t>│  │ FULFILLED  │ → Food ready (resolved)                 </a:t>
            </a:r>
          </a:p>
          <a:p>
            <a:pPr latinLnBrk="1"/>
            <a:r>
              <a:rPr lang="en-IN" dirty="0"/>
              <a:t>│  ├─────────────┤                                        </a:t>
            </a:r>
          </a:p>
          <a:p>
            <a:pPr latinLnBrk="1"/>
            <a:r>
              <a:rPr lang="en-IN" dirty="0"/>
              <a:t>│  │ REJECTED   │ → Kitchen can't make it (failed)   </a:t>
            </a:r>
          </a:p>
          <a:p>
            <a:r>
              <a:rPr lang="en-IN" b="1" dirty="0"/>
              <a:t>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961962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C5F51B22-E18D-432D-27ED-9490792A4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609B0F27-7E02-CC4D-CF69-6A37E157F664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Promises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C08B59-8F27-EECB-6013-AE0C18F86ABC}"/>
              </a:ext>
            </a:extLst>
          </p:cNvPr>
          <p:cNvSpPr/>
          <p:nvPr/>
        </p:nvSpPr>
        <p:spPr>
          <a:xfrm>
            <a:off x="381000" y="1056670"/>
            <a:ext cx="824528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Promise constructor is the foundation. It takes a function (executor) with resolve and reject parameters.</a:t>
            </a:r>
          </a:p>
          <a:p>
            <a:endParaRPr lang="en-US" b="1" dirty="0"/>
          </a:p>
          <a:p>
            <a:r>
              <a:rPr lang="en-US" dirty="0"/>
              <a:t>JavaScript is </a:t>
            </a:r>
            <a:r>
              <a:rPr lang="en-US" b="1" dirty="0"/>
              <a:t>asynchronous</a:t>
            </a:r>
            <a:r>
              <a:rPr lang="en-US" dirty="0"/>
              <a:t>. Some operations take time,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Fetching data from a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Reading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calls</a:t>
            </a:r>
          </a:p>
          <a:p>
            <a:r>
              <a:rPr lang="en-US" dirty="0"/>
              <a:t>Before Promises, developers used </a:t>
            </a:r>
            <a:r>
              <a:rPr lang="en-US" b="1" dirty="0"/>
              <a:t>callbacks</a:t>
            </a:r>
            <a:r>
              <a:rPr lang="en-US" dirty="0"/>
              <a:t>, which often caused </a:t>
            </a:r>
            <a:r>
              <a:rPr lang="en-US" b="1" dirty="0"/>
              <a:t>callback hell</a:t>
            </a:r>
            <a:r>
              <a:rPr lang="en-US" dirty="0"/>
              <a:t> (nested callbacks).</a:t>
            </a:r>
          </a:p>
          <a:p>
            <a:r>
              <a:rPr lang="en-US" dirty="0"/>
              <a:t>Promises provide a </a:t>
            </a:r>
            <a:r>
              <a:rPr lang="en-US" b="1" dirty="0"/>
              <a:t>cleaner and more manageable way</a:t>
            </a:r>
            <a:r>
              <a:rPr lang="en-US" dirty="0"/>
              <a:t> to handle asynchronous operations.</a:t>
            </a:r>
          </a:p>
          <a:p>
            <a:endParaRPr lang="en-IN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EF31FC-ED30-7C6D-58A6-D7EA6CE9B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10694"/>
              </p:ext>
            </p:extLst>
          </p:nvPr>
        </p:nvGraphicFramePr>
        <p:xfrm>
          <a:off x="628650" y="3477230"/>
          <a:ext cx="7886700" cy="12192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79928279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4241777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132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Initial state, operation not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897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Fulfilled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 completed successfully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50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Rejected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 failed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69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28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"/>
          <p:cNvSpPr txBox="1"/>
          <p:nvPr/>
        </p:nvSpPr>
        <p:spPr>
          <a:xfrm>
            <a:off x="226925" y="151275"/>
            <a:ext cx="49620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Check Your Understanding 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0" name="Google Shape;490;p10"/>
          <p:cNvSpPr/>
          <p:nvPr/>
        </p:nvSpPr>
        <p:spPr>
          <a:xfrm rot="10800000" flipH="1">
            <a:off x="305900" y="627875"/>
            <a:ext cx="37635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1" name="Google Shape;491;p10" descr="check sign - Clip Art Librar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7794" y="1088200"/>
            <a:ext cx="1768724" cy="176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"/>
          <p:cNvSpPr txBox="1"/>
          <p:nvPr/>
        </p:nvSpPr>
        <p:spPr>
          <a:xfrm>
            <a:off x="394950" y="223550"/>
            <a:ext cx="4442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 &amp; Answer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8" name="Google Shape;4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3175" y="940450"/>
            <a:ext cx="4832175" cy="33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600"/>
              <a:t>Benhar Charles Velankanni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37E934965AB40B8C2959C180473A3" ma:contentTypeVersion="13" ma:contentTypeDescription="Create a new document." ma:contentTypeScope="" ma:versionID="b652bdf42f97bf36c4cecc4a137c9e6d">
  <xsd:schema xmlns:xsd="http://www.w3.org/2001/XMLSchema" xmlns:xs="http://www.w3.org/2001/XMLSchema" xmlns:p="http://schemas.microsoft.com/office/2006/metadata/properties" xmlns:ns2="9f6ad64a-8b6b-48eb-ae60-12a54eda0ca9" xmlns:ns3="70328ee1-d215-47f2-9f94-e66745c0848f" targetNamespace="http://schemas.microsoft.com/office/2006/metadata/properties" ma:root="true" ma:fieldsID="ef4dd843760eb6ba715a3d5caabb3102" ns2:_="" ns3:_="">
    <xsd:import namespace="9f6ad64a-8b6b-48eb-ae60-12a54eda0ca9"/>
    <xsd:import namespace="70328ee1-d215-47f2-9f94-e66745c084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ad64a-8b6b-48eb-ae60-12a54eda0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156ab42-c15d-4f16-a227-b8fc8443f7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28ee1-d215-47f2-9f94-e66745c084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998392-e962-4591-95d1-fdc2e5b3008b}" ma:internalName="TaxCatchAll" ma:showField="CatchAllData" ma:web="70328ee1-d215-47f2-9f94-e66745c084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6ad64a-8b6b-48eb-ae60-12a54eda0ca9">
      <Terms xmlns="http://schemas.microsoft.com/office/infopath/2007/PartnerControls"/>
    </lcf76f155ced4ddcb4097134ff3c332f>
    <TaxCatchAll xmlns="70328ee1-d215-47f2-9f94-e66745c0848f" xsi:nil="true"/>
    <MediaLengthInSeconds xmlns="9f6ad64a-8b6b-48eb-ae60-12a54eda0ca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FC267C-DE1B-4101-8C28-4BADF6AAF7D3}">
  <ds:schemaRefs>
    <ds:schemaRef ds:uri="70328ee1-d215-47f2-9f94-e66745c0848f"/>
    <ds:schemaRef ds:uri="9f6ad64a-8b6b-48eb-ae60-12a54eda0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8A4D05-2C6B-4E3D-ACBF-D0F4E11F0DD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9f6ad64a-8b6b-48eb-ae60-12a54eda0ca9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0328ee1-d215-47f2-9f94-e66745c0848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65DA012-BBE1-41E3-B821-9BF2DDCA65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21585</TotalTime>
  <Words>513</Words>
  <Application>Microsoft Office PowerPoint</Application>
  <PresentationFormat>On-screen Show (16:9)</PresentationFormat>
  <Paragraphs>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Proxima Nova Semibold</vt:lpstr>
      <vt:lpstr>Arial</vt:lpstr>
      <vt:lpstr>Proxima Nova</vt:lpstr>
      <vt:lpstr>Calibri</vt:lpstr>
      <vt:lpstr>Relevantz - Internal Slide Template</vt:lpstr>
      <vt:lpstr>Relevantz - Internal Slide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Benhar Charles V</dc:creator>
  <cp:lastModifiedBy>Benhar Charles V</cp:lastModifiedBy>
  <cp:revision>39</cp:revision>
  <dcterms:modified xsi:type="dcterms:W3CDTF">2026-03-12T07:28:43Z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0x0101006DE37E934965AB40B8C2959C180473A3</vt:lpwstr>
  </property>
  <property fmtid="{D5CDD505-2E9C-101B-9397-08002B2CF9AE}" pid="3" name="Order">
    <vt:r8>391700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  <property fmtid="{D5CDD505-2E9C-101B-9397-08002B2CF9AE}" pid="10" name="MSIP_Label_defa4170-0d19-0005-0004-bc88714345d2_Enabled">
    <vt:lpwstr>true</vt:lpwstr>
  </property>
  <property fmtid="{D5CDD505-2E9C-101B-9397-08002B2CF9AE}" pid="11" name="MSIP_Label_defa4170-0d19-0005-0004-bc88714345d2_SetDate">
    <vt:lpwstr>2025-06-04T11:23:41Z</vt:lpwstr>
  </property>
  <property fmtid="{D5CDD505-2E9C-101B-9397-08002B2CF9AE}" pid="12" name="MSIP_Label_defa4170-0d19-0005-0004-bc88714345d2_Method">
    <vt:lpwstr>Standard</vt:lpwstr>
  </property>
  <property fmtid="{D5CDD505-2E9C-101B-9397-08002B2CF9AE}" pid="13" name="MSIP_Label_defa4170-0d19-0005-0004-bc88714345d2_Name">
    <vt:lpwstr>defa4170-0d19-0005-0004-bc88714345d2</vt:lpwstr>
  </property>
  <property fmtid="{D5CDD505-2E9C-101B-9397-08002B2CF9AE}" pid="14" name="MSIP_Label_defa4170-0d19-0005-0004-bc88714345d2_SiteId">
    <vt:lpwstr>fe66d7b1-c17e-4ba8-a08d-2e146117dc7e</vt:lpwstr>
  </property>
  <property fmtid="{D5CDD505-2E9C-101B-9397-08002B2CF9AE}" pid="15" name="MSIP_Label_defa4170-0d19-0005-0004-bc88714345d2_ActionId">
    <vt:lpwstr>db0fe4a2-2236-45c4-9210-9d9cc71c4f5d</vt:lpwstr>
  </property>
  <property fmtid="{D5CDD505-2E9C-101B-9397-08002B2CF9AE}" pid="16" name="MSIP_Label_defa4170-0d19-0005-0004-bc88714345d2_ContentBits">
    <vt:lpwstr>0</vt:lpwstr>
  </property>
  <property fmtid="{D5CDD505-2E9C-101B-9397-08002B2CF9AE}" pid="17" name="MSIP_Label_defa4170-0d19-0005-0004-bc88714345d2_Tag">
    <vt:lpwstr>10, 3, 0, 2</vt:lpwstr>
  </property>
</Properties>
</file>