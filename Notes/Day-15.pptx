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57" r:id="rId5"/>
  </p:sldMasterIdLst>
  <p:notesMasterIdLst>
    <p:notesMasterId r:id="rId23"/>
  </p:notesMasterIdLst>
  <p:sldIdLst>
    <p:sldId id="361" r:id="rId6"/>
    <p:sldId id="409" r:id="rId7"/>
    <p:sldId id="423" r:id="rId8"/>
    <p:sldId id="424" r:id="rId9"/>
    <p:sldId id="425" r:id="rId10"/>
    <p:sldId id="436" r:id="rId11"/>
    <p:sldId id="426" r:id="rId12"/>
    <p:sldId id="435" r:id="rId13"/>
    <p:sldId id="429" r:id="rId14"/>
    <p:sldId id="427" r:id="rId15"/>
    <p:sldId id="430" r:id="rId16"/>
    <p:sldId id="431" r:id="rId17"/>
    <p:sldId id="407" r:id="rId18"/>
    <p:sldId id="408" r:id="rId19"/>
    <p:sldId id="433" r:id="rId20"/>
    <p:sldId id="310" r:id="rId21"/>
    <p:sldId id="311" r:id="rId22"/>
  </p:sldIdLst>
  <p:sldSz cx="9144000" cy="5143500" type="screen16x9"/>
  <p:notesSz cx="6858000" cy="9144000"/>
  <p:embeddedFontLst>
    <p:embeddedFont>
      <p:font typeface="Proxima Nova" panose="020B0604020202020204" charset="0"/>
      <p:regular r:id="rId24"/>
      <p:bold r:id="rId25"/>
      <p:italic r:id="rId26"/>
      <p:boldItalic r:id="rId27"/>
    </p:embeddedFont>
    <p:embeddedFont>
      <p:font typeface="Proxima Nova Semibold" panose="020B0604020202020204" charset="0"/>
      <p:regular r:id="rId28"/>
      <p:bold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95" roundtripDataSignature="AMtx7miPhXGxc0iE9gpBlCh+HQf++GaLa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1958573-18DD-4F4F-87A5-23D0A4D2D5AC}">
  <a:tblStyle styleId="{51958573-18DD-4F4F-87A5-23D0A4D2D5AC}"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7FDA3176-15EB-4DB9-A849-97660B76C8F7}" styleName="Table_1">
    <a:wholeTbl>
      <a:tcTxStyle b="off" i="off">
        <a:font>
          <a:latin typeface="Arial"/>
          <a:ea typeface="Arial"/>
          <a:cs typeface="Arial"/>
        </a:font>
        <a:srgbClr val="000000"/>
      </a:tcTxStyle>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op>
            <a:ln w="9525" cap="flat" cmpd="sng">
              <a:solidFill>
                <a:srgbClr val="4472C4"/>
              </a:solidFill>
              <a:prstDash val="solid"/>
              <a:round/>
              <a:headEnd type="none" w="sm" len="sm"/>
              <a:tailEnd type="none" w="sm" len="sm"/>
            </a:ln>
          </a:top>
          <a:bottom>
            <a:ln w="9525" cap="flat" cmpd="sng">
              <a:solidFill>
                <a:srgbClr val="4472C4"/>
              </a:solidFill>
              <a:prstDash val="solid"/>
              <a:round/>
              <a:headEnd type="none" w="sm" len="sm"/>
              <a:tailEnd type="none" w="sm" len="sm"/>
            </a:ln>
          </a:bottom>
        </a:tcBdr>
      </a:tcStyle>
    </a:band1H>
    <a:band2H>
      <a:tcTxStyle b="off" i="off"/>
      <a:tcStyle>
        <a:tcBdr/>
      </a:tcStyle>
    </a:band2H>
    <a:band1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1V>
    <a:band2V>
      <a:tcTxStyle b="off" i="off"/>
      <a:tcStyle>
        <a:tcBdr>
          <a:left>
            <a:ln w="9525" cap="flat" cmpd="sng">
              <a:solidFill>
                <a:srgbClr val="4472C4"/>
              </a:solidFill>
              <a:prstDash val="solid"/>
              <a:round/>
              <a:headEnd type="none" w="sm" len="sm"/>
              <a:tailEnd type="none" w="sm" len="sm"/>
            </a:ln>
          </a:left>
          <a:right>
            <a:ln w="9525" cap="flat" cmpd="sng">
              <a:solidFill>
                <a:srgbClr val="4472C4"/>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rgbClr val="4472C4"/>
              </a:solidFill>
              <a:prstDash val="solid"/>
              <a:round/>
              <a:headEnd type="none" w="sm" len="sm"/>
              <a:tailEnd type="none" w="sm" len="sm"/>
            </a:ln>
          </a:top>
        </a:tcBdr>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fill>
          <a:solidFill>
            <a:srgbClr val="4472C4"/>
          </a:solidFill>
        </a:fill>
      </a:tcStyle>
    </a:firstRow>
    <a:neCell>
      <a:tcTxStyle b="off" i="off"/>
      <a:tcStyle>
        <a:tcBdr/>
      </a:tcStyle>
    </a:neCell>
    <a:nwCell>
      <a:tcTxStyle b="off" i="off"/>
      <a:tcStyle>
        <a:tcBdr/>
      </a:tcStyle>
    </a:nwCell>
  </a:tblStyle>
  <a:tblStyle styleId="{1B9BAF51-D252-47A5-B818-23F1545D66B1}" styleName="Table_2">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590"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98"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97"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6.fntdata"/><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5.fntdata"/><Relationship Id="rId95" Type="http://customschemas.google.com/relationships/presentationmetadata" Target="metadata"/><Relationship Id="rId10" Type="http://schemas.openxmlformats.org/officeDocument/2006/relationships/slide" Target="slides/slide5.xml"/><Relationship Id="rId19" Type="http://schemas.openxmlformats.org/officeDocument/2006/relationships/slide" Target="slides/slide14.xml"/><Relationship Id="rId9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4.fntdata"/><Relationship Id="rId30"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1357635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7625e7805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1" name="Google Shape;401;g27625e7805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7907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AC0383B5-4664-4866-600C-C0746F9D598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882935-B114-2F97-E82F-DA1E4E108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D816E20-B882-4520-C67D-515BB9F441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253238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441060CC-7012-7EEC-FCBE-8463D2EBB8E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8A91854B-F7D8-F4C5-D203-B3699FB70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1A18499E-34C3-228D-DD10-4754C27BA5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61377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D657B304-06CC-1F92-6DEB-B4DFE63CE5D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729502BC-5CC0-A495-ACB7-FD79178357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1D9B119-91B9-C431-50AF-94680A1631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35551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58ED6EE-D096-9DA9-3D90-FBCC2B6E0F3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BDE9BBB2-50EF-6500-14EC-5F0F1E73E7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D79F2AB3-4874-9633-A325-E6066318F8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50804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4D9AE60D-AEAA-8E99-0736-4346A7CCB36F}"/>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8263AB0-970A-B240-D210-8044E18C64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0A74480F-5EBC-DBCE-0E2D-838703BB368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18297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6A1AE19-94EC-7B1D-7CB9-C4A17BDABEE1}"/>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45590C2F-75D3-651E-BC36-22E9D4CEE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3E1365EF-8E04-5618-EB5A-3522DECC0E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61325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B0255974-E6D2-2D7B-A76D-B2ADD48BC94E}"/>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C4A332E-A19A-C5C0-C585-D269C20A97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7070075B-0126-AD10-C15E-8EEB9FB327E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86365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28460DB-AC9E-B79E-21FA-9274FEB19B94}"/>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AEC31C0-1C09-925B-91BA-0AFC05175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B254FB3F-5937-16F9-195E-59C6FBC8D4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36036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E89173FC-01EA-D499-E6D1-7579AD1415B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CC27A8F2-0D31-E32E-C6B1-6D33D364B7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2DE3696-8407-2B1D-EC5B-0546372532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0241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3172799F-AAD0-6C6D-F94C-596329C4DF0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FE56D4D7-1265-390A-3187-DDA6573C3D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A218B0D-0A27-2A72-4629-5B055618E7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6183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0C0B97E8-0A93-0284-58EE-AECD15442C69}"/>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691124BC-F7B2-C4D5-21E6-63ACB06B17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626FCB00-2273-6BFA-9595-38368C585C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468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1B89EA4-B1C0-6ACB-5B21-7D7D36FB9B3B}"/>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BCE8412F-D011-7891-7709-CBFE553D67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8D286401-94C3-AA93-6BCF-105E7683B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23390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5F5B08CD-0419-2708-95CE-DF00011453E3}"/>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0ACDBB07-7E0C-9291-A8E4-B5B19B4A83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E14D502B-5790-3A9E-474C-0B0E31CB7D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7716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a:extLst>
            <a:ext uri="{FF2B5EF4-FFF2-40B4-BE49-F238E27FC236}">
              <a16:creationId xmlns:a16="http://schemas.microsoft.com/office/drawing/2014/main" id="{7056DE04-CC6A-3E88-AED1-D5C6E241C413}"/>
            </a:ext>
          </a:extLst>
        </p:cNvPr>
        <p:cNvGrpSpPr/>
        <p:nvPr/>
      </p:nvGrpSpPr>
      <p:grpSpPr>
        <a:xfrm>
          <a:off x="0" y="0"/>
          <a:ext cx="0" cy="0"/>
          <a:chOff x="0" y="0"/>
          <a:chExt cx="0" cy="0"/>
        </a:xfrm>
      </p:grpSpPr>
      <p:sp>
        <p:nvSpPr>
          <p:cNvPr id="279" name="Google Shape;279;g23d6530f4b9_0_82:notes">
            <a:extLst>
              <a:ext uri="{FF2B5EF4-FFF2-40B4-BE49-F238E27FC236}">
                <a16:creationId xmlns:a16="http://schemas.microsoft.com/office/drawing/2014/main" id="{10B33273-861B-6765-CD46-63B60AFAC9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23d6530f4b9_0_82:notes">
            <a:extLst>
              <a:ext uri="{FF2B5EF4-FFF2-40B4-BE49-F238E27FC236}">
                <a16:creationId xmlns:a16="http://schemas.microsoft.com/office/drawing/2014/main" id="{F8372F0E-8A5A-F176-859D-55E4851343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10560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7" name="Google Shape;48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42860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5" name="Google Shape;49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863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12"/>
        <p:cNvGrpSpPr/>
        <p:nvPr/>
      </p:nvGrpSpPr>
      <p:grpSpPr>
        <a:xfrm>
          <a:off x="0" y="0"/>
          <a:ext cx="0" cy="0"/>
          <a:chOff x="0" y="0"/>
          <a:chExt cx="0" cy="0"/>
        </a:xfrm>
      </p:grpSpPr>
      <p:sp>
        <p:nvSpPr>
          <p:cNvPr id="13" name="Google Shape;13;p20"/>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 name="Google Shape;14;p20"/>
          <p:cNvSpPr/>
          <p:nvPr/>
        </p:nvSpPr>
        <p:spPr>
          <a:xfrm rot="10800000" flipH="1">
            <a:off x="457200" y="809428"/>
            <a:ext cx="32763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33"/>
        <p:cNvGrpSpPr/>
        <p:nvPr/>
      </p:nvGrpSpPr>
      <p:grpSpPr>
        <a:xfrm>
          <a:off x="0" y="0"/>
          <a:ext cx="0" cy="0"/>
          <a:chOff x="0" y="0"/>
          <a:chExt cx="0" cy="0"/>
        </a:xfrm>
      </p:grpSpPr>
      <p:sp>
        <p:nvSpPr>
          <p:cNvPr id="34" name="Google Shape;34;p25"/>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p25"/>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6" name="Google Shape;36;p25"/>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37" name="Google Shape;37;p25"/>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39" name="Google Shape;39;p25"/>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25"/>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2" name="Google Shape;42;p25"/>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43"/>
        <p:cNvGrpSpPr/>
        <p:nvPr/>
      </p:nvGrpSpPr>
      <p:grpSpPr>
        <a:xfrm>
          <a:off x="0" y="0"/>
          <a:ext cx="0" cy="0"/>
          <a:chOff x="0" y="0"/>
          <a:chExt cx="0" cy="0"/>
        </a:xfrm>
      </p:grpSpPr>
      <p:sp>
        <p:nvSpPr>
          <p:cNvPr id="44" name="Google Shape;44;p26"/>
          <p:cNvSpPr>
            <a:spLocks noGrp="1"/>
          </p:cNvSpPr>
          <p:nvPr>
            <p:ph type="pic" idx="2"/>
          </p:nvPr>
        </p:nvSpPr>
        <p:spPr>
          <a:xfrm>
            <a:off x="5027125" y="0"/>
            <a:ext cx="4116900" cy="5143500"/>
          </a:xfrm>
          <a:prstGeom prst="rect">
            <a:avLst/>
          </a:prstGeom>
          <a:noFill/>
          <a:ln>
            <a:noFill/>
          </a:ln>
        </p:spPr>
      </p:sp>
      <p:sp>
        <p:nvSpPr>
          <p:cNvPr id="45" name="Google Shape;45;p26"/>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46" name="Google Shape;46;p26"/>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p26"/>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49" name="Google Shape;49;p26"/>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26"/>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52"/>
        <p:cNvGrpSpPr/>
        <p:nvPr/>
      </p:nvGrpSpPr>
      <p:grpSpPr>
        <a:xfrm>
          <a:off x="0" y="0"/>
          <a:ext cx="0" cy="0"/>
          <a:chOff x="0" y="0"/>
          <a:chExt cx="0" cy="0"/>
        </a:xfrm>
      </p:grpSpPr>
      <p:sp>
        <p:nvSpPr>
          <p:cNvPr id="53" name="Google Shape;53;p27"/>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4" name="Google Shape;54;p27"/>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7"/>
          <p:cNvSpPr>
            <a:spLocks noGrp="1"/>
          </p:cNvSpPr>
          <p:nvPr>
            <p:ph type="pic" idx="2"/>
          </p:nvPr>
        </p:nvSpPr>
        <p:spPr>
          <a:xfrm>
            <a:off x="953750" y="1485825"/>
            <a:ext cx="1322700" cy="1322700"/>
          </a:xfrm>
          <a:prstGeom prst="ellipse">
            <a:avLst/>
          </a:prstGeom>
          <a:noFill/>
          <a:ln>
            <a:noFill/>
          </a:ln>
        </p:spPr>
      </p:sp>
      <p:sp>
        <p:nvSpPr>
          <p:cNvPr id="56" name="Google Shape;56;p27"/>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57" name="Google Shape;57;p27"/>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7"/>
          <p:cNvSpPr>
            <a:spLocks noGrp="1"/>
          </p:cNvSpPr>
          <p:nvPr>
            <p:ph type="pic" idx="4"/>
          </p:nvPr>
        </p:nvSpPr>
        <p:spPr>
          <a:xfrm>
            <a:off x="3916950" y="1485825"/>
            <a:ext cx="1322700" cy="1322700"/>
          </a:xfrm>
          <a:prstGeom prst="ellipse">
            <a:avLst/>
          </a:prstGeom>
          <a:noFill/>
          <a:ln>
            <a:noFill/>
          </a:ln>
        </p:spPr>
      </p:sp>
      <p:sp>
        <p:nvSpPr>
          <p:cNvPr id="59" name="Google Shape;59;p27"/>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0" name="Google Shape;60;p27"/>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7"/>
          <p:cNvSpPr>
            <a:spLocks noGrp="1"/>
          </p:cNvSpPr>
          <p:nvPr>
            <p:ph type="pic" idx="6"/>
          </p:nvPr>
        </p:nvSpPr>
        <p:spPr>
          <a:xfrm>
            <a:off x="6851425" y="1485825"/>
            <a:ext cx="1322700" cy="1322700"/>
          </a:xfrm>
          <a:prstGeom prst="ellipse">
            <a:avLst/>
          </a:prstGeom>
          <a:noFill/>
          <a:ln>
            <a:noFill/>
          </a:ln>
        </p:spPr>
      </p:sp>
      <p:sp>
        <p:nvSpPr>
          <p:cNvPr id="62" name="Google Shape;62;p27"/>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64" name="Google Shape;64;p27"/>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27"/>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67" name="Google Shape;67;p27"/>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Pre -Tes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28"/>
          <p:cNvSpPr txBox="1">
            <a:spLocks noGrp="1"/>
          </p:cNvSpPr>
          <p:nvPr>
            <p:ph type="title"/>
          </p:nvPr>
        </p:nvSpPr>
        <p:spPr>
          <a:xfrm>
            <a:off x="424543" y="143088"/>
            <a:ext cx="8319300" cy="497700"/>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2400" b="1" i="0" u="none" strike="noStrike" cap="none">
                <a:solidFill>
                  <a:srgbClr val="323F4F"/>
                </a:solidFill>
                <a:latin typeface="Calibri"/>
                <a:ea typeface="Calibri"/>
                <a:cs typeface="Calibri"/>
                <a:sym typeface="Calibri"/>
              </a:defRPr>
            </a:lvl1pPr>
            <a:lvl2pPr marR="0" lvl="1"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100"/>
              <a:buFont typeface="Arial"/>
              <a:buNone/>
              <a:defRPr sz="3300" b="0" i="0" u="none" strike="noStrike" cap="none">
                <a:solidFill>
                  <a:schemeClr val="dk1"/>
                </a:solidFill>
                <a:latin typeface="Calibri"/>
                <a:ea typeface="Calibri"/>
                <a:cs typeface="Calibri"/>
                <a:sym typeface="Calibri"/>
              </a:defRPr>
            </a:lvl9pPr>
          </a:lstStyle>
          <a:p>
            <a:endParaRPr/>
          </a:p>
        </p:txBody>
      </p:sp>
      <p:sp>
        <p:nvSpPr>
          <p:cNvPr id="70" name="Google Shape;70;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1" name="Google Shape;71;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888888"/>
              </a:buClr>
              <a:buSzPts val="1100"/>
              <a:buFont typeface="Calibri"/>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Calibri"/>
              <a:buNone/>
              <a:defRPr sz="1100" b="0" i="0" u="none" strike="noStrike" cap="none">
                <a:solidFill>
                  <a:srgbClr val="000000"/>
                </a:solidFill>
                <a:latin typeface="Arial"/>
                <a:ea typeface="Arial"/>
                <a:cs typeface="Arial"/>
                <a:sym typeface="Arial"/>
              </a:defRPr>
            </a:lvl9pPr>
          </a:lstStyle>
          <a:p>
            <a:endParaRPr/>
          </a:p>
        </p:txBody>
      </p:sp>
      <p:sp>
        <p:nvSpPr>
          <p:cNvPr id="72" name="Google Shape;72;p28"/>
          <p:cNvSpPr txBox="1">
            <a:spLocks noGrp="1"/>
          </p:cNvSpPr>
          <p:nvPr>
            <p:ph type="sldNum" idx="12"/>
          </p:nvPr>
        </p:nvSpPr>
        <p:spPr>
          <a:xfrm>
            <a:off x="689491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900"/>
              <a:buFont typeface="Calibri"/>
              <a:buNone/>
              <a:defRPr sz="9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73" name="Google Shape;73;p28" descr="C:\Users\rajthilaks\Desktop\LogoPNG.png"/>
          <p:cNvPicPr preferRelativeResize="0"/>
          <p:nvPr/>
        </p:nvPicPr>
        <p:blipFill rotWithShape="1">
          <a:blip r:embed="rId3">
            <a:alphaModFix/>
          </a:blip>
          <a:srcRect b="23652"/>
          <a:stretch/>
        </p:blipFill>
        <p:spPr>
          <a:xfrm>
            <a:off x="8398669" y="139151"/>
            <a:ext cx="579129" cy="236405"/>
          </a:xfrm>
          <a:prstGeom prst="rect">
            <a:avLst/>
          </a:prstGeom>
          <a:noFill/>
          <a:ln>
            <a:noFill/>
          </a:ln>
        </p:spPr>
      </p:pic>
      <p:graphicFrame>
        <p:nvGraphicFramePr>
          <p:cNvPr id="74" name="Google Shape;74;p28"/>
          <p:cNvGraphicFramePr/>
          <p:nvPr/>
        </p:nvGraphicFramePr>
        <p:xfrm>
          <a:off x="1317713" y="833000"/>
          <a:ext cx="6221200" cy="3742000"/>
        </p:xfrm>
        <a:graphic>
          <a:graphicData uri="http://schemas.openxmlformats.org/drawingml/2006/table">
            <a:tbl>
              <a:tblPr firstRow="1" bandRow="1">
                <a:noFill/>
                <a:tableStyleId>{51958573-18DD-4F4F-87A5-23D0A4D2D5AC}</a:tableStyleId>
              </a:tblPr>
              <a:tblGrid>
                <a:gridCol w="592250">
                  <a:extLst>
                    <a:ext uri="{9D8B030D-6E8A-4147-A177-3AD203B41FA5}">
                      <a16:colId xmlns:a16="http://schemas.microsoft.com/office/drawing/2014/main" val="20000"/>
                    </a:ext>
                  </a:extLst>
                </a:gridCol>
                <a:gridCol w="2702325">
                  <a:extLst>
                    <a:ext uri="{9D8B030D-6E8A-4147-A177-3AD203B41FA5}">
                      <a16:colId xmlns:a16="http://schemas.microsoft.com/office/drawing/2014/main" val="20001"/>
                    </a:ext>
                  </a:extLst>
                </a:gridCol>
                <a:gridCol w="2926625">
                  <a:extLst>
                    <a:ext uri="{9D8B030D-6E8A-4147-A177-3AD203B41FA5}">
                      <a16:colId xmlns:a16="http://schemas.microsoft.com/office/drawing/2014/main" val="20002"/>
                    </a:ext>
                  </a:extLst>
                </a:gridCol>
              </a:tblGrid>
              <a:tr h="467750">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S.No.</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Question </a:t>
                      </a: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r>
                        <a:rPr lang="en" sz="1100" u="none" strike="noStrike" cap="none"/>
                        <a:t>Answer Options</a:t>
                      </a:r>
                      <a:endParaRPr sz="1100" u="none" strike="noStrike" cap="none"/>
                    </a:p>
                  </a:txBody>
                  <a:tcPr marL="68600" marR="68600" marT="34300" marB="34300"/>
                </a:tc>
                <a:extLst>
                  <a:ext uri="{0D108BD9-81ED-4DB2-BD59-A6C34878D82A}">
                    <a16:rowId xmlns:a16="http://schemas.microsoft.com/office/drawing/2014/main" val="10000"/>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1"/>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2"/>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3"/>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4"/>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5"/>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6"/>
                  </a:ext>
                </a:extLst>
              </a:tr>
              <a:tr h="467750">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tc>
                  <a:txBody>
                    <a:bodyPr/>
                    <a:lstStyle/>
                    <a:p>
                      <a:pPr marL="0" marR="0" lvl="0" indent="0" algn="l" rtl="0">
                        <a:lnSpc>
                          <a:spcPct val="100000"/>
                        </a:lnSpc>
                        <a:spcBef>
                          <a:spcPts val="0"/>
                        </a:spcBef>
                        <a:spcAft>
                          <a:spcPts val="0"/>
                        </a:spcAft>
                        <a:buClr>
                          <a:srgbClr val="000000"/>
                        </a:buClr>
                        <a:buSzPts val="1100"/>
                        <a:buFont typeface="Arial"/>
                        <a:buNone/>
                      </a:pPr>
                      <a:endParaRPr sz="1100" u="none" strike="noStrike" cap="none"/>
                    </a:p>
                  </a:txBody>
                  <a:tcPr marL="68600" marR="68600" marT="34300" marB="34300"/>
                </a:tc>
                <a:extLst>
                  <a:ext uri="{0D108BD9-81ED-4DB2-BD59-A6C34878D82A}">
                    <a16:rowId xmlns:a16="http://schemas.microsoft.com/office/drawing/2014/main" val="10007"/>
                  </a:ext>
                </a:extLst>
              </a:tr>
            </a:tbl>
          </a:graphicData>
        </a:graphic>
      </p:graphicFrame>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break  - White ">
  <p:cSld name="TITLE_1_1_1_1_1_1_1_1_1_1_1_1_1_2">
    <p:bg>
      <p:bgPr>
        <a:noFill/>
        <a:effectLst/>
      </p:bgPr>
    </p:bg>
    <p:spTree>
      <p:nvGrpSpPr>
        <p:cNvPr id="1" name="Shape 76"/>
        <p:cNvGrpSpPr/>
        <p:nvPr/>
      </p:nvGrpSpPr>
      <p:grpSpPr>
        <a:xfrm>
          <a:off x="0" y="0"/>
          <a:ext cx="0" cy="0"/>
          <a:chOff x="0" y="0"/>
          <a:chExt cx="0" cy="0"/>
        </a:xfrm>
      </p:grpSpPr>
      <p:sp>
        <p:nvSpPr>
          <p:cNvPr id="77" name="Google Shape;77;p22"/>
          <p:cNvSpPr txBox="1">
            <a:spLocks noGrp="1"/>
          </p:cNvSpPr>
          <p:nvPr>
            <p:ph type="title"/>
          </p:nvPr>
        </p:nvSpPr>
        <p:spPr>
          <a:xfrm>
            <a:off x="457200" y="1070150"/>
            <a:ext cx="4769100" cy="2555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000"/>
              <a:buFont typeface="Proxima Nova"/>
              <a:buNone/>
              <a:defRPr sz="4000" b="0"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78" name="Google Shape;78;p22"/>
          <p:cNvPicPr preferRelativeResize="0"/>
          <p:nvPr/>
        </p:nvPicPr>
        <p:blipFill rotWithShape="1">
          <a:blip r:embed="rId2">
            <a:alphaModFix/>
          </a:blip>
          <a:srcRect t="835" b="835"/>
          <a:stretch/>
        </p:blipFill>
        <p:spPr>
          <a:xfrm>
            <a:off x="7828161" y="4769500"/>
            <a:ext cx="858649" cy="164500"/>
          </a:xfrm>
          <a:prstGeom prst="rect">
            <a:avLst/>
          </a:prstGeom>
          <a:noFill/>
          <a:ln>
            <a:noFill/>
          </a:ln>
        </p:spPr>
      </p:pic>
      <p:grpSp>
        <p:nvGrpSpPr>
          <p:cNvPr id="81" name="Google Shape;81;p22"/>
          <p:cNvGrpSpPr/>
          <p:nvPr/>
        </p:nvGrpSpPr>
        <p:grpSpPr>
          <a:xfrm>
            <a:off x="6588505" y="-28"/>
            <a:ext cx="2555491" cy="5143634"/>
            <a:chOff x="6484825" y="114035"/>
            <a:chExt cx="2659200" cy="5029465"/>
          </a:xfrm>
        </p:grpSpPr>
        <p:sp>
          <p:nvSpPr>
            <p:cNvPr id="82" name="Google Shape;82;p22"/>
            <p:cNvSpPr/>
            <p:nvPr/>
          </p:nvSpPr>
          <p:spPr>
            <a:xfrm rot="10800000">
              <a:off x="7629606" y="114035"/>
              <a:ext cx="1514400" cy="2285100"/>
            </a:xfrm>
            <a:prstGeom prst="rtTriangle">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2"/>
            <p:cNvSpPr/>
            <p:nvPr/>
          </p:nvSpPr>
          <p:spPr>
            <a:xfrm rot="-5400000">
              <a:off x="5810725" y="1810200"/>
              <a:ext cx="4007400" cy="2659200"/>
            </a:xfrm>
            <a:prstGeom prst="rtTriangle">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uble line heading cover slide - White BG">
  <p:cSld name="TITLE_1">
    <p:spTree>
      <p:nvGrpSpPr>
        <p:cNvPr id="1" name="Shape 84"/>
        <p:cNvGrpSpPr/>
        <p:nvPr/>
      </p:nvGrpSpPr>
      <p:grpSpPr>
        <a:xfrm>
          <a:off x="0" y="0"/>
          <a:ext cx="0" cy="0"/>
          <a:chOff x="0" y="0"/>
          <a:chExt cx="0" cy="0"/>
        </a:xfrm>
      </p:grpSpPr>
      <p:sp>
        <p:nvSpPr>
          <p:cNvPr id="85" name="Google Shape;85;p29"/>
          <p:cNvSpPr txBox="1">
            <a:spLocks noGrp="1"/>
          </p:cNvSpPr>
          <p:nvPr>
            <p:ph type="title"/>
          </p:nvPr>
        </p:nvSpPr>
        <p:spPr>
          <a:xfrm>
            <a:off x="3613500" y="1606150"/>
            <a:ext cx="5073300" cy="137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4400"/>
              <a:buFont typeface="Proxima Nova"/>
              <a:buNone/>
              <a:defRPr sz="4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4000"/>
              <a:buFont typeface="Proxima Nova"/>
              <a:buNone/>
              <a:defRPr sz="4000" b="1" i="0" u="none" strike="noStrike" cap="none">
                <a:solidFill>
                  <a:srgbClr val="000000"/>
                </a:solidFill>
                <a:latin typeface="Proxima Nova"/>
                <a:ea typeface="Proxima Nova"/>
                <a:cs typeface="Proxima Nova"/>
                <a:sym typeface="Proxima Nova"/>
              </a:defRPr>
            </a:lvl9pPr>
          </a:lstStyle>
          <a:p>
            <a:endParaRPr/>
          </a:p>
        </p:txBody>
      </p:sp>
      <p:sp>
        <p:nvSpPr>
          <p:cNvPr id="87" name="Google Shape;87;p29"/>
          <p:cNvSpPr txBox="1">
            <a:spLocks noGrp="1"/>
          </p:cNvSpPr>
          <p:nvPr>
            <p:ph type="subTitle" idx="1"/>
          </p:nvPr>
        </p:nvSpPr>
        <p:spPr>
          <a:xfrm>
            <a:off x="3651850" y="3111025"/>
            <a:ext cx="5034900" cy="3258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2pPr>
            <a:lvl3pPr marR="0" lvl="2"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3pPr>
            <a:lvl4pPr marR="0" lvl="3"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4pPr>
            <a:lvl5pPr marR="0" lvl="4"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5pPr>
            <a:lvl6pPr marR="0" lvl="5"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6pPr>
            <a:lvl7pPr marR="0" lvl="6"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7pPr>
            <a:lvl8pPr marR="0" lvl="7"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8pPr>
            <a:lvl9pPr marR="0" lvl="8" algn="l" rtl="0">
              <a:lnSpc>
                <a:spcPct val="100000"/>
              </a:lnSpc>
              <a:spcBef>
                <a:spcPts val="0"/>
              </a:spcBef>
              <a:spcAft>
                <a:spcPts val="0"/>
              </a:spcAft>
              <a:buClr>
                <a:srgbClr val="000000"/>
              </a:buClr>
              <a:buSzPts val="1800"/>
              <a:buFont typeface="Proxima Nova"/>
              <a:buNone/>
              <a:defRPr sz="1800" b="0" i="0" u="none" strike="noStrike" cap="none">
                <a:solidFill>
                  <a:srgbClr val="000000"/>
                </a:solidFill>
                <a:latin typeface="Proxima Nova"/>
                <a:ea typeface="Proxima Nova"/>
                <a:cs typeface="Proxima Nova"/>
                <a:sym typeface="Proxima Nova"/>
              </a:defRPr>
            </a:lvl9pPr>
          </a:lstStyle>
          <a:p>
            <a:endParaRPr/>
          </a:p>
        </p:txBody>
      </p:sp>
      <p:sp>
        <p:nvSpPr>
          <p:cNvPr id="88" name="Google Shape;88;p29"/>
          <p:cNvSpPr txBox="1"/>
          <p:nvPr/>
        </p:nvSpPr>
        <p:spPr>
          <a:xfrm>
            <a:off x="4258440" y="4657790"/>
            <a:ext cx="4428300" cy="307800"/>
          </a:xfrm>
          <a:prstGeom prst="rect">
            <a:avLst/>
          </a:prstGeom>
          <a:noFill/>
          <a:ln>
            <a:noFill/>
          </a:ln>
        </p:spPr>
        <p:txBody>
          <a:bodyPr spcFirstLastPara="1" wrap="square" lIns="0" tIns="0" rIns="0" bIns="0" anchor="t" anchorCtr="0">
            <a:noAutofit/>
          </a:bodyPr>
          <a:lstStyle/>
          <a:p>
            <a:pPr marL="0" marR="0" lvl="0" indent="0" algn="r" rtl="0">
              <a:lnSpc>
                <a:spcPct val="115000"/>
              </a:lnSpc>
              <a:spcBef>
                <a:spcPts val="0"/>
              </a:spcBef>
              <a:spcAft>
                <a:spcPts val="0"/>
              </a:spcAft>
              <a:buClr>
                <a:srgbClr val="000000"/>
              </a:buClr>
              <a:buSzPts val="800"/>
              <a:buFont typeface="Arial"/>
              <a:buNone/>
            </a:pPr>
            <a:r>
              <a:rPr lang="en" sz="800" b="0" i="0" u="none" strike="noStrike" cap="none">
                <a:solidFill>
                  <a:srgbClr val="999999"/>
                </a:solidFill>
                <a:latin typeface="Proxima Nova"/>
                <a:ea typeface="Proxima Nova"/>
                <a:cs typeface="Proxima Nova"/>
                <a:sym typeface="Proxima Nova"/>
              </a:rPr>
              <a:t>© 2022 Relevantz Technology Services, Inc. All rights reserved</a:t>
            </a:r>
            <a:endParaRPr sz="800" b="0" i="0" u="none" strike="noStrike" cap="none">
              <a:solidFill>
                <a:srgbClr val="999999"/>
              </a:solidFill>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ingle column">
  <p:cSld name="TITLE_1_1_1_1_1">
    <p:bg>
      <p:bgPr>
        <a:noFill/>
        <a:effectLst/>
      </p:bgPr>
    </p:bg>
    <p:spTree>
      <p:nvGrpSpPr>
        <p:cNvPr id="1" name="Shape 90"/>
        <p:cNvGrpSpPr/>
        <p:nvPr/>
      </p:nvGrpSpPr>
      <p:grpSpPr>
        <a:xfrm>
          <a:off x="0" y="0"/>
          <a:ext cx="0" cy="0"/>
          <a:chOff x="0" y="0"/>
          <a:chExt cx="0" cy="0"/>
        </a:xfrm>
      </p:grpSpPr>
      <p:sp>
        <p:nvSpPr>
          <p:cNvPr id="91" name="Google Shape;91;p30"/>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30"/>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3" name="Google Shape;93;p30"/>
          <p:cNvSpPr txBox="1">
            <a:spLocks noGrp="1"/>
          </p:cNvSpPr>
          <p:nvPr>
            <p:ph type="body" idx="2"/>
          </p:nvPr>
        </p:nvSpPr>
        <p:spPr>
          <a:xfrm>
            <a:off x="450500" y="1293950"/>
            <a:ext cx="82173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95" name="Google Shape;95;p30"/>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96" name="Google Shape;96;p30"/>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uble coulmn">
  <p:cSld name="TITLE_1_1_1_1_1_1">
    <p:bg>
      <p:bgPr>
        <a:noFill/>
        <a:effectLst/>
      </p:bgPr>
    </p:bg>
    <p:spTree>
      <p:nvGrpSpPr>
        <p:cNvPr id="1" name="Shape 98"/>
        <p:cNvGrpSpPr/>
        <p:nvPr/>
      </p:nvGrpSpPr>
      <p:grpSpPr>
        <a:xfrm>
          <a:off x="0" y="0"/>
          <a:ext cx="0" cy="0"/>
          <a:chOff x="0" y="0"/>
          <a:chExt cx="0" cy="0"/>
        </a:xfrm>
      </p:grpSpPr>
      <p:sp>
        <p:nvSpPr>
          <p:cNvPr id="99" name="Google Shape;99;p31"/>
          <p:cNvSpPr txBox="1">
            <a:spLocks noGrp="1"/>
          </p:cNvSpPr>
          <p:nvPr>
            <p:ph type="subTitle" idx="1"/>
          </p:nvPr>
        </p:nvSpPr>
        <p:spPr>
          <a:xfrm>
            <a:off x="4600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0" name="Google Shape;100;p31"/>
          <p:cNvSpPr txBox="1">
            <a:spLocks noGrp="1"/>
          </p:cNvSpPr>
          <p:nvPr>
            <p:ph type="body" idx="2"/>
          </p:nvPr>
        </p:nvSpPr>
        <p:spPr>
          <a:xfrm>
            <a:off x="4505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1" name="Google Shape;101;p31"/>
          <p:cNvSpPr txBox="1">
            <a:spLocks noGrp="1"/>
          </p:cNvSpPr>
          <p:nvPr>
            <p:ph type="subTitle" idx="3"/>
          </p:nvPr>
        </p:nvSpPr>
        <p:spPr>
          <a:xfrm>
            <a:off x="4843175" y="9297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2" name="Google Shape;102;p31"/>
          <p:cNvSpPr txBox="1">
            <a:spLocks noGrp="1"/>
          </p:cNvSpPr>
          <p:nvPr>
            <p:ph type="body" idx="4"/>
          </p:nvPr>
        </p:nvSpPr>
        <p:spPr>
          <a:xfrm>
            <a:off x="4833600" y="12939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sp>
        <p:nvSpPr>
          <p:cNvPr id="104" name="Google Shape;104;p31"/>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31"/>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07" name="Google Shape;107;p31"/>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ingle column with image">
  <p:cSld name="TITLE_1_1_1_1_1_1_1">
    <p:bg>
      <p:bgPr>
        <a:noFill/>
        <a:effectLst/>
      </p:bgPr>
    </p:bg>
    <p:spTree>
      <p:nvGrpSpPr>
        <p:cNvPr id="1" name="Shape 108"/>
        <p:cNvGrpSpPr/>
        <p:nvPr/>
      </p:nvGrpSpPr>
      <p:grpSpPr>
        <a:xfrm>
          <a:off x="0" y="0"/>
          <a:ext cx="0" cy="0"/>
          <a:chOff x="0" y="0"/>
          <a:chExt cx="0" cy="0"/>
        </a:xfrm>
      </p:grpSpPr>
      <p:sp>
        <p:nvSpPr>
          <p:cNvPr id="109" name="Google Shape;109;p32"/>
          <p:cNvSpPr>
            <a:spLocks noGrp="1"/>
          </p:cNvSpPr>
          <p:nvPr>
            <p:ph type="pic" idx="2"/>
          </p:nvPr>
        </p:nvSpPr>
        <p:spPr>
          <a:xfrm>
            <a:off x="5027125" y="0"/>
            <a:ext cx="4116900" cy="5143500"/>
          </a:xfrm>
          <a:prstGeom prst="rect">
            <a:avLst/>
          </a:prstGeom>
          <a:noFill/>
          <a:ln>
            <a:noFill/>
          </a:ln>
        </p:spPr>
      </p:sp>
      <p:sp>
        <p:nvSpPr>
          <p:cNvPr id="110" name="Google Shape;110;p32"/>
          <p:cNvSpPr txBox="1"/>
          <p:nvPr/>
        </p:nvSpPr>
        <p:spPr>
          <a:xfrm>
            <a:off x="3423325"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11" name="Google Shape;111;p32"/>
          <p:cNvSpPr txBox="1">
            <a:spLocks noGrp="1"/>
          </p:cNvSpPr>
          <p:nvPr>
            <p:ph type="subTitle" idx="1"/>
          </p:nvPr>
        </p:nvSpPr>
        <p:spPr>
          <a:xfrm>
            <a:off x="460075" y="1082125"/>
            <a:ext cx="37572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32"/>
          <p:cNvSpPr txBox="1">
            <a:spLocks noGrp="1"/>
          </p:cNvSpPr>
          <p:nvPr>
            <p:ph type="body" idx="3"/>
          </p:nvPr>
        </p:nvSpPr>
        <p:spPr>
          <a:xfrm>
            <a:off x="450500" y="1446350"/>
            <a:ext cx="3853200" cy="3096000"/>
          </a:xfrm>
          <a:prstGeom prst="rect">
            <a:avLst/>
          </a:prstGeom>
          <a:noFill/>
          <a:ln>
            <a:noFill/>
          </a:ln>
        </p:spPr>
        <p:txBody>
          <a:bodyPr spcFirstLastPara="1" wrap="square" lIns="0" tIns="0" rIns="0" bIns="0" anchor="t" anchorCtr="0">
            <a:noAutofit/>
          </a:bodyPr>
          <a:lstStyle>
            <a:lvl1pPr marL="457200" marR="0" lvl="0" indent="-317500" algn="l" rtl="0">
              <a:lnSpc>
                <a:spcPct val="100000"/>
              </a:lnSpc>
              <a:spcBef>
                <a:spcPts val="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1pPr>
            <a:lvl2pPr marL="914400" marR="0" lvl="1"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2pPr>
            <a:lvl3pPr marL="1371600" marR="0" lvl="2"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3pPr>
            <a:lvl4pPr marL="1828800" marR="0" lvl="3"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4pPr>
            <a:lvl5pPr marL="2286000" marR="0" lvl="4"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5pPr>
            <a:lvl6pPr marL="2743200" marR="0" lvl="5"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6pPr>
            <a:lvl7pPr marL="3200400" marR="0" lvl="6"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7pPr>
            <a:lvl8pPr marL="3657600" marR="0" lvl="7" indent="-317500" algn="l" rtl="0">
              <a:lnSpc>
                <a:spcPct val="100000"/>
              </a:lnSpc>
              <a:spcBef>
                <a:spcPts val="400"/>
              </a:spcBef>
              <a:spcAft>
                <a:spcPts val="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8pPr>
            <a:lvl9pPr marL="4114800" marR="0" lvl="8" indent="-317500" algn="l" rtl="0">
              <a:lnSpc>
                <a:spcPct val="100000"/>
              </a:lnSpc>
              <a:spcBef>
                <a:spcPts val="400"/>
              </a:spcBef>
              <a:spcAft>
                <a:spcPts val="400"/>
              </a:spcAft>
              <a:buClr>
                <a:srgbClr val="000000"/>
              </a:buClr>
              <a:buSzPts val="1400"/>
              <a:buFont typeface="Proxima Nova"/>
              <a:buChar char="■"/>
              <a:defRPr sz="1400" b="0" i="0" u="none" strike="noStrike" cap="none">
                <a:solidFill>
                  <a:srgbClr val="000000"/>
                </a:solidFill>
                <a:latin typeface="Proxima Nova"/>
                <a:ea typeface="Proxima Nova"/>
                <a:cs typeface="Proxima Nova"/>
                <a:sym typeface="Proxima Nova"/>
              </a:defRPr>
            </a:lvl9pPr>
          </a:lstStyle>
          <a:p>
            <a:endParaRPr/>
          </a:p>
        </p:txBody>
      </p:sp>
      <p:pic>
        <p:nvPicPr>
          <p:cNvPr id="113" name="Google Shape;113;p32"/>
          <p:cNvPicPr preferRelativeResize="0"/>
          <p:nvPr/>
        </p:nvPicPr>
        <p:blipFill rotWithShape="1">
          <a:blip r:embed="rId2">
            <a:alphaModFix/>
          </a:blip>
          <a:srcRect/>
          <a:stretch/>
        </p:blipFill>
        <p:spPr>
          <a:xfrm>
            <a:off x="665082" y="4769500"/>
            <a:ext cx="858651" cy="164500"/>
          </a:xfrm>
          <a:prstGeom prst="rect">
            <a:avLst/>
          </a:prstGeom>
          <a:noFill/>
          <a:ln>
            <a:noFill/>
          </a:ln>
        </p:spPr>
      </p:pic>
      <p:sp>
        <p:nvSpPr>
          <p:cNvPr id="114" name="Google Shape;114;p32"/>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pic>
        <p:nvPicPr>
          <p:cNvPr id="115" name="Google Shape;115;p32"/>
          <p:cNvPicPr preferRelativeResize="0"/>
          <p:nvPr/>
        </p:nvPicPr>
        <p:blipFill rotWithShape="1">
          <a:blip r:embed="rId3">
            <a:alphaModFix/>
          </a:blip>
          <a:srcRect/>
          <a:stretch/>
        </p:blipFill>
        <p:spPr>
          <a:xfrm>
            <a:off x="0" y="4689200"/>
            <a:ext cx="614619" cy="457200"/>
          </a:xfrm>
          <a:prstGeom prst="rect">
            <a:avLst/>
          </a:prstGeom>
          <a:noFill/>
          <a:ln>
            <a:noFill/>
          </a:ln>
        </p:spPr>
      </p:pic>
      <p:sp>
        <p:nvSpPr>
          <p:cNvPr id="116" name="Google Shape;116;p32"/>
          <p:cNvSpPr txBox="1">
            <a:spLocks noGrp="1"/>
          </p:cNvSpPr>
          <p:nvPr>
            <p:ph type="title"/>
          </p:nvPr>
        </p:nvSpPr>
        <p:spPr>
          <a:xfrm>
            <a:off x="469650" y="287550"/>
            <a:ext cx="42846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rofile desciption">
  <p:cSld name="TITLE_1_1_1_1_1_1_1_1_1">
    <p:bg>
      <p:bgPr>
        <a:noFill/>
        <a:effectLst/>
      </p:bgPr>
    </p:bg>
    <p:spTree>
      <p:nvGrpSpPr>
        <p:cNvPr id="1" name="Shape 117"/>
        <p:cNvGrpSpPr/>
        <p:nvPr/>
      </p:nvGrpSpPr>
      <p:grpSpPr>
        <a:xfrm>
          <a:off x="0" y="0"/>
          <a:ext cx="0" cy="0"/>
          <a:chOff x="0" y="0"/>
          <a:chExt cx="0" cy="0"/>
        </a:xfrm>
      </p:grpSpPr>
      <p:sp>
        <p:nvSpPr>
          <p:cNvPr id="118" name="Google Shape;118;p33"/>
          <p:cNvSpPr txBox="1">
            <a:spLocks noGrp="1"/>
          </p:cNvSpPr>
          <p:nvPr>
            <p:ph type="subTitle" idx="1"/>
          </p:nvPr>
        </p:nvSpPr>
        <p:spPr>
          <a:xfrm>
            <a:off x="460075" y="929725"/>
            <a:ext cx="8217300" cy="2781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9" name="Google Shape;119;p33"/>
          <p:cNvSpPr/>
          <p:nvPr/>
        </p:nvSpPr>
        <p:spPr>
          <a:xfrm>
            <a:off x="8961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3"/>
          <p:cNvSpPr>
            <a:spLocks noGrp="1"/>
          </p:cNvSpPr>
          <p:nvPr>
            <p:ph type="pic" idx="2"/>
          </p:nvPr>
        </p:nvSpPr>
        <p:spPr>
          <a:xfrm>
            <a:off x="953750" y="1485825"/>
            <a:ext cx="1322700" cy="1322700"/>
          </a:xfrm>
          <a:prstGeom prst="ellipse">
            <a:avLst/>
          </a:prstGeom>
          <a:noFill/>
          <a:ln>
            <a:noFill/>
          </a:ln>
        </p:spPr>
      </p:sp>
      <p:sp>
        <p:nvSpPr>
          <p:cNvPr id="121" name="Google Shape;121;p33"/>
          <p:cNvSpPr txBox="1">
            <a:spLocks noGrp="1"/>
          </p:cNvSpPr>
          <p:nvPr>
            <p:ph type="body" idx="3"/>
          </p:nvPr>
        </p:nvSpPr>
        <p:spPr>
          <a:xfrm>
            <a:off x="4505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2" name="Google Shape;122;p33"/>
          <p:cNvSpPr/>
          <p:nvPr/>
        </p:nvSpPr>
        <p:spPr>
          <a:xfrm>
            <a:off x="3859350"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3"/>
          <p:cNvSpPr>
            <a:spLocks noGrp="1"/>
          </p:cNvSpPr>
          <p:nvPr>
            <p:ph type="pic" idx="4"/>
          </p:nvPr>
        </p:nvSpPr>
        <p:spPr>
          <a:xfrm>
            <a:off x="3916950" y="1485825"/>
            <a:ext cx="1322700" cy="1322700"/>
          </a:xfrm>
          <a:prstGeom prst="ellipse">
            <a:avLst/>
          </a:prstGeom>
          <a:noFill/>
          <a:ln>
            <a:noFill/>
          </a:ln>
        </p:spPr>
      </p:sp>
      <p:sp>
        <p:nvSpPr>
          <p:cNvPr id="124" name="Google Shape;124;p33"/>
          <p:cNvSpPr txBox="1">
            <a:spLocks noGrp="1"/>
          </p:cNvSpPr>
          <p:nvPr>
            <p:ph type="body" idx="5"/>
          </p:nvPr>
        </p:nvSpPr>
        <p:spPr>
          <a:xfrm>
            <a:off x="3413700"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5" name="Google Shape;125;p33"/>
          <p:cNvSpPr/>
          <p:nvPr/>
        </p:nvSpPr>
        <p:spPr>
          <a:xfrm>
            <a:off x="6793825" y="1428175"/>
            <a:ext cx="1437900" cy="1437900"/>
          </a:xfrm>
          <a:prstGeom prst="donut">
            <a:avLst>
              <a:gd name="adj" fmla="val 5329"/>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3"/>
          <p:cNvSpPr>
            <a:spLocks noGrp="1"/>
          </p:cNvSpPr>
          <p:nvPr>
            <p:ph type="pic" idx="6"/>
          </p:nvPr>
        </p:nvSpPr>
        <p:spPr>
          <a:xfrm>
            <a:off x="6851425" y="1485825"/>
            <a:ext cx="1322700" cy="1322700"/>
          </a:xfrm>
          <a:prstGeom prst="ellipse">
            <a:avLst/>
          </a:prstGeom>
          <a:noFill/>
          <a:ln>
            <a:noFill/>
          </a:ln>
        </p:spPr>
      </p:sp>
      <p:sp>
        <p:nvSpPr>
          <p:cNvPr id="127" name="Google Shape;127;p33"/>
          <p:cNvSpPr txBox="1">
            <a:spLocks noGrp="1"/>
          </p:cNvSpPr>
          <p:nvPr>
            <p:ph type="body" idx="7"/>
          </p:nvPr>
        </p:nvSpPr>
        <p:spPr>
          <a:xfrm>
            <a:off x="6348175" y="2952050"/>
            <a:ext cx="2329200" cy="1437900"/>
          </a:xfrm>
          <a:prstGeom prst="rect">
            <a:avLst/>
          </a:prstGeom>
          <a:noFill/>
          <a:ln>
            <a:noFill/>
          </a:ln>
        </p:spPr>
        <p:txBody>
          <a:bodyPr spcFirstLastPara="1" wrap="square" lIns="0" tIns="0" rIns="0" bIns="0" anchor="t" anchorCtr="0">
            <a:noAutofit/>
          </a:bodyPr>
          <a:lstStyle>
            <a:lvl1pPr marL="457200" marR="0" lvl="0" indent="-304800" algn="ctr" rtl="0">
              <a:lnSpc>
                <a:spcPct val="100000"/>
              </a:lnSpc>
              <a:spcBef>
                <a:spcPts val="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1pPr>
            <a:lvl2pPr marL="914400" marR="0" lvl="1"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2pPr>
            <a:lvl3pPr marL="1371600" marR="0" lvl="2"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3pPr>
            <a:lvl4pPr marL="1828800" marR="0" lvl="3"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4pPr>
            <a:lvl5pPr marL="2286000" marR="0" lvl="4"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5pPr>
            <a:lvl6pPr marL="2743200" marR="0" lvl="5"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6pPr>
            <a:lvl7pPr marL="3200400" marR="0" lvl="6"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7pPr>
            <a:lvl8pPr marL="3657600" marR="0" lvl="7" indent="-304800" algn="ctr" rtl="0">
              <a:lnSpc>
                <a:spcPct val="100000"/>
              </a:lnSpc>
              <a:spcBef>
                <a:spcPts val="400"/>
              </a:spcBef>
              <a:spcAft>
                <a:spcPts val="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8pPr>
            <a:lvl9pPr marL="4114800" marR="0" lvl="8" indent="-304800" algn="ctr" rtl="0">
              <a:lnSpc>
                <a:spcPct val="100000"/>
              </a:lnSpc>
              <a:spcBef>
                <a:spcPts val="400"/>
              </a:spcBef>
              <a:spcAft>
                <a:spcPts val="400"/>
              </a:spcAft>
              <a:buClr>
                <a:srgbClr val="000000"/>
              </a:buClr>
              <a:buSzPts val="1200"/>
              <a:buFont typeface="Proxima Nova"/>
              <a:buChar char="■"/>
              <a:defRPr sz="1200" b="0" i="0" u="none" strike="noStrike" cap="none">
                <a:solidFill>
                  <a:srgbClr val="000000"/>
                </a:solidFill>
                <a:latin typeface="Proxima Nova"/>
                <a:ea typeface="Proxima Nova"/>
                <a:cs typeface="Proxima Nova"/>
                <a:sym typeface="Proxima Nova"/>
              </a:defRPr>
            </a:lvl9pPr>
          </a:lstStyle>
          <a:p>
            <a:endParaRPr/>
          </a:p>
        </p:txBody>
      </p:sp>
      <p:sp>
        <p:nvSpPr>
          <p:cNvPr id="129" name="Google Shape;129;p33"/>
          <p:cNvSpPr txBox="1">
            <a:spLocks noGrp="1"/>
          </p:cNvSpPr>
          <p:nvPr>
            <p:ph type="sldNum" idx="12"/>
          </p:nvPr>
        </p:nvSpPr>
        <p:spPr>
          <a:xfrm>
            <a:off x="8472450" y="4712700"/>
            <a:ext cx="548700" cy="2781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25235B"/>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
        <p:nvSpPr>
          <p:cNvPr id="130" name="Google Shape;130;p33"/>
          <p:cNvSpPr txBox="1"/>
          <p:nvPr/>
        </p:nvSpPr>
        <p:spPr>
          <a:xfrm>
            <a:off x="3763400" y="4731900"/>
            <a:ext cx="1603800" cy="239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999999"/>
                </a:solidFill>
                <a:highlight>
                  <a:srgbClr val="FFFFFF"/>
                </a:highlight>
                <a:latin typeface="Proxima Nova"/>
                <a:ea typeface="Proxima Nova"/>
                <a:cs typeface="Proxima Nova"/>
                <a:sym typeface="Proxima Nova"/>
              </a:rPr>
              <a:t>   For Internal use only      </a:t>
            </a:r>
            <a:endParaRPr sz="800" b="0" i="0" u="none" strike="noStrike" cap="none">
              <a:solidFill>
                <a:srgbClr val="999999"/>
              </a:solidFill>
              <a:highlight>
                <a:srgbClr val="FFFFFF"/>
              </a:highlight>
              <a:latin typeface="Proxima Nova"/>
              <a:ea typeface="Proxima Nova"/>
              <a:cs typeface="Proxima Nova"/>
              <a:sym typeface="Proxima Nova"/>
            </a:endParaRPr>
          </a:p>
        </p:txBody>
      </p:sp>
      <p:sp>
        <p:nvSpPr>
          <p:cNvPr id="132" name="Google Shape;132;p33"/>
          <p:cNvSpPr txBox="1">
            <a:spLocks noGrp="1"/>
          </p:cNvSpPr>
          <p:nvPr>
            <p:ph type="title"/>
          </p:nvPr>
        </p:nvSpPr>
        <p:spPr>
          <a:xfrm>
            <a:off x="469650" y="287550"/>
            <a:ext cx="8217300" cy="627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accent1"/>
              </a:buClr>
              <a:buSzPts val="2400"/>
              <a:buFont typeface="Proxima Nova"/>
              <a:buNone/>
              <a:defRPr sz="2400" b="1" i="0" u="none" strike="noStrike" cap="none">
                <a:solidFill>
                  <a:schemeClr val="accent1"/>
                </a:solidFill>
                <a:latin typeface="Proxima Nova"/>
                <a:ea typeface="Proxima Nova"/>
                <a:cs typeface="Proxima Nova"/>
                <a:sym typeface="Proxima Nova"/>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1656">
          <p15:clr>
            <a:srgbClr val="FA7B17"/>
          </p15:clr>
        </p15:guide>
        <p15:guide id="2" pos="2880">
          <p15:clr>
            <a:srgbClr val="FA7B17"/>
          </p15:clr>
        </p15:guide>
        <p15:guide id="3" pos="288">
          <p15:clr>
            <a:srgbClr val="FA7B17"/>
          </p15:clr>
        </p15:guide>
        <p15:guide id="4" pos="5472">
          <p15:clr>
            <a:srgbClr val="FA7B17"/>
          </p15:clr>
        </p15:guide>
        <p15:guide id="5" orient="horz" pos="2952">
          <p15:clr>
            <a:srgbClr val="FA7B17"/>
          </p15:clr>
        </p15:guide>
        <p15:guide id="6" orient="horz" pos="576">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 you 1">
  <p:cSld name="CUSTOM_2">
    <p:spTree>
      <p:nvGrpSpPr>
        <p:cNvPr id="1" name="Shape 133"/>
        <p:cNvGrpSpPr/>
        <p:nvPr/>
      </p:nvGrpSpPr>
      <p:grpSpPr>
        <a:xfrm>
          <a:off x="0" y="0"/>
          <a:ext cx="0" cy="0"/>
          <a:chOff x="0" y="0"/>
          <a:chExt cx="0" cy="0"/>
        </a:xfrm>
      </p:grpSpPr>
      <p:sp>
        <p:nvSpPr>
          <p:cNvPr id="134" name="Google Shape;134;p34"/>
          <p:cNvSpPr txBox="1"/>
          <p:nvPr/>
        </p:nvSpPr>
        <p:spPr>
          <a:xfrm>
            <a:off x="2099100" y="1456925"/>
            <a:ext cx="5262000" cy="80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 sz="4400" b="0" i="0" u="none" strike="noStrike" cap="none">
                <a:solidFill>
                  <a:schemeClr val="accent1"/>
                </a:solidFill>
                <a:latin typeface="Proxima Nova"/>
                <a:ea typeface="Proxima Nova"/>
                <a:cs typeface="Proxima Nova"/>
                <a:sym typeface="Proxima Nova"/>
              </a:rPr>
              <a:t>THANK YOU</a:t>
            </a:r>
            <a:endParaRPr sz="4400" b="0" i="0" u="none" strike="noStrike" cap="none">
              <a:solidFill>
                <a:schemeClr val="accent1"/>
              </a:solidFill>
              <a:latin typeface="Proxima Nova"/>
              <a:ea typeface="Proxima Nova"/>
              <a:cs typeface="Proxima Nova"/>
              <a:sym typeface="Proxima Nova"/>
            </a:endParaRPr>
          </a:p>
        </p:txBody>
      </p:sp>
      <p:sp>
        <p:nvSpPr>
          <p:cNvPr id="135" name="Google Shape;135;p34"/>
          <p:cNvSpPr txBox="1">
            <a:spLocks noGrp="1"/>
          </p:cNvSpPr>
          <p:nvPr>
            <p:ph type="subTitle" idx="1"/>
          </p:nvPr>
        </p:nvSpPr>
        <p:spPr>
          <a:xfrm>
            <a:off x="2092775" y="2305650"/>
            <a:ext cx="5271900" cy="3207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1pPr>
            <a:lvl2pPr marR="0" lvl="1"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2pPr>
            <a:lvl3pPr marR="0" lvl="2"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3pPr>
            <a:lvl4pPr marR="0" lvl="3"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4pPr>
            <a:lvl5pPr marR="0" lvl="4"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5pPr>
            <a:lvl6pPr marR="0" lvl="5"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6pPr>
            <a:lvl7pPr marR="0" lvl="6"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7pPr>
            <a:lvl8pPr marR="0" lvl="7"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8pPr>
            <a:lvl9pPr marR="0" lvl="8" algn="l" rtl="0">
              <a:lnSpc>
                <a:spcPct val="100000"/>
              </a:lnSpc>
              <a:spcBef>
                <a:spcPts val="0"/>
              </a:spcBef>
              <a:spcAft>
                <a:spcPts val="0"/>
              </a:spcAft>
              <a:buClr>
                <a:srgbClr val="000000"/>
              </a:buClr>
              <a:buSzPts val="1800"/>
              <a:buFont typeface="Proxima Nova Semibold"/>
              <a:buNone/>
              <a:defRPr sz="1800" b="0" i="0" u="none" strike="noStrike" cap="none">
                <a:solidFill>
                  <a:srgbClr val="000000"/>
                </a:solidFill>
                <a:latin typeface="Proxima Nova Semibold"/>
                <a:ea typeface="Proxima Nova Semibold"/>
                <a:cs typeface="Proxima Nova Semibold"/>
                <a:sym typeface="Proxima Nova Semibold"/>
              </a:defRPr>
            </a:lvl9pPr>
          </a:lstStyle>
          <a:p>
            <a:endParaRPr/>
          </a:p>
        </p:txBody>
      </p:sp>
      <p:sp>
        <p:nvSpPr>
          <p:cNvPr id="138" name="Google Shape;138;p34"/>
          <p:cNvSpPr/>
          <p:nvPr/>
        </p:nvSpPr>
        <p:spPr>
          <a:xfrm>
            <a:off x="2166199" y="3057550"/>
            <a:ext cx="6492300" cy="279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5" r:id="rId4"/>
    <p:sldLayoutId id="2147483656"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7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27625e78053_0_64"/>
          <p:cNvSpPr txBox="1"/>
          <p:nvPr/>
        </p:nvSpPr>
        <p:spPr>
          <a:xfrm>
            <a:off x="702325" y="1771000"/>
            <a:ext cx="6725400" cy="663600"/>
          </a:xfrm>
          <a:prstGeom prst="rect">
            <a:avLst/>
          </a:prstGeom>
          <a:solidFill>
            <a:srgbClr val="A64D79"/>
          </a:solidFill>
          <a:ln>
            <a:noFill/>
          </a:ln>
        </p:spPr>
        <p:txBody>
          <a:bodyPr spcFirstLastPara="1" wrap="square" lIns="91425" tIns="45700" rIns="91425" bIns="45700" anchor="t" anchorCtr="0">
            <a:noAutofit/>
          </a:bodyPr>
          <a:lstStyle/>
          <a:p>
            <a:pPr algn="ctr">
              <a:lnSpc>
                <a:spcPct val="90000"/>
              </a:lnSpc>
              <a:buSzPts val="4000"/>
            </a:pPr>
            <a:r>
              <a:rPr lang="en-IN" sz="4000" dirty="0">
                <a:solidFill>
                  <a:schemeClr val="lt1"/>
                </a:solidFill>
                <a:latin typeface="Proxima Nova"/>
                <a:ea typeface="Proxima Nova"/>
                <a:cs typeface="Proxima Nova"/>
              </a:rPr>
              <a:t>Frontend with Angular</a:t>
            </a:r>
          </a:p>
        </p:txBody>
      </p:sp>
    </p:spTree>
    <p:extLst>
      <p:ext uri="{BB962C8B-B14F-4D97-AF65-F5344CB8AC3E}">
        <p14:creationId xmlns:p14="http://schemas.microsoft.com/office/powerpoint/2010/main" val="187629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E6BC2F85-BF1C-BA7D-EE18-505C2E0AD2D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43CCFDBD-0856-6439-17E1-4EDFA8EA9303}"/>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Life Cycle Hook</a:t>
            </a:r>
            <a:endParaRPr lang="en-IN" sz="2400" b="1" dirty="0"/>
          </a:p>
        </p:txBody>
      </p:sp>
      <p:sp>
        <p:nvSpPr>
          <p:cNvPr id="6" name="TextBox 5">
            <a:extLst>
              <a:ext uri="{FF2B5EF4-FFF2-40B4-BE49-F238E27FC236}">
                <a16:creationId xmlns:a16="http://schemas.microsoft.com/office/drawing/2014/main" id="{019A9C95-5D10-7214-A2B1-8797FB01CB0A}"/>
              </a:ext>
            </a:extLst>
          </p:cNvPr>
          <p:cNvSpPr txBox="1"/>
          <p:nvPr/>
        </p:nvSpPr>
        <p:spPr>
          <a:xfrm>
            <a:off x="426945" y="1132650"/>
            <a:ext cx="7063068" cy="2677656"/>
          </a:xfrm>
          <a:prstGeom prst="rect">
            <a:avLst/>
          </a:prstGeom>
          <a:noFill/>
        </p:spPr>
        <p:txBody>
          <a:bodyPr wrap="square">
            <a:spAutoFit/>
          </a:bodyPr>
          <a:lstStyle/>
          <a:p>
            <a:r>
              <a:rPr lang="en-US" dirty="0"/>
              <a:t>What is Angular life cycle hooks ?</a:t>
            </a:r>
          </a:p>
          <a:p>
            <a:endParaRPr lang="en-US" dirty="0"/>
          </a:p>
          <a:p>
            <a:r>
              <a:rPr lang="en-US" dirty="0"/>
              <a:t>The Angular life cycle hooks are nothing but callback functions, which angular invokes when a specific event occurs during the component’s life cycle. It forms a tree of components.</a:t>
            </a:r>
          </a:p>
          <a:p>
            <a:endParaRPr lang="en-US" dirty="0"/>
          </a:p>
          <a:p>
            <a:r>
              <a:rPr lang="en-US" dirty="0"/>
              <a:t>The life cycle hooks are the methods that angular invokes on directives and components as it creates, changes, and destroys them. </a:t>
            </a:r>
          </a:p>
          <a:p>
            <a:endParaRPr lang="en-US" dirty="0"/>
          </a:p>
          <a:p>
            <a:r>
              <a:rPr lang="en-US" dirty="0"/>
              <a:t>Using life-cycle hooks, we can fine-tune the behavior of our components during creation, update, and destruction. </a:t>
            </a:r>
          </a:p>
          <a:p>
            <a:endParaRPr lang="en-IN" dirty="0"/>
          </a:p>
        </p:txBody>
      </p:sp>
    </p:spTree>
    <p:extLst>
      <p:ext uri="{BB962C8B-B14F-4D97-AF65-F5344CB8AC3E}">
        <p14:creationId xmlns:p14="http://schemas.microsoft.com/office/powerpoint/2010/main" val="288870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C9663FF-BA1F-EC23-0E08-20625C8A67E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D5C70E3F-98CA-86C0-1D70-5DD9175D7EF0}"/>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6" name="TextBox 5">
            <a:extLst>
              <a:ext uri="{FF2B5EF4-FFF2-40B4-BE49-F238E27FC236}">
                <a16:creationId xmlns:a16="http://schemas.microsoft.com/office/drawing/2014/main" id="{0328984A-8197-8EE4-FA98-E1F5C2AF7CDE}"/>
              </a:ext>
            </a:extLst>
          </p:cNvPr>
          <p:cNvSpPr txBox="1"/>
          <p:nvPr/>
        </p:nvSpPr>
        <p:spPr>
          <a:xfrm>
            <a:off x="426945" y="1132650"/>
            <a:ext cx="7063068" cy="2462213"/>
          </a:xfrm>
          <a:prstGeom prst="rect">
            <a:avLst/>
          </a:prstGeom>
          <a:noFill/>
        </p:spPr>
        <p:txBody>
          <a:bodyPr wrap="square">
            <a:spAutoFit/>
          </a:bodyPr>
          <a:lstStyle/>
          <a:p>
            <a:pPr fontAlgn="base"/>
            <a:r>
              <a:rPr lang="en-IN" dirty="0"/>
              <a:t>Here is the complete list of life cycle hooks, which angular invokes during the component life cycle. Angular invokes them when a specific event occurs.</a:t>
            </a:r>
          </a:p>
          <a:p>
            <a:pPr fontAlgn="base"/>
            <a:endParaRPr lang="en-IN" dirty="0"/>
          </a:p>
          <a:p>
            <a:pPr marL="285750" indent="-285750" fontAlgn="base">
              <a:buFont typeface="Arial" panose="020B0604020202020204" pitchFamily="34" charset="0"/>
              <a:buChar char="•"/>
            </a:pPr>
            <a:r>
              <a:rPr lang="en-IN" dirty="0" err="1"/>
              <a:t>ngOnChanges</a:t>
            </a:r>
            <a:r>
              <a:rPr lang="en-IN" dirty="0"/>
              <a:t> → Input data changes</a:t>
            </a:r>
          </a:p>
          <a:p>
            <a:pPr marL="285750" indent="-285750" fontAlgn="base">
              <a:buFont typeface="Arial" panose="020B0604020202020204" pitchFamily="34" charset="0"/>
              <a:buChar char="•"/>
            </a:pPr>
            <a:r>
              <a:rPr lang="en-IN" dirty="0" err="1"/>
              <a:t>ngOnInit</a:t>
            </a:r>
            <a:r>
              <a:rPr lang="en-IN" dirty="0"/>
              <a:t> → Initial API call</a:t>
            </a:r>
          </a:p>
          <a:p>
            <a:pPr marL="285750" indent="-285750" fontAlgn="base">
              <a:buFont typeface="Arial" panose="020B0604020202020204" pitchFamily="34" charset="0"/>
              <a:buChar char="•"/>
            </a:pPr>
            <a:r>
              <a:rPr lang="en-IN" dirty="0" err="1"/>
              <a:t>ngDoCheck</a:t>
            </a:r>
            <a:r>
              <a:rPr lang="en-IN" dirty="0"/>
              <a:t> → Custom change detection</a:t>
            </a:r>
          </a:p>
          <a:p>
            <a:pPr marL="285750" indent="-285750" fontAlgn="base">
              <a:buFont typeface="Arial" panose="020B0604020202020204" pitchFamily="34" charset="0"/>
              <a:buChar char="•"/>
            </a:pPr>
            <a:r>
              <a:rPr lang="en-IN" dirty="0" err="1"/>
              <a:t>ngAfterContentInit</a:t>
            </a:r>
            <a:r>
              <a:rPr lang="en-IN" dirty="0"/>
              <a:t> → Content projection </a:t>
            </a:r>
            <a:r>
              <a:rPr lang="en-IN" dirty="0" err="1"/>
              <a:t>init</a:t>
            </a:r>
            <a:endParaRPr lang="en-IN" dirty="0"/>
          </a:p>
          <a:p>
            <a:pPr marL="285750" indent="-285750" fontAlgn="base">
              <a:buFont typeface="Arial" panose="020B0604020202020204" pitchFamily="34" charset="0"/>
              <a:buChar char="•"/>
            </a:pPr>
            <a:r>
              <a:rPr lang="en-IN" dirty="0" err="1"/>
              <a:t>ngAfterContentChecked</a:t>
            </a:r>
            <a:r>
              <a:rPr lang="en-IN" dirty="0"/>
              <a:t> → Content check</a:t>
            </a:r>
          </a:p>
          <a:p>
            <a:pPr marL="285750" indent="-285750" fontAlgn="base">
              <a:buFont typeface="Arial" panose="020B0604020202020204" pitchFamily="34" charset="0"/>
              <a:buChar char="•"/>
            </a:pPr>
            <a:r>
              <a:rPr lang="en-IN" dirty="0" err="1"/>
              <a:t>ngAfterViewInit</a:t>
            </a:r>
            <a:r>
              <a:rPr lang="en-IN" dirty="0"/>
              <a:t> → View ready</a:t>
            </a:r>
          </a:p>
          <a:p>
            <a:pPr marL="285750" indent="-285750" fontAlgn="base">
              <a:buFont typeface="Arial" panose="020B0604020202020204" pitchFamily="34" charset="0"/>
              <a:buChar char="•"/>
            </a:pPr>
            <a:r>
              <a:rPr lang="en-IN" dirty="0" err="1"/>
              <a:t>ngAfterViewChecked</a:t>
            </a:r>
            <a:r>
              <a:rPr lang="en-IN" dirty="0"/>
              <a:t> → View updates</a:t>
            </a:r>
          </a:p>
          <a:p>
            <a:pPr marL="285750" indent="-285750" fontAlgn="base">
              <a:buFont typeface="Arial" panose="020B0604020202020204" pitchFamily="34" charset="0"/>
              <a:buChar char="•"/>
            </a:pPr>
            <a:r>
              <a:rPr lang="en-IN" dirty="0" err="1"/>
              <a:t>ngOnDestroy</a:t>
            </a:r>
            <a:r>
              <a:rPr lang="en-IN" dirty="0"/>
              <a:t> → Cleanup</a:t>
            </a:r>
          </a:p>
        </p:txBody>
      </p:sp>
    </p:spTree>
    <p:extLst>
      <p:ext uri="{BB962C8B-B14F-4D97-AF65-F5344CB8AC3E}">
        <p14:creationId xmlns:p14="http://schemas.microsoft.com/office/powerpoint/2010/main" val="1597231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27F98073-2781-B7A0-909B-4D9A18B299D1}"/>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2B8C484-9CD0-2491-218D-D597ED9AEAFD}"/>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Angular Forms</a:t>
            </a:r>
            <a:endParaRPr lang="en-IN" sz="2400" b="1" dirty="0"/>
          </a:p>
        </p:txBody>
      </p:sp>
      <p:sp>
        <p:nvSpPr>
          <p:cNvPr id="6" name="TextBox 5">
            <a:extLst>
              <a:ext uri="{FF2B5EF4-FFF2-40B4-BE49-F238E27FC236}">
                <a16:creationId xmlns:a16="http://schemas.microsoft.com/office/drawing/2014/main" id="{DBA8596E-65A7-C26C-205F-006025931B21}"/>
              </a:ext>
            </a:extLst>
          </p:cNvPr>
          <p:cNvSpPr txBox="1"/>
          <p:nvPr/>
        </p:nvSpPr>
        <p:spPr>
          <a:xfrm>
            <a:off x="426945" y="1132650"/>
            <a:ext cx="7063068" cy="3108543"/>
          </a:xfrm>
          <a:prstGeom prst="rect">
            <a:avLst/>
          </a:prstGeom>
          <a:noFill/>
        </p:spPr>
        <p:txBody>
          <a:bodyPr wrap="square">
            <a:spAutoFit/>
          </a:bodyPr>
          <a:lstStyle/>
          <a:p>
            <a:pPr fontAlgn="base"/>
            <a:r>
              <a:rPr lang="en-US" dirty="0"/>
              <a:t>The Angular Forms module provides all the above services out of the box. It binds the form field to the Angular component class. </a:t>
            </a:r>
          </a:p>
          <a:p>
            <a:pPr fontAlgn="base"/>
            <a:endParaRPr lang="en-US" dirty="0"/>
          </a:p>
          <a:p>
            <a:pPr fontAlgn="base"/>
            <a:r>
              <a:rPr lang="en-US" dirty="0"/>
              <a:t>It tracks changes made to the form fields so that we can respond accordingly. It also provides the built-in validators to validate the inputs. </a:t>
            </a:r>
          </a:p>
          <a:p>
            <a:pPr fontAlgn="base"/>
            <a:endParaRPr lang="en-US" dirty="0"/>
          </a:p>
          <a:p>
            <a:pPr fontAlgn="base"/>
            <a:r>
              <a:rPr lang="en-US" dirty="0"/>
              <a:t>You can create your custom validator. It presents the validation errors to the user. </a:t>
            </a:r>
          </a:p>
          <a:p>
            <a:pPr fontAlgn="base"/>
            <a:endParaRPr lang="en-US" dirty="0"/>
          </a:p>
          <a:p>
            <a:pPr fontAlgn="base"/>
            <a:r>
              <a:rPr lang="en-US" dirty="0"/>
              <a:t>Finally, it encapsulates all the input fields into an object structure when the user submits the form.</a:t>
            </a:r>
          </a:p>
          <a:p>
            <a:pPr fontAlgn="base"/>
            <a:endParaRPr lang="en-US" dirty="0"/>
          </a:p>
          <a:p>
            <a:pPr fontAlgn="base"/>
            <a:r>
              <a:rPr lang="en-US" dirty="0"/>
              <a:t>Angular takes two approaches to build the forms. One is Template-driven forms approach and another one is Reactive forms or model-driven forms approach</a:t>
            </a:r>
          </a:p>
          <a:p>
            <a:pPr fontAlgn="base"/>
            <a:endParaRPr lang="en-IN" dirty="0"/>
          </a:p>
        </p:txBody>
      </p:sp>
    </p:spTree>
    <p:extLst>
      <p:ext uri="{BB962C8B-B14F-4D97-AF65-F5344CB8AC3E}">
        <p14:creationId xmlns:p14="http://schemas.microsoft.com/office/powerpoint/2010/main" val="1862919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F6126887-0B1F-4F18-9DDC-1064E21141A5}"/>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B6A2992-D9E0-D046-3EBC-596905C1B48E}"/>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Template-driven forms approach</a:t>
            </a:r>
            <a:endParaRPr lang="en-IN" sz="2400" b="1" dirty="0"/>
          </a:p>
        </p:txBody>
      </p:sp>
      <p:sp>
        <p:nvSpPr>
          <p:cNvPr id="4" name="TextBox 3">
            <a:extLst>
              <a:ext uri="{FF2B5EF4-FFF2-40B4-BE49-F238E27FC236}">
                <a16:creationId xmlns:a16="http://schemas.microsoft.com/office/drawing/2014/main" id="{37E8EB3A-086C-45F7-9385-AE7F05BE51F7}"/>
              </a:ext>
            </a:extLst>
          </p:cNvPr>
          <p:cNvSpPr txBox="1"/>
          <p:nvPr/>
        </p:nvSpPr>
        <p:spPr>
          <a:xfrm>
            <a:off x="381000" y="1106193"/>
            <a:ext cx="7835153" cy="2246769"/>
          </a:xfrm>
          <a:prstGeom prst="rect">
            <a:avLst/>
          </a:prstGeom>
          <a:noFill/>
        </p:spPr>
        <p:txBody>
          <a:bodyPr wrap="square">
            <a:spAutoFit/>
          </a:bodyPr>
          <a:lstStyle/>
          <a:p>
            <a:r>
              <a:rPr lang="en-US" b="1" dirty="0"/>
              <a:t>What is Template-driven form?</a:t>
            </a:r>
          </a:p>
          <a:p>
            <a:r>
              <a:rPr lang="en-US" dirty="0"/>
              <a:t>In Template Driven Forms we specify behaviors/validations using directives and attributes in our template and let it work behind the scenes. </a:t>
            </a:r>
          </a:p>
          <a:p>
            <a:endParaRPr lang="en-US" dirty="0"/>
          </a:p>
          <a:p>
            <a:r>
              <a:rPr lang="en-US" dirty="0"/>
              <a:t>All things happen in Templates hence very little code is required in the component class. This is different from the reactive forms, where we define the logic and controls in the component class.</a:t>
            </a:r>
          </a:p>
          <a:p>
            <a:endParaRPr lang="en-IN" dirty="0"/>
          </a:p>
          <a:p>
            <a:r>
              <a:rPr lang="en-IN" dirty="0"/>
              <a:t>In Template-driven approach is the easiest way to build the Angular forms. The logic of the form is placed in the template. It allows us to create sophisticated looking forms easily without writing any JavaScript code.</a:t>
            </a:r>
          </a:p>
        </p:txBody>
      </p:sp>
    </p:spTree>
    <p:extLst>
      <p:ext uri="{BB962C8B-B14F-4D97-AF65-F5344CB8AC3E}">
        <p14:creationId xmlns:p14="http://schemas.microsoft.com/office/powerpoint/2010/main" val="2509573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387A5BB8-BA30-570B-BB89-90332D4E6A8D}"/>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C86A22E9-FFFA-B0F2-82C6-B7234FC55B9A}"/>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Template-driven forms approach</a:t>
            </a:r>
            <a:endParaRPr lang="en-IN" sz="2400" b="1" dirty="0"/>
          </a:p>
        </p:txBody>
      </p:sp>
      <p:sp>
        <p:nvSpPr>
          <p:cNvPr id="4" name="TextBox 3">
            <a:extLst>
              <a:ext uri="{FF2B5EF4-FFF2-40B4-BE49-F238E27FC236}">
                <a16:creationId xmlns:a16="http://schemas.microsoft.com/office/drawing/2014/main" id="{5517143B-DC67-06AE-A7C2-A34A55019BB4}"/>
              </a:ext>
            </a:extLst>
          </p:cNvPr>
          <p:cNvSpPr txBox="1"/>
          <p:nvPr/>
        </p:nvSpPr>
        <p:spPr>
          <a:xfrm>
            <a:off x="381000" y="1106193"/>
            <a:ext cx="7835153" cy="3108543"/>
          </a:xfrm>
          <a:prstGeom prst="rect">
            <a:avLst/>
          </a:prstGeom>
          <a:noFill/>
        </p:spPr>
        <p:txBody>
          <a:bodyPr wrap="square">
            <a:spAutoFit/>
          </a:bodyPr>
          <a:lstStyle/>
          <a:p>
            <a:r>
              <a:rPr lang="en-US" dirty="0"/>
              <a:t>The Template-driven forms </a:t>
            </a:r>
          </a:p>
          <a:p>
            <a:endParaRPr lang="en-US" dirty="0"/>
          </a:p>
          <a:p>
            <a:r>
              <a:rPr lang="en-US" dirty="0"/>
              <a:t>The form is set up using </a:t>
            </a:r>
            <a:r>
              <a:rPr lang="en-US" dirty="0" err="1"/>
              <a:t>ngForm</a:t>
            </a:r>
            <a:r>
              <a:rPr lang="en-US" dirty="0"/>
              <a:t> directive</a:t>
            </a:r>
          </a:p>
          <a:p>
            <a:r>
              <a:rPr lang="en-US" dirty="0"/>
              <a:t>controls are set up using the </a:t>
            </a:r>
            <a:r>
              <a:rPr lang="en-US" dirty="0" err="1"/>
              <a:t>ngModel</a:t>
            </a:r>
            <a:r>
              <a:rPr lang="en-US" dirty="0"/>
              <a:t> directive</a:t>
            </a:r>
          </a:p>
          <a:p>
            <a:r>
              <a:rPr lang="en-US" dirty="0" err="1"/>
              <a:t>ngModel</a:t>
            </a:r>
            <a:r>
              <a:rPr lang="en-US" dirty="0"/>
              <a:t> also provides the two-way data binding</a:t>
            </a:r>
          </a:p>
          <a:p>
            <a:r>
              <a:rPr lang="en-US" dirty="0"/>
              <a:t>The Validations are configured in the template via directives</a:t>
            </a:r>
          </a:p>
          <a:p>
            <a:r>
              <a:rPr lang="en-US" dirty="0"/>
              <a:t>Template-driven forms are</a:t>
            </a:r>
          </a:p>
          <a:p>
            <a:endParaRPr lang="en-US" dirty="0"/>
          </a:p>
          <a:p>
            <a:pPr marL="285750" indent="-285750">
              <a:buFont typeface="Arial" panose="020B0604020202020204" pitchFamily="34" charset="0"/>
              <a:buChar char="•"/>
            </a:pPr>
            <a:r>
              <a:rPr lang="en-US" dirty="0"/>
              <a:t>Contains little code in the component class </a:t>
            </a:r>
          </a:p>
          <a:p>
            <a:pPr marL="285750" indent="-285750">
              <a:buFont typeface="Arial" panose="020B0604020202020204" pitchFamily="34" charset="0"/>
              <a:buChar char="•"/>
            </a:pPr>
            <a:r>
              <a:rPr lang="en-US" dirty="0"/>
              <a:t>Easier to set up </a:t>
            </a:r>
          </a:p>
          <a:p>
            <a:r>
              <a:rPr lang="en-US" dirty="0"/>
              <a:t>While they are</a:t>
            </a:r>
          </a:p>
          <a:p>
            <a:endParaRPr lang="en-US" dirty="0"/>
          </a:p>
          <a:p>
            <a:pPr marL="285750" indent="-285750">
              <a:buFont typeface="Arial" panose="020B0604020202020204" pitchFamily="34" charset="0"/>
              <a:buChar char="•"/>
            </a:pPr>
            <a:r>
              <a:rPr lang="en-US" dirty="0"/>
              <a:t>Difficult to add controls dynamically</a:t>
            </a:r>
          </a:p>
          <a:p>
            <a:pPr marL="285750" indent="-285750">
              <a:buFont typeface="Arial" panose="020B0604020202020204" pitchFamily="34" charset="0"/>
              <a:buChar char="•"/>
            </a:pPr>
            <a:r>
              <a:rPr lang="en-US" dirty="0"/>
              <a:t>Unit testing is a challenge</a:t>
            </a:r>
            <a:endParaRPr lang="en-IN" dirty="0"/>
          </a:p>
        </p:txBody>
      </p:sp>
    </p:spTree>
    <p:extLst>
      <p:ext uri="{BB962C8B-B14F-4D97-AF65-F5344CB8AC3E}">
        <p14:creationId xmlns:p14="http://schemas.microsoft.com/office/powerpoint/2010/main" val="376671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4BD17395-DAE4-612C-2CF3-57A05693951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515AAA4-743A-433A-94C0-1FD2C42C9E94}"/>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Template-driven Form Validation</a:t>
            </a:r>
            <a:endParaRPr lang="en-IN" sz="2400" b="1" dirty="0"/>
          </a:p>
        </p:txBody>
      </p:sp>
      <p:sp>
        <p:nvSpPr>
          <p:cNvPr id="6" name="TextBox 5">
            <a:extLst>
              <a:ext uri="{FF2B5EF4-FFF2-40B4-BE49-F238E27FC236}">
                <a16:creationId xmlns:a16="http://schemas.microsoft.com/office/drawing/2014/main" id="{E43BC3CA-EE61-6296-3124-42F9611B37B5}"/>
              </a:ext>
            </a:extLst>
          </p:cNvPr>
          <p:cNvSpPr txBox="1"/>
          <p:nvPr/>
        </p:nvSpPr>
        <p:spPr>
          <a:xfrm>
            <a:off x="477371" y="1017479"/>
            <a:ext cx="7725335" cy="2893100"/>
          </a:xfrm>
          <a:prstGeom prst="rect">
            <a:avLst/>
          </a:prstGeom>
          <a:noFill/>
        </p:spPr>
        <p:txBody>
          <a:bodyPr wrap="square">
            <a:spAutoFit/>
          </a:bodyPr>
          <a:lstStyle/>
          <a:p>
            <a:r>
              <a:rPr lang="en-IN" dirty="0"/>
              <a:t>Validations in Template-driven forms are provided by the Validation directives. The Angular Forms Module comes with several built-in validators. </a:t>
            </a:r>
          </a:p>
          <a:p>
            <a:endParaRPr lang="en-IN" dirty="0"/>
          </a:p>
          <a:p>
            <a:r>
              <a:rPr lang="en-IN" dirty="0"/>
              <a:t>You can also create your own custom Validator.</a:t>
            </a:r>
          </a:p>
          <a:p>
            <a:endParaRPr lang="en-IN" dirty="0"/>
          </a:p>
          <a:p>
            <a:r>
              <a:rPr lang="en-IN" dirty="0"/>
              <a:t>How to Build Custom Validator in template-driven form</a:t>
            </a:r>
          </a:p>
          <a:p>
            <a:r>
              <a:rPr lang="en-IN" dirty="0"/>
              <a:t>Building a Validator in template-driven forms is similar to building an Angular directive. The directive must implement the Validator interface.</a:t>
            </a:r>
          </a:p>
          <a:p>
            <a:endParaRPr lang="en-IN" dirty="0"/>
          </a:p>
          <a:p>
            <a:r>
              <a:rPr lang="en-IN" dirty="0"/>
              <a:t>interface Validator {</a:t>
            </a:r>
          </a:p>
          <a:p>
            <a:r>
              <a:rPr lang="en-IN" dirty="0"/>
              <a:t>  validate(control: </a:t>
            </a:r>
            <a:r>
              <a:rPr lang="en-IN" dirty="0" err="1"/>
              <a:t>AbstractControl</a:t>
            </a:r>
            <a:r>
              <a:rPr lang="en-IN" dirty="0"/>
              <a:t>): </a:t>
            </a:r>
            <a:r>
              <a:rPr lang="en-IN" dirty="0" err="1"/>
              <a:t>ValidationErrors</a:t>
            </a:r>
            <a:r>
              <a:rPr lang="en-IN" dirty="0"/>
              <a:t> | null</a:t>
            </a:r>
          </a:p>
          <a:p>
            <a:r>
              <a:rPr lang="en-IN" dirty="0"/>
              <a:t>  </a:t>
            </a:r>
            <a:r>
              <a:rPr lang="en-IN" dirty="0" err="1"/>
              <a:t>registerOnValidatorChange</a:t>
            </a:r>
            <a:r>
              <a:rPr lang="en-IN" dirty="0"/>
              <a:t>(</a:t>
            </a:r>
            <a:r>
              <a:rPr lang="en-IN" dirty="0" err="1"/>
              <a:t>fn</a:t>
            </a:r>
            <a:r>
              <a:rPr lang="en-IN" dirty="0"/>
              <a:t>: () =&gt; void)?: void</a:t>
            </a:r>
          </a:p>
          <a:p>
            <a:r>
              <a:rPr lang="en-IN" dirty="0"/>
              <a:t>}</a:t>
            </a:r>
          </a:p>
        </p:txBody>
      </p:sp>
    </p:spTree>
    <p:extLst>
      <p:ext uri="{BB962C8B-B14F-4D97-AF65-F5344CB8AC3E}">
        <p14:creationId xmlns:p14="http://schemas.microsoft.com/office/powerpoint/2010/main" val="1577807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DFFFAC5-0D3C-CD4D-4C17-69560BEA9B5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A6D20BB1-1205-A49C-2DA5-379F01C8FF1C}"/>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Model-driven forms approach (Reactive Forms)</a:t>
            </a:r>
            <a:endParaRPr lang="en-IN" sz="2400" b="1" dirty="0"/>
          </a:p>
        </p:txBody>
      </p:sp>
      <p:sp>
        <p:nvSpPr>
          <p:cNvPr id="4" name="TextBox 3">
            <a:extLst>
              <a:ext uri="{FF2B5EF4-FFF2-40B4-BE49-F238E27FC236}">
                <a16:creationId xmlns:a16="http://schemas.microsoft.com/office/drawing/2014/main" id="{C1BEE401-E153-7966-06E4-82FA109167FF}"/>
              </a:ext>
            </a:extLst>
          </p:cNvPr>
          <p:cNvSpPr txBox="1"/>
          <p:nvPr/>
        </p:nvSpPr>
        <p:spPr>
          <a:xfrm>
            <a:off x="380999" y="1361687"/>
            <a:ext cx="7835153" cy="2246769"/>
          </a:xfrm>
          <a:prstGeom prst="rect">
            <a:avLst/>
          </a:prstGeom>
          <a:noFill/>
        </p:spPr>
        <p:txBody>
          <a:bodyPr wrap="square">
            <a:spAutoFit/>
          </a:bodyPr>
          <a:lstStyle/>
          <a:p>
            <a:r>
              <a:rPr lang="en-US" dirty="0"/>
              <a:t>In Reactive Forms or Model-driven approach, the logic of the form is defined in the component as an object. </a:t>
            </a:r>
          </a:p>
          <a:p>
            <a:endParaRPr lang="en-US" dirty="0"/>
          </a:p>
          <a:p>
            <a:r>
              <a:rPr lang="en-US" dirty="0"/>
              <a:t>The Model-driven approach has more benefits as it makes the testing of the component easier.</a:t>
            </a:r>
          </a:p>
          <a:p>
            <a:endParaRPr lang="en-US" dirty="0"/>
          </a:p>
          <a:p>
            <a:r>
              <a:rPr lang="en-US" dirty="0"/>
              <a:t>In this approach, the representation of the form is created in the component class. where Form fields are created as properties of our component class. </a:t>
            </a:r>
          </a:p>
          <a:p>
            <a:endParaRPr lang="en-US" dirty="0"/>
          </a:p>
          <a:p>
            <a:r>
              <a:rPr lang="en-US" dirty="0"/>
              <a:t>This form model is then bound to the HTML elements using the special markups. This makes it easier to test.</a:t>
            </a:r>
            <a:endParaRPr lang="en-IN" dirty="0"/>
          </a:p>
        </p:txBody>
      </p:sp>
    </p:spTree>
    <p:extLst>
      <p:ext uri="{BB962C8B-B14F-4D97-AF65-F5344CB8AC3E}">
        <p14:creationId xmlns:p14="http://schemas.microsoft.com/office/powerpoint/2010/main" val="703240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7244592-E330-B372-3DE0-51E749D325C6}"/>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89077AC-AED8-82D5-4995-35CB53278376}"/>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US" sz="2400" dirty="0"/>
              <a:t>Angular using </a:t>
            </a:r>
            <a:r>
              <a:rPr lang="en-US" sz="2400" dirty="0" err="1"/>
              <a:t>RxJs</a:t>
            </a:r>
            <a:endParaRPr lang="en-IN" sz="2400" b="1" dirty="0"/>
          </a:p>
        </p:txBody>
      </p:sp>
      <p:sp>
        <p:nvSpPr>
          <p:cNvPr id="6" name="TextBox 5">
            <a:extLst>
              <a:ext uri="{FF2B5EF4-FFF2-40B4-BE49-F238E27FC236}">
                <a16:creationId xmlns:a16="http://schemas.microsoft.com/office/drawing/2014/main" id="{9637F1A3-6591-7FED-F12B-FE6ECC561FD6}"/>
              </a:ext>
            </a:extLst>
          </p:cNvPr>
          <p:cNvSpPr txBox="1"/>
          <p:nvPr/>
        </p:nvSpPr>
        <p:spPr>
          <a:xfrm>
            <a:off x="426945" y="1132650"/>
            <a:ext cx="8219514" cy="2462213"/>
          </a:xfrm>
          <a:prstGeom prst="rect">
            <a:avLst/>
          </a:prstGeom>
          <a:noFill/>
        </p:spPr>
        <p:txBody>
          <a:bodyPr wrap="square">
            <a:spAutoFit/>
          </a:bodyPr>
          <a:lstStyle/>
          <a:p>
            <a:r>
              <a:rPr lang="en-US" dirty="0"/>
              <a:t>The </a:t>
            </a:r>
            <a:r>
              <a:rPr lang="en-US" dirty="0" err="1"/>
              <a:t>RxJS</a:t>
            </a:r>
            <a:r>
              <a:rPr lang="en-US" dirty="0"/>
              <a:t> (Reactive Extensions Library for JavaScript) is a </a:t>
            </a:r>
            <a:r>
              <a:rPr lang="en-US" dirty="0" err="1"/>
              <a:t>Javascript</a:t>
            </a:r>
            <a:r>
              <a:rPr lang="en-US" dirty="0"/>
              <a:t> library that allows us to work with asynchronous data streams.</a:t>
            </a:r>
          </a:p>
          <a:p>
            <a:endParaRPr lang="en-US" dirty="0"/>
          </a:p>
          <a:p>
            <a:r>
              <a:rPr lang="en-US" dirty="0"/>
              <a:t>The </a:t>
            </a:r>
            <a:r>
              <a:rPr lang="en-US" dirty="0" err="1"/>
              <a:t>RxJs</a:t>
            </a:r>
            <a:r>
              <a:rPr lang="en-US" dirty="0"/>
              <a:t> has two main players</a:t>
            </a:r>
          </a:p>
          <a:p>
            <a:endParaRPr lang="en-US" dirty="0"/>
          </a:p>
          <a:p>
            <a:pPr marL="285750" indent="-285750">
              <a:buFont typeface="Arial" panose="020B0604020202020204" pitchFamily="34" charset="0"/>
              <a:buChar char="•"/>
            </a:pPr>
            <a:r>
              <a:rPr lang="en-US" dirty="0"/>
              <a:t>Observable</a:t>
            </a:r>
          </a:p>
          <a:p>
            <a:pPr marL="285750" indent="-285750">
              <a:buFont typeface="Arial" panose="020B0604020202020204" pitchFamily="34" charset="0"/>
              <a:buChar char="•"/>
            </a:pPr>
            <a:r>
              <a:rPr lang="en-US" dirty="0"/>
              <a:t>Observers ( Subscribers)</a:t>
            </a:r>
          </a:p>
          <a:p>
            <a:endParaRPr lang="en-US" dirty="0"/>
          </a:p>
          <a:p>
            <a:r>
              <a:rPr lang="en-US" dirty="0"/>
              <a:t>What is a data stream?</a:t>
            </a:r>
          </a:p>
          <a:p>
            <a:r>
              <a:rPr lang="en-US" dirty="0"/>
              <a:t>A data stream is the data that arrives over some time. The stream of data can be anything. Like variables, user inputs, properties, caches, data structures, and even failures, </a:t>
            </a:r>
            <a:r>
              <a:rPr lang="en-US" dirty="0" err="1"/>
              <a:t>etc</a:t>
            </a:r>
            <a:endParaRPr lang="en-US" dirty="0"/>
          </a:p>
        </p:txBody>
      </p:sp>
    </p:spTree>
    <p:extLst>
      <p:ext uri="{BB962C8B-B14F-4D97-AF65-F5344CB8AC3E}">
        <p14:creationId xmlns:p14="http://schemas.microsoft.com/office/powerpoint/2010/main" val="1726927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7F800182-AEAD-C0C2-4B7F-DED6908B844F}"/>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F9DD87CB-4F20-42B1-A1EB-A11834CB0139}"/>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4" name="TextBox 3">
            <a:extLst>
              <a:ext uri="{FF2B5EF4-FFF2-40B4-BE49-F238E27FC236}">
                <a16:creationId xmlns:a16="http://schemas.microsoft.com/office/drawing/2014/main" id="{23C1B4F7-1B07-5901-A856-F96C81EF985F}"/>
              </a:ext>
            </a:extLst>
          </p:cNvPr>
          <p:cNvSpPr txBox="1"/>
          <p:nvPr/>
        </p:nvSpPr>
        <p:spPr>
          <a:xfrm>
            <a:off x="381000" y="1100050"/>
            <a:ext cx="8381999" cy="3323987"/>
          </a:xfrm>
          <a:prstGeom prst="rect">
            <a:avLst/>
          </a:prstGeom>
          <a:noFill/>
        </p:spPr>
        <p:txBody>
          <a:bodyPr wrap="square">
            <a:spAutoFit/>
          </a:bodyPr>
          <a:lstStyle/>
          <a:p>
            <a:r>
              <a:rPr lang="en-US" dirty="0"/>
              <a:t>As said earlier the stream of data can be anything. For Example</a:t>
            </a:r>
          </a:p>
          <a:p>
            <a:endParaRPr lang="en-US" dirty="0"/>
          </a:p>
          <a:p>
            <a:pPr marL="285750" indent="-285750">
              <a:buFont typeface="Arial" panose="020B0604020202020204" pitchFamily="34" charset="0"/>
              <a:buChar char="•"/>
            </a:pPr>
            <a:r>
              <a:rPr lang="en-US" dirty="0"/>
              <a:t>Mouse click or Mouse hover events with x &amp; y positions</a:t>
            </a:r>
          </a:p>
          <a:p>
            <a:pPr marL="285750" indent="-285750">
              <a:buFont typeface="Arial" panose="020B0604020202020204" pitchFamily="34" charset="0"/>
              <a:buChar char="•"/>
            </a:pPr>
            <a:r>
              <a:rPr lang="en-US" dirty="0"/>
              <a:t>Keyboard events like </a:t>
            </a:r>
            <a:r>
              <a:rPr lang="en-US" dirty="0" err="1"/>
              <a:t>keyup</a:t>
            </a:r>
            <a:r>
              <a:rPr lang="en-US" dirty="0"/>
              <a:t>, </a:t>
            </a:r>
            <a:r>
              <a:rPr lang="en-US" dirty="0" err="1"/>
              <a:t>keydown</a:t>
            </a:r>
            <a:r>
              <a:rPr lang="en-US" dirty="0"/>
              <a:t>, keypress, </a:t>
            </a:r>
            <a:r>
              <a:rPr lang="en-US" dirty="0" err="1"/>
              <a:t>etc</a:t>
            </a:r>
            <a:endParaRPr lang="en-US" dirty="0"/>
          </a:p>
          <a:p>
            <a:pPr marL="285750" indent="-285750">
              <a:buFont typeface="Arial" panose="020B0604020202020204" pitchFamily="34" charset="0"/>
              <a:buChar char="•"/>
            </a:pPr>
            <a:r>
              <a:rPr lang="en-US" dirty="0"/>
              <a:t>Form events like value changes </a:t>
            </a:r>
            <a:r>
              <a:rPr lang="en-US" dirty="0" err="1"/>
              <a:t>etc</a:t>
            </a:r>
            <a:endParaRPr lang="en-US" dirty="0"/>
          </a:p>
          <a:p>
            <a:pPr marL="285750" indent="-285750">
              <a:buFont typeface="Arial" panose="020B0604020202020204" pitchFamily="34" charset="0"/>
              <a:buChar char="•"/>
            </a:pPr>
            <a:r>
              <a:rPr lang="en-US" dirty="0"/>
              <a:t>Data that arrives after an HTTP request</a:t>
            </a:r>
          </a:p>
          <a:p>
            <a:pPr marL="285750" indent="-285750">
              <a:buFont typeface="Arial" panose="020B0604020202020204" pitchFamily="34" charset="0"/>
              <a:buChar char="•"/>
            </a:pPr>
            <a:r>
              <a:rPr lang="en-US" dirty="0"/>
              <a:t>User Notifications</a:t>
            </a:r>
          </a:p>
          <a:p>
            <a:pPr marL="285750" indent="-285750">
              <a:buFont typeface="Arial" panose="020B0604020202020204" pitchFamily="34" charset="0"/>
              <a:buChar char="•"/>
            </a:pPr>
            <a:r>
              <a:rPr lang="en-US" dirty="0"/>
              <a:t>Measurements from any sensor</a:t>
            </a:r>
          </a:p>
          <a:p>
            <a:endParaRPr lang="en-US" dirty="0"/>
          </a:p>
          <a:p>
            <a:r>
              <a:rPr lang="en-US" dirty="0"/>
              <a:t>Important Points regarding streams can</a:t>
            </a:r>
          </a:p>
          <a:p>
            <a:endParaRPr lang="en-US" dirty="0"/>
          </a:p>
          <a:p>
            <a:pPr marL="285750" indent="-285750">
              <a:buFont typeface="Arial" panose="020B0604020202020204" pitchFamily="34" charset="0"/>
              <a:buChar char="•"/>
            </a:pPr>
            <a:r>
              <a:rPr lang="en-US" dirty="0"/>
              <a:t>Emit zero, one or more values of any time.</a:t>
            </a:r>
          </a:p>
          <a:p>
            <a:pPr marL="285750" indent="-285750">
              <a:buFont typeface="Arial" panose="020B0604020202020204" pitchFamily="34" charset="0"/>
              <a:buChar char="•"/>
            </a:pPr>
            <a:r>
              <a:rPr lang="en-US" dirty="0"/>
              <a:t>It can also emit errors.</a:t>
            </a:r>
          </a:p>
          <a:p>
            <a:pPr marL="285750" indent="-285750">
              <a:buFont typeface="Arial" panose="020B0604020202020204" pitchFamily="34" charset="0"/>
              <a:buChar char="•"/>
            </a:pPr>
            <a:r>
              <a:rPr lang="en-US" dirty="0"/>
              <a:t>Must emit the complete signal when completed (finite streams).</a:t>
            </a:r>
          </a:p>
          <a:p>
            <a:pPr marL="285750" indent="-285750">
              <a:buFont typeface="Arial" panose="020B0604020202020204" pitchFamily="34" charset="0"/>
              <a:buChar char="•"/>
            </a:pPr>
            <a:r>
              <a:rPr lang="en-US" dirty="0"/>
              <a:t>Can be infinite, and they never complete</a:t>
            </a:r>
            <a:endParaRPr lang="en-IN" dirty="0"/>
          </a:p>
        </p:txBody>
      </p:sp>
    </p:spTree>
    <p:extLst>
      <p:ext uri="{BB962C8B-B14F-4D97-AF65-F5344CB8AC3E}">
        <p14:creationId xmlns:p14="http://schemas.microsoft.com/office/powerpoint/2010/main" val="2698944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3821F539-780C-7B02-3BF7-8CB24C004268}"/>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5E1B0AEC-993B-1499-C544-A54E057D65CC}"/>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Observable in Angular</a:t>
            </a:r>
            <a:endParaRPr lang="en-IN" sz="2400" b="1" dirty="0"/>
          </a:p>
        </p:txBody>
      </p:sp>
      <p:sp>
        <p:nvSpPr>
          <p:cNvPr id="4" name="TextBox 3">
            <a:extLst>
              <a:ext uri="{FF2B5EF4-FFF2-40B4-BE49-F238E27FC236}">
                <a16:creationId xmlns:a16="http://schemas.microsoft.com/office/drawing/2014/main" id="{93959FE6-579C-0381-335E-2AA80E6270BC}"/>
              </a:ext>
            </a:extLst>
          </p:cNvPr>
          <p:cNvSpPr txBox="1"/>
          <p:nvPr/>
        </p:nvSpPr>
        <p:spPr>
          <a:xfrm>
            <a:off x="380999" y="1274862"/>
            <a:ext cx="7862048" cy="1815882"/>
          </a:xfrm>
          <a:prstGeom prst="rect">
            <a:avLst/>
          </a:prstGeom>
          <a:noFill/>
        </p:spPr>
        <p:txBody>
          <a:bodyPr wrap="square">
            <a:spAutoFit/>
          </a:bodyPr>
          <a:lstStyle/>
          <a:p>
            <a:r>
              <a:rPr lang="en-US" dirty="0"/>
              <a:t>What is an Observable in Angular ?</a:t>
            </a:r>
          </a:p>
          <a:p>
            <a:endParaRPr lang="en-US" dirty="0"/>
          </a:p>
          <a:p>
            <a:r>
              <a:rPr lang="en-US" dirty="0"/>
              <a:t>Observable is a function that converts the ordinary data stream into an observable one. You can think of Observable as a wrapper around the ordinary data stream.</a:t>
            </a:r>
          </a:p>
          <a:p>
            <a:endParaRPr lang="en-US" dirty="0"/>
          </a:p>
          <a:p>
            <a:r>
              <a:rPr lang="en-US" dirty="0"/>
              <a:t>An observable stream or simple Observable emits the value from the stream asynchronously. It emits the complete signals when the stream completes or an error signal if the stream errors out.</a:t>
            </a:r>
          </a:p>
          <a:p>
            <a:endParaRPr lang="en-US" dirty="0"/>
          </a:p>
        </p:txBody>
      </p:sp>
    </p:spTree>
    <p:extLst>
      <p:ext uri="{BB962C8B-B14F-4D97-AF65-F5344CB8AC3E}">
        <p14:creationId xmlns:p14="http://schemas.microsoft.com/office/powerpoint/2010/main" val="3354979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6710160A-EAD8-15EE-281C-517B00E94181}"/>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71197192-1DEC-F798-6A37-000D4F018784}"/>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sp>
        <p:nvSpPr>
          <p:cNvPr id="4" name="TextBox 3">
            <a:extLst>
              <a:ext uri="{FF2B5EF4-FFF2-40B4-BE49-F238E27FC236}">
                <a16:creationId xmlns:a16="http://schemas.microsoft.com/office/drawing/2014/main" id="{04029CB2-2821-749D-13F9-A7A6F1C1BF28}"/>
              </a:ext>
            </a:extLst>
          </p:cNvPr>
          <p:cNvSpPr txBox="1"/>
          <p:nvPr/>
        </p:nvSpPr>
        <p:spPr>
          <a:xfrm>
            <a:off x="381000" y="1274862"/>
            <a:ext cx="4964205" cy="2893100"/>
          </a:xfrm>
          <a:prstGeom prst="rect">
            <a:avLst/>
          </a:prstGeom>
          <a:noFill/>
        </p:spPr>
        <p:txBody>
          <a:bodyPr wrap="square">
            <a:spAutoFit/>
          </a:bodyPr>
          <a:lstStyle/>
          <a:p>
            <a:r>
              <a:rPr lang="en-US" dirty="0"/>
              <a:t>Who are the observers (subscribers)?</a:t>
            </a:r>
          </a:p>
          <a:p>
            <a:endParaRPr lang="en-US" dirty="0"/>
          </a:p>
          <a:p>
            <a:r>
              <a:rPr lang="en-US" dirty="0"/>
              <a:t>The Observable is only useful if someone consumes the value emitted by the observable. We call them observers or subscribers.</a:t>
            </a:r>
          </a:p>
          <a:p>
            <a:endParaRPr lang="en-US" dirty="0"/>
          </a:p>
          <a:p>
            <a:r>
              <a:rPr lang="en-US" dirty="0"/>
              <a:t>The observers communicate with the Observable using callbacks</a:t>
            </a:r>
          </a:p>
          <a:p>
            <a:endParaRPr lang="en-US" dirty="0"/>
          </a:p>
          <a:p>
            <a:r>
              <a:rPr lang="en-US" dirty="0"/>
              <a:t>The observer must subscribe to the observable to receive the value from the observable. While subscribing, it optionally passes the three callbacks. next(), error() &amp; complete()</a:t>
            </a:r>
            <a:endParaRPr lang="en-IN" dirty="0"/>
          </a:p>
        </p:txBody>
      </p:sp>
      <p:pic>
        <p:nvPicPr>
          <p:cNvPr id="32772" name="Picture 4" descr="Angular Observable Tutorial how observable and observers communicates with callbacks">
            <a:extLst>
              <a:ext uri="{FF2B5EF4-FFF2-40B4-BE49-F238E27FC236}">
                <a16:creationId xmlns:a16="http://schemas.microsoft.com/office/drawing/2014/main" id="{F8137072-2706-01E3-6D9D-A6713D3EBD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5205" y="1586754"/>
            <a:ext cx="3324505" cy="18324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55AB2D-58B6-BD26-FB48-365CBFE15922}"/>
              </a:ext>
            </a:extLst>
          </p:cNvPr>
          <p:cNvSpPr txBox="1"/>
          <p:nvPr/>
        </p:nvSpPr>
        <p:spPr>
          <a:xfrm>
            <a:off x="381000" y="4130982"/>
            <a:ext cx="8330453" cy="738664"/>
          </a:xfrm>
          <a:prstGeom prst="rect">
            <a:avLst/>
          </a:prstGeom>
          <a:noFill/>
        </p:spPr>
        <p:txBody>
          <a:bodyPr wrap="square">
            <a:spAutoFit/>
          </a:bodyPr>
          <a:lstStyle/>
          <a:p>
            <a:r>
              <a:rPr lang="en-US" dirty="0"/>
              <a:t>The observable invokes the next() callback whenever the value arrives in the stream. It passes the value as the argument to the next callback. If the error occurs, then the error() callback is invoked. It invokes the complete() callback when the stream completes.</a:t>
            </a:r>
            <a:endParaRPr lang="en-IN" dirty="0"/>
          </a:p>
        </p:txBody>
      </p:sp>
      <p:sp>
        <p:nvSpPr>
          <p:cNvPr id="6" name="TextBox 5">
            <a:extLst>
              <a:ext uri="{FF2B5EF4-FFF2-40B4-BE49-F238E27FC236}">
                <a16:creationId xmlns:a16="http://schemas.microsoft.com/office/drawing/2014/main" id="{58298C0B-4FB0-EBED-C281-365A70BF5D3A}"/>
              </a:ext>
            </a:extLst>
          </p:cNvPr>
          <p:cNvSpPr txBox="1"/>
          <p:nvPr/>
        </p:nvSpPr>
        <p:spPr>
          <a:xfrm>
            <a:off x="5345205" y="705583"/>
            <a:ext cx="3711388" cy="738664"/>
          </a:xfrm>
          <a:prstGeom prst="rect">
            <a:avLst/>
          </a:prstGeom>
          <a:noFill/>
        </p:spPr>
        <p:txBody>
          <a:bodyPr wrap="square">
            <a:spAutoFit/>
          </a:bodyPr>
          <a:lstStyle/>
          <a:p>
            <a:pPr lvl="0" eaLnBrk="0" fontAlgn="base" hangingPunct="0">
              <a:spcBef>
                <a:spcPct val="0"/>
              </a:spcBef>
              <a:spcAft>
                <a:spcPct val="0"/>
              </a:spcAft>
              <a:buClrTx/>
            </a:pPr>
            <a:r>
              <a:rPr lang="en-US" altLang="en-US" dirty="0"/>
              <a:t>Observable → Data stream</a:t>
            </a:r>
          </a:p>
          <a:p>
            <a:pPr lvl="0" eaLnBrk="0" fontAlgn="base" hangingPunct="0">
              <a:spcBef>
                <a:spcPct val="0"/>
              </a:spcBef>
              <a:spcAft>
                <a:spcPct val="0"/>
              </a:spcAft>
              <a:buClrTx/>
            </a:pPr>
            <a:r>
              <a:rPr lang="en-US" altLang="en-US" dirty="0"/>
              <a:t>Observer → Receives data</a:t>
            </a:r>
          </a:p>
          <a:p>
            <a:pPr lvl="0" eaLnBrk="0" fontAlgn="base" hangingPunct="0">
              <a:spcBef>
                <a:spcPct val="0"/>
              </a:spcBef>
              <a:spcAft>
                <a:spcPct val="0"/>
              </a:spcAft>
              <a:buClrTx/>
            </a:pPr>
            <a:r>
              <a:rPr lang="en-US" altLang="en-US" dirty="0"/>
              <a:t>Subscription → Executes stream</a:t>
            </a:r>
          </a:p>
        </p:txBody>
      </p:sp>
    </p:spTree>
    <p:extLst>
      <p:ext uri="{BB962C8B-B14F-4D97-AF65-F5344CB8AC3E}">
        <p14:creationId xmlns:p14="http://schemas.microsoft.com/office/powerpoint/2010/main" val="399388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1949CD35-2982-ED12-F370-1B5ECD6EF16B}"/>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BE07177F-B20E-D7B7-63A2-F8907CCBD458}"/>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err="1"/>
              <a:t>RxJS</a:t>
            </a:r>
            <a:r>
              <a:rPr lang="en-IN" sz="2400" dirty="0"/>
              <a:t> operators</a:t>
            </a:r>
            <a:endParaRPr lang="en-IN" sz="2400" b="1" dirty="0"/>
          </a:p>
        </p:txBody>
      </p:sp>
      <p:sp>
        <p:nvSpPr>
          <p:cNvPr id="7" name="TextBox 6">
            <a:extLst>
              <a:ext uri="{FF2B5EF4-FFF2-40B4-BE49-F238E27FC236}">
                <a16:creationId xmlns:a16="http://schemas.microsoft.com/office/drawing/2014/main" id="{7DF5634C-14D2-B092-188B-7138AD6F554C}"/>
              </a:ext>
            </a:extLst>
          </p:cNvPr>
          <p:cNvSpPr txBox="1"/>
          <p:nvPr/>
        </p:nvSpPr>
        <p:spPr>
          <a:xfrm>
            <a:off x="381000" y="1187021"/>
            <a:ext cx="8198224" cy="1169551"/>
          </a:xfrm>
          <a:prstGeom prst="rect">
            <a:avLst/>
          </a:prstGeom>
          <a:noFill/>
        </p:spPr>
        <p:txBody>
          <a:bodyPr wrap="square">
            <a:spAutoFit/>
          </a:bodyPr>
          <a:lstStyle/>
          <a:p>
            <a:r>
              <a:rPr lang="en-IN" dirty="0" err="1"/>
              <a:t>RxJS</a:t>
            </a:r>
            <a:r>
              <a:rPr lang="en-IN" dirty="0"/>
              <a:t> operators are fundamental functions in Angular used to manipulate, filter, and combine asynchronous data streams (Observables) for managing tasks like HTTP requests and user events.</a:t>
            </a:r>
          </a:p>
          <a:p>
            <a:br>
              <a:rPr lang="en-IN" dirty="0"/>
            </a:br>
            <a:r>
              <a:rPr lang="en-US" dirty="0"/>
              <a:t>Operators are generally categorized by their function. Common use cases in Angular include handling forms, API calls, and reactive state management.</a:t>
            </a:r>
            <a:r>
              <a:rPr lang="en-IN" dirty="0"/>
              <a:t> </a:t>
            </a:r>
          </a:p>
        </p:txBody>
      </p:sp>
      <p:graphicFrame>
        <p:nvGraphicFramePr>
          <p:cNvPr id="8" name="Table 7">
            <a:extLst>
              <a:ext uri="{FF2B5EF4-FFF2-40B4-BE49-F238E27FC236}">
                <a16:creationId xmlns:a16="http://schemas.microsoft.com/office/drawing/2014/main" id="{AED74F6F-3AE4-6DBB-9524-727B1DBF8FFB}"/>
              </a:ext>
            </a:extLst>
          </p:cNvPr>
          <p:cNvGraphicFramePr>
            <a:graphicFrameLocks noGrp="1"/>
          </p:cNvGraphicFramePr>
          <p:nvPr>
            <p:extLst>
              <p:ext uri="{D42A27DB-BD31-4B8C-83A1-F6EECF244321}">
                <p14:modId xmlns:p14="http://schemas.microsoft.com/office/powerpoint/2010/main" val="3013122915"/>
              </p:ext>
            </p:extLst>
          </p:nvPr>
        </p:nvGraphicFramePr>
        <p:xfrm>
          <a:off x="894770" y="2668625"/>
          <a:ext cx="7684454" cy="1420876"/>
        </p:xfrm>
        <a:graphic>
          <a:graphicData uri="http://schemas.openxmlformats.org/drawingml/2006/table">
            <a:tbl>
              <a:tblPr firstRow="1" firstCol="1" bandRow="1">
                <a:tableStyleId>{51958573-18DD-4F4F-87A5-23D0A4D2D5AC}</a:tableStyleId>
              </a:tblPr>
              <a:tblGrid>
                <a:gridCol w="1333288">
                  <a:extLst>
                    <a:ext uri="{9D8B030D-6E8A-4147-A177-3AD203B41FA5}">
                      <a16:colId xmlns:a16="http://schemas.microsoft.com/office/drawing/2014/main" val="922731683"/>
                    </a:ext>
                  </a:extLst>
                </a:gridCol>
                <a:gridCol w="3789682">
                  <a:extLst>
                    <a:ext uri="{9D8B030D-6E8A-4147-A177-3AD203B41FA5}">
                      <a16:colId xmlns:a16="http://schemas.microsoft.com/office/drawing/2014/main" val="2925414064"/>
                    </a:ext>
                  </a:extLst>
                </a:gridCol>
                <a:gridCol w="2561484">
                  <a:extLst>
                    <a:ext uri="{9D8B030D-6E8A-4147-A177-3AD203B41FA5}">
                      <a16:colId xmlns:a16="http://schemas.microsoft.com/office/drawing/2014/main" val="2050309740"/>
                    </a:ext>
                  </a:extLst>
                </a:gridCol>
              </a:tblGrid>
              <a:tr h="0">
                <a:tc>
                  <a:txBody>
                    <a:bodyPr/>
                    <a:lstStyle/>
                    <a:p>
                      <a:pPr>
                        <a:lnSpc>
                          <a:spcPts val="1650"/>
                        </a:lnSpc>
                        <a:spcAft>
                          <a:spcPts val="800"/>
                        </a:spcAft>
                        <a:buNone/>
                      </a:pPr>
                      <a:r>
                        <a:rPr lang="en-IN" sz="1050" dirty="0">
                          <a:effectLst/>
                        </a:rPr>
                        <a:t>Category </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tc>
                  <a:txBody>
                    <a:bodyPr/>
                    <a:lstStyle/>
                    <a:p>
                      <a:pPr>
                        <a:lnSpc>
                          <a:spcPts val="1650"/>
                        </a:lnSpc>
                        <a:spcAft>
                          <a:spcPts val="800"/>
                        </a:spcAft>
                        <a:buNone/>
                      </a:pPr>
                      <a:r>
                        <a:rPr lang="en-IN" sz="1050">
                          <a:effectLst/>
                        </a:rPr>
                        <a:t>Operators</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tc>
                  <a:txBody>
                    <a:bodyPr/>
                    <a:lstStyle/>
                    <a:p>
                      <a:pPr>
                        <a:lnSpc>
                          <a:spcPts val="1650"/>
                        </a:lnSpc>
                        <a:spcAft>
                          <a:spcPts val="800"/>
                        </a:spcAft>
                        <a:buNone/>
                      </a:pPr>
                      <a:r>
                        <a:rPr lang="en-IN" sz="1050">
                          <a:effectLst/>
                        </a:rPr>
                        <a:t>Use Case in Angular</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extLst>
                  <a:ext uri="{0D108BD9-81ED-4DB2-BD59-A6C34878D82A}">
                    <a16:rowId xmlns:a16="http://schemas.microsoft.com/office/drawing/2014/main" val="1317090703"/>
                  </a:ext>
                </a:extLst>
              </a:tr>
              <a:tr h="0">
                <a:tc>
                  <a:txBody>
                    <a:bodyPr/>
                    <a:lstStyle/>
                    <a:p>
                      <a:pPr>
                        <a:lnSpc>
                          <a:spcPts val="1650"/>
                        </a:lnSpc>
                        <a:spcAft>
                          <a:spcPts val="800"/>
                        </a:spcAft>
                        <a:buNone/>
                      </a:pPr>
                      <a:r>
                        <a:rPr lang="en-IN" sz="1050">
                          <a:effectLst/>
                        </a:rPr>
                        <a:t>Transformation</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a:effectLst/>
                        </a:rPr>
                        <a:t>map, </a:t>
                      </a:r>
                      <a:r>
                        <a:rPr lang="en-IN" sz="1050" dirty="0" err="1">
                          <a:effectLst/>
                        </a:rPr>
                        <a:t>switchMap</a:t>
                      </a:r>
                      <a:r>
                        <a:rPr lang="en-IN" sz="1050" dirty="0">
                          <a:effectLst/>
                        </a:rPr>
                        <a:t>, </a:t>
                      </a:r>
                      <a:r>
                        <a:rPr lang="en-IN" sz="1050" dirty="0" err="1">
                          <a:effectLst/>
                        </a:rPr>
                        <a:t>mergeMap</a:t>
                      </a:r>
                      <a:r>
                        <a:rPr lang="en-IN" sz="1050" dirty="0">
                          <a:effectLst/>
                        </a:rPr>
                        <a:t>, </a:t>
                      </a:r>
                      <a:r>
                        <a:rPr lang="en-IN" sz="1050" dirty="0" err="1">
                          <a:effectLst/>
                        </a:rPr>
                        <a:t>concatMap</a:t>
                      </a:r>
                      <a:r>
                        <a:rPr lang="en-IN" sz="1050" dirty="0">
                          <a:effectLst/>
                        </a:rPr>
                        <a:t>, </a:t>
                      </a:r>
                      <a:r>
                        <a:rPr lang="en-IN" sz="1050" dirty="0" err="1">
                          <a:effectLst/>
                        </a:rPr>
                        <a:t>exhaustMap</a:t>
                      </a:r>
                      <a:r>
                        <a:rPr lang="en-IN" sz="1050" dirty="0">
                          <a:effectLst/>
                        </a:rPr>
                        <a:t>, scan</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a:effectLst/>
                        </a:rPr>
                        <a:t>Transforming API responses to specific data models, </a:t>
                      </a:r>
                      <a:r>
                        <a:rPr lang="en-IN" sz="1050" dirty="0" err="1">
                          <a:effectLst/>
                        </a:rPr>
                        <a:t>canceling</a:t>
                      </a:r>
                      <a:r>
                        <a:rPr lang="en-IN" sz="1050" dirty="0">
                          <a:effectLst/>
                        </a:rPr>
                        <a:t> outdated search requests, processing tasks sequentially or concurrently.</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extLst>
                  <a:ext uri="{0D108BD9-81ED-4DB2-BD59-A6C34878D82A}">
                    <a16:rowId xmlns:a16="http://schemas.microsoft.com/office/drawing/2014/main" val="154144991"/>
                  </a:ext>
                </a:extLst>
              </a:tr>
            </a:tbl>
          </a:graphicData>
        </a:graphic>
      </p:graphicFrame>
    </p:spTree>
    <p:extLst>
      <p:ext uri="{BB962C8B-B14F-4D97-AF65-F5344CB8AC3E}">
        <p14:creationId xmlns:p14="http://schemas.microsoft.com/office/powerpoint/2010/main" val="3026481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0692435B-BE4D-9E3E-634C-F106B35A0B8A}"/>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51BDF279-1155-308C-E83B-4053B23E38B7}"/>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graphicFrame>
        <p:nvGraphicFramePr>
          <p:cNvPr id="10" name="Table 9">
            <a:extLst>
              <a:ext uri="{FF2B5EF4-FFF2-40B4-BE49-F238E27FC236}">
                <a16:creationId xmlns:a16="http://schemas.microsoft.com/office/drawing/2014/main" id="{5D5FA73F-FD5C-81F9-AD33-A963A481BFFD}"/>
              </a:ext>
            </a:extLst>
          </p:cNvPr>
          <p:cNvGraphicFramePr>
            <a:graphicFrameLocks noGrp="1"/>
          </p:cNvGraphicFramePr>
          <p:nvPr>
            <p:extLst>
              <p:ext uri="{D42A27DB-BD31-4B8C-83A1-F6EECF244321}">
                <p14:modId xmlns:p14="http://schemas.microsoft.com/office/powerpoint/2010/main" val="3826759037"/>
              </p:ext>
            </p:extLst>
          </p:nvPr>
        </p:nvGraphicFramePr>
        <p:xfrm>
          <a:off x="450475" y="1364447"/>
          <a:ext cx="8142195" cy="2588988"/>
        </p:xfrm>
        <a:graphic>
          <a:graphicData uri="http://schemas.openxmlformats.org/drawingml/2006/table">
            <a:tbl>
              <a:tblPr firstRow="1" firstCol="1" bandRow="1">
                <a:tableStyleId>{51958573-18DD-4F4F-87A5-23D0A4D2D5AC}</a:tableStyleId>
              </a:tblPr>
              <a:tblGrid>
                <a:gridCol w="1260130">
                  <a:extLst>
                    <a:ext uri="{9D8B030D-6E8A-4147-A177-3AD203B41FA5}">
                      <a16:colId xmlns:a16="http://schemas.microsoft.com/office/drawing/2014/main" val="922731683"/>
                    </a:ext>
                  </a:extLst>
                </a:gridCol>
                <a:gridCol w="3514158">
                  <a:extLst>
                    <a:ext uri="{9D8B030D-6E8A-4147-A177-3AD203B41FA5}">
                      <a16:colId xmlns:a16="http://schemas.microsoft.com/office/drawing/2014/main" val="2925414064"/>
                    </a:ext>
                  </a:extLst>
                </a:gridCol>
                <a:gridCol w="3367907">
                  <a:extLst>
                    <a:ext uri="{9D8B030D-6E8A-4147-A177-3AD203B41FA5}">
                      <a16:colId xmlns:a16="http://schemas.microsoft.com/office/drawing/2014/main" val="2050309740"/>
                    </a:ext>
                  </a:extLst>
                </a:gridCol>
              </a:tblGrid>
              <a:tr h="312162">
                <a:tc>
                  <a:txBody>
                    <a:bodyPr/>
                    <a:lstStyle/>
                    <a:p>
                      <a:pPr>
                        <a:lnSpc>
                          <a:spcPts val="1650"/>
                        </a:lnSpc>
                        <a:spcAft>
                          <a:spcPts val="800"/>
                        </a:spcAft>
                        <a:buNone/>
                      </a:pPr>
                      <a:r>
                        <a:rPr lang="en-IN" sz="1050" dirty="0">
                          <a:effectLst/>
                        </a:rPr>
                        <a:t>Category </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tc>
                  <a:txBody>
                    <a:bodyPr/>
                    <a:lstStyle/>
                    <a:p>
                      <a:pPr>
                        <a:lnSpc>
                          <a:spcPts val="1650"/>
                        </a:lnSpc>
                        <a:spcAft>
                          <a:spcPts val="800"/>
                        </a:spcAft>
                        <a:buNone/>
                      </a:pPr>
                      <a:r>
                        <a:rPr lang="en-IN" sz="1050">
                          <a:effectLst/>
                        </a:rPr>
                        <a:t>Operators</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tc>
                  <a:txBody>
                    <a:bodyPr/>
                    <a:lstStyle/>
                    <a:p>
                      <a:pPr>
                        <a:lnSpc>
                          <a:spcPts val="1650"/>
                        </a:lnSpc>
                        <a:spcAft>
                          <a:spcPts val="800"/>
                        </a:spcAft>
                        <a:buNone/>
                      </a:pPr>
                      <a:r>
                        <a:rPr lang="en-IN" sz="1050">
                          <a:effectLst/>
                        </a:rPr>
                        <a:t>Use Case in Angular</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extLst>
                  <a:ext uri="{0D108BD9-81ED-4DB2-BD59-A6C34878D82A}">
                    <a16:rowId xmlns:a16="http://schemas.microsoft.com/office/drawing/2014/main" val="1317090703"/>
                  </a:ext>
                </a:extLst>
              </a:tr>
              <a:tr h="1153997">
                <a:tc>
                  <a:txBody>
                    <a:bodyPr/>
                    <a:lstStyle/>
                    <a:p>
                      <a:pPr>
                        <a:lnSpc>
                          <a:spcPts val="1650"/>
                        </a:lnSpc>
                        <a:spcAft>
                          <a:spcPts val="800"/>
                        </a:spcAft>
                        <a:buNone/>
                      </a:pPr>
                      <a:r>
                        <a:rPr lang="en-IN" sz="1050" b="1">
                          <a:solidFill>
                            <a:schemeClr val="bg1"/>
                          </a:solidFill>
                          <a:effectLst/>
                          <a:latin typeface="Arial" panose="020B0604020202020204" pitchFamily="34" charset="0"/>
                          <a:ea typeface="Times New Roman" panose="02020603050405020304" pitchFamily="18" charset="0"/>
                          <a:cs typeface="Latha" panose="020B0604020202020204" pitchFamily="34" charset="0"/>
                        </a:rPr>
                        <a:t>Filtering</a:t>
                      </a:r>
                      <a:endParaRPr lang="en-IN" sz="1100">
                        <a:solidFill>
                          <a:schemeClr val="bg1"/>
                        </a:solidFill>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filter</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debounceTime</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endParaRPr lang="en-IN" sz="1100">
                        <a:effectLst/>
                        <a:latin typeface="Calibri" panose="020F0502020204030204" pitchFamily="34" charset="0"/>
                        <a:ea typeface="Calibri" panose="020F0502020204030204" pitchFamily="34" charset="0"/>
                        <a:cs typeface="Latha" panose="020B0604020202020204" pitchFamily="34" charset="0"/>
                      </a:endParaRPr>
                    </a:p>
                    <a:p>
                      <a:pPr>
                        <a:lnSpc>
                          <a:spcPts val="1650"/>
                        </a:lnSpc>
                        <a:spcAft>
                          <a:spcPts val="800"/>
                        </a:spcAft>
                        <a:buNone/>
                      </a:pP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distinctUntilChanged</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take</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skip</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Optimizing user input (e.g., search bars) to prevent excessive API calls, selecting values that meet a condition, limiting emissions.</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extLst>
                  <a:ext uri="{0D108BD9-81ED-4DB2-BD59-A6C34878D82A}">
                    <a16:rowId xmlns:a16="http://schemas.microsoft.com/office/drawing/2014/main" val="154144991"/>
                  </a:ext>
                </a:extLst>
              </a:tr>
              <a:tr h="1086503">
                <a:tc>
                  <a:txBody>
                    <a:bodyPr/>
                    <a:lstStyle/>
                    <a:p>
                      <a:pPr>
                        <a:lnSpc>
                          <a:spcPts val="1650"/>
                        </a:lnSpc>
                        <a:spcAft>
                          <a:spcPts val="800"/>
                        </a:spcAft>
                        <a:buNone/>
                      </a:pPr>
                      <a:r>
                        <a:rPr lang="en-IN" sz="1050" b="1" dirty="0">
                          <a:solidFill>
                            <a:schemeClr val="bg1"/>
                          </a:solidFill>
                          <a:effectLst/>
                          <a:latin typeface="Arial" panose="020B0604020202020204" pitchFamily="34" charset="0"/>
                          <a:ea typeface="Times New Roman" panose="02020603050405020304" pitchFamily="18" charset="0"/>
                          <a:cs typeface="Latha" panose="020B0604020202020204" pitchFamily="34" charset="0"/>
                        </a:rPr>
                        <a:t>Combination</a:t>
                      </a:r>
                      <a:endParaRPr lang="en-IN" sz="1100" dirty="0">
                        <a:solidFill>
                          <a:schemeClr val="bg1"/>
                        </a:solidFill>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err="1">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combineLatest</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endParaRPr lang="en-IN" sz="1100" dirty="0">
                        <a:effectLst/>
                        <a:latin typeface="Calibri" panose="020F0502020204030204" pitchFamily="34" charset="0"/>
                        <a:ea typeface="Calibri" panose="020F0502020204030204" pitchFamily="34" charset="0"/>
                        <a:cs typeface="Latha" panose="020B0604020202020204" pitchFamily="34" charset="0"/>
                      </a:endParaRPr>
                    </a:p>
                    <a:p>
                      <a:pPr>
                        <a:lnSpc>
                          <a:spcPts val="1650"/>
                        </a:lnSpc>
                        <a:spcAft>
                          <a:spcPts val="800"/>
                        </a:spcAft>
                        <a:buNone/>
                      </a:pPr>
                      <a:r>
                        <a:rPr lang="en-IN" sz="1050" dirty="0" err="1">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forkJoin</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dirty="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merge</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dirty="0" err="1">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concat</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dirty="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zip</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Waiting for multiple parallel HTTP requests to complete (</a:t>
                      </a:r>
                      <a:r>
                        <a:rPr lang="en-IN" sz="1050" dirty="0" err="1">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forkJoin</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combining the latest values from multiple form inputs or data sources (</a:t>
                      </a:r>
                      <a:r>
                        <a:rPr lang="en-IN" sz="1050" dirty="0" err="1">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combineLatest</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extLst>
                  <a:ext uri="{0D108BD9-81ED-4DB2-BD59-A6C34878D82A}">
                    <a16:rowId xmlns:a16="http://schemas.microsoft.com/office/drawing/2014/main" val="616948035"/>
                  </a:ext>
                </a:extLst>
              </a:tr>
            </a:tbl>
          </a:graphicData>
        </a:graphic>
      </p:graphicFrame>
    </p:spTree>
    <p:extLst>
      <p:ext uri="{BB962C8B-B14F-4D97-AF65-F5344CB8AC3E}">
        <p14:creationId xmlns:p14="http://schemas.microsoft.com/office/powerpoint/2010/main" val="4005215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1">
          <a:extLst>
            <a:ext uri="{FF2B5EF4-FFF2-40B4-BE49-F238E27FC236}">
              <a16:creationId xmlns:a16="http://schemas.microsoft.com/office/drawing/2014/main" id="{925D9DBF-B7F6-552E-69BA-BBE501B47754}"/>
            </a:ext>
          </a:extLst>
        </p:cNvPr>
        <p:cNvGrpSpPr/>
        <p:nvPr/>
      </p:nvGrpSpPr>
      <p:grpSpPr>
        <a:xfrm>
          <a:off x="0" y="0"/>
          <a:ext cx="0" cy="0"/>
          <a:chOff x="0" y="0"/>
          <a:chExt cx="0" cy="0"/>
        </a:xfrm>
      </p:grpSpPr>
      <p:sp>
        <p:nvSpPr>
          <p:cNvPr id="283" name="Google Shape;283;g23d6530f4b9_0_82">
            <a:extLst>
              <a:ext uri="{FF2B5EF4-FFF2-40B4-BE49-F238E27FC236}">
                <a16:creationId xmlns:a16="http://schemas.microsoft.com/office/drawing/2014/main" id="{4FC3664B-9415-5ED5-9E2E-0F988F0762ED}"/>
              </a:ext>
            </a:extLst>
          </p:cNvPr>
          <p:cNvSpPr txBox="1"/>
          <p:nvPr/>
        </p:nvSpPr>
        <p:spPr>
          <a:xfrm>
            <a:off x="381000" y="321000"/>
            <a:ext cx="8382000" cy="553968"/>
          </a:xfrm>
          <a:prstGeom prst="rect">
            <a:avLst/>
          </a:prstGeom>
          <a:noFill/>
          <a:ln>
            <a:noFill/>
          </a:ln>
        </p:spPr>
        <p:txBody>
          <a:bodyPr spcFirstLastPara="1" wrap="square" lIns="91425" tIns="91425" rIns="91425" bIns="91425" anchor="t" anchorCtr="0">
            <a:spAutoFit/>
          </a:bodyPr>
          <a:lstStyle/>
          <a:p>
            <a:r>
              <a:rPr lang="en-IN" sz="2400" dirty="0"/>
              <a:t>Cont.,</a:t>
            </a:r>
            <a:endParaRPr lang="en-IN" sz="2400" b="1" dirty="0"/>
          </a:p>
        </p:txBody>
      </p:sp>
      <p:graphicFrame>
        <p:nvGraphicFramePr>
          <p:cNvPr id="2" name="Table 1">
            <a:extLst>
              <a:ext uri="{FF2B5EF4-FFF2-40B4-BE49-F238E27FC236}">
                <a16:creationId xmlns:a16="http://schemas.microsoft.com/office/drawing/2014/main" id="{5BBB6D6B-80EE-9399-E1B0-5DDD430D8D6B}"/>
              </a:ext>
            </a:extLst>
          </p:cNvPr>
          <p:cNvGraphicFramePr>
            <a:graphicFrameLocks noGrp="1"/>
          </p:cNvGraphicFramePr>
          <p:nvPr>
            <p:extLst>
              <p:ext uri="{D42A27DB-BD31-4B8C-83A1-F6EECF244321}">
                <p14:modId xmlns:p14="http://schemas.microsoft.com/office/powerpoint/2010/main" val="1736055863"/>
              </p:ext>
            </p:extLst>
          </p:nvPr>
        </p:nvGraphicFramePr>
        <p:xfrm>
          <a:off x="450475" y="1364447"/>
          <a:ext cx="8142195" cy="2588988"/>
        </p:xfrm>
        <a:graphic>
          <a:graphicData uri="http://schemas.openxmlformats.org/drawingml/2006/table">
            <a:tbl>
              <a:tblPr firstRow="1" firstCol="1" bandRow="1">
                <a:tableStyleId>{51958573-18DD-4F4F-87A5-23D0A4D2D5AC}</a:tableStyleId>
              </a:tblPr>
              <a:tblGrid>
                <a:gridCol w="1260130">
                  <a:extLst>
                    <a:ext uri="{9D8B030D-6E8A-4147-A177-3AD203B41FA5}">
                      <a16:colId xmlns:a16="http://schemas.microsoft.com/office/drawing/2014/main" val="922731683"/>
                    </a:ext>
                  </a:extLst>
                </a:gridCol>
                <a:gridCol w="3514158">
                  <a:extLst>
                    <a:ext uri="{9D8B030D-6E8A-4147-A177-3AD203B41FA5}">
                      <a16:colId xmlns:a16="http://schemas.microsoft.com/office/drawing/2014/main" val="2925414064"/>
                    </a:ext>
                  </a:extLst>
                </a:gridCol>
                <a:gridCol w="3367907">
                  <a:extLst>
                    <a:ext uri="{9D8B030D-6E8A-4147-A177-3AD203B41FA5}">
                      <a16:colId xmlns:a16="http://schemas.microsoft.com/office/drawing/2014/main" val="2050309740"/>
                    </a:ext>
                  </a:extLst>
                </a:gridCol>
              </a:tblGrid>
              <a:tr h="312162">
                <a:tc>
                  <a:txBody>
                    <a:bodyPr/>
                    <a:lstStyle/>
                    <a:p>
                      <a:pPr>
                        <a:lnSpc>
                          <a:spcPts val="1650"/>
                        </a:lnSpc>
                        <a:spcAft>
                          <a:spcPts val="800"/>
                        </a:spcAft>
                        <a:buNone/>
                      </a:pPr>
                      <a:r>
                        <a:rPr lang="en-IN" sz="1050" dirty="0">
                          <a:effectLst/>
                        </a:rPr>
                        <a:t>Category </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tc>
                  <a:txBody>
                    <a:bodyPr/>
                    <a:lstStyle/>
                    <a:p>
                      <a:pPr>
                        <a:lnSpc>
                          <a:spcPts val="1650"/>
                        </a:lnSpc>
                        <a:spcAft>
                          <a:spcPts val="800"/>
                        </a:spcAft>
                        <a:buNone/>
                      </a:pPr>
                      <a:r>
                        <a:rPr lang="en-IN" sz="1050">
                          <a:effectLst/>
                        </a:rPr>
                        <a:t>Operators</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tc>
                  <a:txBody>
                    <a:bodyPr/>
                    <a:lstStyle/>
                    <a:p>
                      <a:pPr>
                        <a:lnSpc>
                          <a:spcPts val="1650"/>
                        </a:lnSpc>
                        <a:spcAft>
                          <a:spcPts val="800"/>
                        </a:spcAft>
                        <a:buNone/>
                      </a:pPr>
                      <a:r>
                        <a:rPr lang="en-IN" sz="1050">
                          <a:effectLst/>
                        </a:rPr>
                        <a:t>Use Case in Angular</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76200" marB="76200"/>
                </a:tc>
                <a:extLst>
                  <a:ext uri="{0D108BD9-81ED-4DB2-BD59-A6C34878D82A}">
                    <a16:rowId xmlns:a16="http://schemas.microsoft.com/office/drawing/2014/main" val="1317090703"/>
                  </a:ext>
                </a:extLst>
              </a:tr>
              <a:tr h="1153997">
                <a:tc>
                  <a:txBody>
                    <a:bodyPr/>
                    <a:lstStyle/>
                    <a:p>
                      <a:pPr>
                        <a:lnSpc>
                          <a:spcPts val="1650"/>
                        </a:lnSpc>
                        <a:spcAft>
                          <a:spcPts val="800"/>
                        </a:spcAft>
                        <a:buNone/>
                      </a:pPr>
                      <a:r>
                        <a:rPr lang="en-IN" sz="1050" b="1">
                          <a:solidFill>
                            <a:schemeClr val="bg1"/>
                          </a:solidFill>
                          <a:effectLst/>
                          <a:latin typeface="Arial" panose="020B0604020202020204" pitchFamily="34" charset="0"/>
                          <a:ea typeface="Times New Roman" panose="02020603050405020304" pitchFamily="18" charset="0"/>
                          <a:cs typeface="Latha" panose="020B0604020202020204" pitchFamily="34" charset="0"/>
                        </a:rPr>
                        <a:t>Error Handling</a:t>
                      </a:r>
                      <a:endParaRPr lang="en-IN" sz="1100">
                        <a:solidFill>
                          <a:schemeClr val="bg1"/>
                        </a:solidFill>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catchError</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retry</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Gracefully handling failed API requests, logging errors, or providing fallback data to keep the application stable.</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extLst>
                  <a:ext uri="{0D108BD9-81ED-4DB2-BD59-A6C34878D82A}">
                    <a16:rowId xmlns:a16="http://schemas.microsoft.com/office/drawing/2014/main" val="154144991"/>
                  </a:ext>
                </a:extLst>
              </a:tr>
              <a:tr h="1086503">
                <a:tc>
                  <a:txBody>
                    <a:bodyPr/>
                    <a:lstStyle/>
                    <a:p>
                      <a:pPr>
                        <a:lnSpc>
                          <a:spcPts val="1650"/>
                        </a:lnSpc>
                        <a:spcAft>
                          <a:spcPts val="800"/>
                        </a:spcAft>
                        <a:buNone/>
                      </a:pPr>
                      <a:r>
                        <a:rPr lang="en-IN" sz="1050" b="1" dirty="0">
                          <a:solidFill>
                            <a:schemeClr val="bg1"/>
                          </a:solidFill>
                          <a:effectLst/>
                          <a:latin typeface="Arial" panose="020B0604020202020204" pitchFamily="34" charset="0"/>
                          <a:ea typeface="Times New Roman" panose="02020603050405020304" pitchFamily="18" charset="0"/>
                          <a:cs typeface="Latha" panose="020B0604020202020204" pitchFamily="34" charset="0"/>
                        </a:rPr>
                        <a:t>Creation</a:t>
                      </a:r>
                      <a:endParaRPr lang="en-IN" sz="1100" dirty="0">
                        <a:solidFill>
                          <a:schemeClr val="bg1"/>
                        </a:solidFill>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of</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from</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fromEvent</a:t>
                      </a:r>
                      <a:r>
                        <a:rPr lang="en-IN" sz="105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t>
                      </a:r>
                      <a:r>
                        <a:rPr lang="en-IN" sz="105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interval</a:t>
                      </a:r>
                      <a:endParaRPr lang="en-IN" sz="110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tc>
                  <a:txBody>
                    <a:bodyPr/>
                    <a:lstStyle/>
                    <a:p>
                      <a:pPr>
                        <a:lnSpc>
                          <a:spcPts val="1650"/>
                        </a:lnSpc>
                        <a:spcAft>
                          <a:spcPts val="800"/>
                        </a:spcAft>
                        <a:buNone/>
                      </a:pP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Creating Observables from static values (</a:t>
                      </a:r>
                      <a:r>
                        <a:rPr lang="en-IN" sz="1050" dirty="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of</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arrays or Promises (</a:t>
                      </a:r>
                      <a:r>
                        <a:rPr lang="en-IN" sz="1050" dirty="0">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from</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 or DOM events like clicks and keystrokes (</a:t>
                      </a:r>
                      <a:r>
                        <a:rPr lang="en-IN" sz="1050" dirty="0" err="1">
                          <a:solidFill>
                            <a:srgbClr val="0A0A0A"/>
                          </a:solidFill>
                          <a:effectLst/>
                          <a:latin typeface="Courier New" panose="02070309020205020404" pitchFamily="49" charset="0"/>
                          <a:ea typeface="Times New Roman" panose="02020603050405020304" pitchFamily="18" charset="0"/>
                          <a:cs typeface="Latha" panose="020B0604020202020204" pitchFamily="34" charset="0"/>
                        </a:rPr>
                        <a:t>fromEvent</a:t>
                      </a:r>
                      <a:r>
                        <a:rPr lang="en-IN" sz="1050" dirty="0">
                          <a:solidFill>
                            <a:srgbClr val="0A0A0A"/>
                          </a:solidFill>
                          <a:effectLst/>
                          <a:latin typeface="Arial" panose="020B0604020202020204" pitchFamily="34" charset="0"/>
                          <a:ea typeface="Times New Roman" panose="02020603050405020304" pitchFamily="18" charset="0"/>
                          <a:cs typeface="Latha" panose="020B0604020202020204" pitchFamily="34" charset="0"/>
                        </a:rPr>
                        <a:t>).</a:t>
                      </a:r>
                      <a:endParaRPr lang="en-IN" sz="1100" dirty="0">
                        <a:effectLst/>
                        <a:latin typeface="Calibri" panose="020F0502020204030204" pitchFamily="34" charset="0"/>
                        <a:ea typeface="Calibri" panose="020F0502020204030204" pitchFamily="34" charset="0"/>
                        <a:cs typeface="Latha" panose="020B0604020202020204" pitchFamily="34" charset="0"/>
                      </a:endParaRPr>
                    </a:p>
                  </a:txBody>
                  <a:tcPr marL="0" marR="152400" marT="114300" marB="114300"/>
                </a:tc>
                <a:extLst>
                  <a:ext uri="{0D108BD9-81ED-4DB2-BD59-A6C34878D82A}">
                    <a16:rowId xmlns:a16="http://schemas.microsoft.com/office/drawing/2014/main" val="616948035"/>
                  </a:ext>
                </a:extLst>
              </a:tr>
            </a:tbl>
          </a:graphicData>
        </a:graphic>
      </p:graphicFrame>
    </p:spTree>
    <p:extLst>
      <p:ext uri="{BB962C8B-B14F-4D97-AF65-F5344CB8AC3E}">
        <p14:creationId xmlns:p14="http://schemas.microsoft.com/office/powerpoint/2010/main" val="3773761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0"/>
          <p:cNvSpPr txBox="1"/>
          <p:nvPr/>
        </p:nvSpPr>
        <p:spPr>
          <a:xfrm>
            <a:off x="226925" y="151275"/>
            <a:ext cx="4962000" cy="8496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Check Your Understanding </a:t>
            </a:r>
            <a:endParaRPr sz="2400" b="1" i="0" u="none" strike="noStrike" cap="none">
              <a:solidFill>
                <a:srgbClr val="323F4F"/>
              </a:solidFill>
              <a:latin typeface="Proxima Nova"/>
              <a:ea typeface="Proxima Nova"/>
              <a:cs typeface="Proxima Nova"/>
              <a:sym typeface="Proxima Nova"/>
            </a:endParaRPr>
          </a:p>
          <a:p>
            <a:pPr marL="0" marR="0" lvl="0" indent="0" algn="l" rtl="0">
              <a:lnSpc>
                <a:spcPct val="90000"/>
              </a:lnSpc>
              <a:spcBef>
                <a:spcPts val="0"/>
              </a:spcBef>
              <a:spcAft>
                <a:spcPts val="0"/>
              </a:spcAft>
              <a:buClr>
                <a:srgbClr val="000000"/>
              </a:buClr>
              <a:buSzPts val="2400"/>
              <a:buFont typeface="Arial"/>
              <a:buNone/>
            </a:pPr>
            <a:endParaRPr sz="2400" b="1" i="0" u="none" strike="noStrike" cap="none">
              <a:solidFill>
                <a:srgbClr val="323F4F"/>
              </a:solidFill>
              <a:latin typeface="Proxima Nova"/>
              <a:ea typeface="Proxima Nova"/>
              <a:cs typeface="Proxima Nova"/>
              <a:sym typeface="Proxima Nova"/>
            </a:endParaRPr>
          </a:p>
        </p:txBody>
      </p:sp>
      <p:sp>
        <p:nvSpPr>
          <p:cNvPr id="490" name="Google Shape;490;p10"/>
          <p:cNvSpPr/>
          <p:nvPr/>
        </p:nvSpPr>
        <p:spPr>
          <a:xfrm rot="10800000" flipH="1">
            <a:off x="305900" y="627875"/>
            <a:ext cx="3763500" cy="104400"/>
          </a:xfrm>
          <a:prstGeom prst="rect">
            <a:avLst/>
          </a:prstGeom>
          <a:gradFill>
            <a:gsLst>
              <a:gs pos="0">
                <a:srgbClr val="82297B"/>
              </a:gs>
              <a:gs pos="100000">
                <a:srgbClr val="BF2151"/>
              </a:gs>
            </a:gsLst>
            <a:lin ang="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roxima Nova"/>
              <a:ea typeface="Proxima Nova"/>
              <a:cs typeface="Proxima Nova"/>
              <a:sym typeface="Proxima Nova"/>
            </a:endParaRPr>
          </a:p>
        </p:txBody>
      </p:sp>
      <p:pic>
        <p:nvPicPr>
          <p:cNvPr id="491" name="Google Shape;491;p10" descr="check sign - Clip Art Library"/>
          <p:cNvPicPr preferRelativeResize="0"/>
          <p:nvPr/>
        </p:nvPicPr>
        <p:blipFill rotWithShape="1">
          <a:blip r:embed="rId3">
            <a:alphaModFix/>
          </a:blip>
          <a:srcRect/>
          <a:stretch/>
        </p:blipFill>
        <p:spPr>
          <a:xfrm>
            <a:off x="6007794" y="1088200"/>
            <a:ext cx="1768724" cy="17687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3"/>
          <p:cNvSpPr txBox="1"/>
          <p:nvPr/>
        </p:nvSpPr>
        <p:spPr>
          <a:xfrm>
            <a:off x="394950" y="223550"/>
            <a:ext cx="4442700" cy="51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2400"/>
              <a:buFont typeface="Arial"/>
              <a:buNone/>
            </a:pPr>
            <a:r>
              <a:rPr lang="en" sz="2400" b="1" i="0" u="none" strike="noStrike" cap="none">
                <a:solidFill>
                  <a:srgbClr val="323F4F"/>
                </a:solidFill>
                <a:latin typeface="Proxima Nova"/>
                <a:ea typeface="Proxima Nova"/>
                <a:cs typeface="Proxima Nova"/>
                <a:sym typeface="Proxima Nova"/>
              </a:rPr>
              <a:t>Question &amp; Answer</a:t>
            </a:r>
            <a:endParaRPr sz="2400" b="1" i="0" u="none" strike="noStrike" cap="none">
              <a:solidFill>
                <a:srgbClr val="323F4F"/>
              </a:solidFill>
              <a:latin typeface="Proxima Nova"/>
              <a:ea typeface="Proxima Nova"/>
              <a:cs typeface="Proxima Nova"/>
              <a:sym typeface="Proxima Nova"/>
            </a:endParaRPr>
          </a:p>
        </p:txBody>
      </p:sp>
      <p:pic>
        <p:nvPicPr>
          <p:cNvPr id="498" name="Google Shape;498;p13"/>
          <p:cNvPicPr preferRelativeResize="0"/>
          <p:nvPr/>
        </p:nvPicPr>
        <p:blipFill rotWithShape="1">
          <a:blip r:embed="rId3">
            <a:alphaModFix/>
          </a:blip>
          <a:srcRect/>
          <a:stretch/>
        </p:blipFill>
        <p:spPr>
          <a:xfrm>
            <a:off x="1423175" y="940450"/>
            <a:ext cx="4832175" cy="3376900"/>
          </a:xfrm>
          <a:prstGeom prst="rect">
            <a:avLst/>
          </a:prstGeom>
          <a:noFill/>
          <a:ln>
            <a:noFill/>
          </a:ln>
        </p:spPr>
      </p:pic>
    </p:spTree>
  </p:cSld>
  <p:clrMapOvr>
    <a:masterClrMapping/>
  </p:clrMapOvr>
</p:sld>
</file>

<file path=ppt/theme/theme1.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DE37E934965AB40B8C2959C180473A3" ma:contentTypeVersion="13" ma:contentTypeDescription="Create a new document." ma:contentTypeScope="" ma:versionID="b652bdf42f97bf36c4cecc4a137c9e6d">
  <xsd:schema xmlns:xsd="http://www.w3.org/2001/XMLSchema" xmlns:xs="http://www.w3.org/2001/XMLSchema" xmlns:p="http://schemas.microsoft.com/office/2006/metadata/properties" xmlns:ns2="9f6ad64a-8b6b-48eb-ae60-12a54eda0ca9" xmlns:ns3="70328ee1-d215-47f2-9f94-e66745c0848f" targetNamespace="http://schemas.microsoft.com/office/2006/metadata/properties" ma:root="true" ma:fieldsID="ef4dd843760eb6ba715a3d5caabb3102" ns2:_="" ns3:_="">
    <xsd:import namespace="9f6ad64a-8b6b-48eb-ae60-12a54eda0ca9"/>
    <xsd:import namespace="70328ee1-d215-47f2-9f94-e66745c084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6ad64a-8b6b-48eb-ae60-12a54eda0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56ab42-c15d-4f16-a227-b8fc8443f73b"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descrip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328ee1-d215-47f2-9f94-e66745c0848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dc998392-e962-4591-95d1-fdc2e5b3008b}" ma:internalName="TaxCatchAll" ma:showField="CatchAllData" ma:web="70328ee1-d215-47f2-9f94-e66745c084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f6ad64a-8b6b-48eb-ae60-12a54eda0ca9">
      <Terms xmlns="http://schemas.microsoft.com/office/infopath/2007/PartnerControls"/>
    </lcf76f155ced4ddcb4097134ff3c332f>
    <TaxCatchAll xmlns="70328ee1-d215-47f2-9f94-e66745c0848f" xsi:nil="true"/>
    <MediaLengthInSeconds xmlns="9f6ad64a-8b6b-48eb-ae60-12a54eda0ca9" xsi:nil="true"/>
  </documentManagement>
</p:properties>
</file>

<file path=customXml/itemProps1.xml><?xml version="1.0" encoding="utf-8"?>
<ds:datastoreItem xmlns:ds="http://schemas.openxmlformats.org/officeDocument/2006/customXml" ds:itemID="{565DA012-BBE1-41E3-B821-9BF2DDCA651F}">
  <ds:schemaRefs>
    <ds:schemaRef ds:uri="http://schemas.microsoft.com/sharepoint/v3/contenttype/forms"/>
  </ds:schemaRefs>
</ds:datastoreItem>
</file>

<file path=customXml/itemProps2.xml><?xml version="1.0" encoding="utf-8"?>
<ds:datastoreItem xmlns:ds="http://schemas.openxmlformats.org/officeDocument/2006/customXml" ds:itemID="{1CFC267C-DE1B-4101-8C28-4BADF6AAF7D3}">
  <ds:schemaRefs>
    <ds:schemaRef ds:uri="70328ee1-d215-47f2-9f94-e66745c0848f"/>
    <ds:schemaRef ds:uri="9f6ad64a-8b6b-48eb-ae60-12a54eda0c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C8A4D05-2C6B-4E3D-ACBF-D0F4E11F0DD3}">
  <ds:schemaRefs>
    <ds:schemaRef ds:uri="http://purl.org/dc/elements/1.1/"/>
    <ds:schemaRef ds:uri="http://schemas.microsoft.com/office/2006/metadata/properties"/>
    <ds:schemaRef ds:uri="http://schemas.microsoft.com/office/2006/documentManagement/types"/>
    <ds:schemaRef ds:uri="http://purl.org/dc/terms/"/>
    <ds:schemaRef ds:uri="9f6ad64a-8b6b-48eb-ae60-12a54eda0ca9"/>
    <ds:schemaRef ds:uri="http://purl.org/dc/dcmitype/"/>
    <ds:schemaRef ds:uri="http://schemas.microsoft.com/office/infopath/2007/PartnerControls"/>
    <ds:schemaRef ds:uri="http://schemas.openxmlformats.org/package/2006/metadata/core-properties"/>
    <ds:schemaRef ds:uri="70328ee1-d215-47f2-9f94-e66745c0848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35938</TotalTime>
  <Words>1248</Words>
  <Application>Microsoft Office PowerPoint</Application>
  <PresentationFormat>On-screen Show (16:9)</PresentationFormat>
  <Paragraphs>149</Paragraphs>
  <Slides>17</Slides>
  <Notes>17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Proxima Nova Semibold</vt:lpstr>
      <vt:lpstr>Calibri</vt:lpstr>
      <vt:lpstr>Courier New</vt:lpstr>
      <vt:lpstr>Proxima Nova</vt:lpstr>
      <vt:lpstr>Arial</vt:lpstr>
      <vt:lpstr>Relevantz - Internal Slide Template</vt:lpstr>
      <vt:lpstr>Relevantz - Internal Slide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Benhar Charles V</dc:creator>
  <cp:lastModifiedBy>Benhar Charles V</cp:lastModifiedBy>
  <cp:revision>44</cp:revision>
  <dcterms:modified xsi:type="dcterms:W3CDTF">2026-03-24T14:31:57Z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0x0101006DE37E934965AB40B8C2959C180473A3</vt:lpwstr>
  </property>
  <property fmtid="{D5CDD505-2E9C-101B-9397-08002B2CF9AE}" pid="3" name="Order">
    <vt:r8>391700</vt:r8>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y fmtid="{D5CDD505-2E9C-101B-9397-08002B2CF9AE}" pid="10" name="MSIP_Label_defa4170-0d19-0005-0004-bc88714345d2_Enabled">
    <vt:lpwstr>true</vt:lpwstr>
  </property>
  <property fmtid="{D5CDD505-2E9C-101B-9397-08002B2CF9AE}" pid="11" name="MSIP_Label_defa4170-0d19-0005-0004-bc88714345d2_SetDate">
    <vt:lpwstr>2025-06-04T11:23:41Z</vt:lpwstr>
  </property>
  <property fmtid="{D5CDD505-2E9C-101B-9397-08002B2CF9AE}" pid="12" name="MSIP_Label_defa4170-0d19-0005-0004-bc88714345d2_Method">
    <vt:lpwstr>Standard</vt:lpwstr>
  </property>
  <property fmtid="{D5CDD505-2E9C-101B-9397-08002B2CF9AE}" pid="13" name="MSIP_Label_defa4170-0d19-0005-0004-bc88714345d2_Name">
    <vt:lpwstr>defa4170-0d19-0005-0004-bc88714345d2</vt:lpwstr>
  </property>
  <property fmtid="{D5CDD505-2E9C-101B-9397-08002B2CF9AE}" pid="14" name="MSIP_Label_defa4170-0d19-0005-0004-bc88714345d2_SiteId">
    <vt:lpwstr>fe66d7b1-c17e-4ba8-a08d-2e146117dc7e</vt:lpwstr>
  </property>
  <property fmtid="{D5CDD505-2E9C-101B-9397-08002B2CF9AE}" pid="15" name="MSIP_Label_defa4170-0d19-0005-0004-bc88714345d2_ActionId">
    <vt:lpwstr>db0fe4a2-2236-45c4-9210-9d9cc71c4f5d</vt:lpwstr>
  </property>
  <property fmtid="{D5CDD505-2E9C-101B-9397-08002B2CF9AE}" pid="16" name="MSIP_Label_defa4170-0d19-0005-0004-bc88714345d2_ContentBits">
    <vt:lpwstr>0</vt:lpwstr>
  </property>
  <property fmtid="{D5CDD505-2E9C-101B-9397-08002B2CF9AE}" pid="17" name="MSIP_Label_defa4170-0d19-0005-0004-bc88714345d2_Tag">
    <vt:lpwstr>10, 3, 0, 2</vt:lpwstr>
  </property>
</Properties>
</file>