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35"/>
  </p:notesMasterIdLst>
  <p:sldIdLst>
    <p:sldId id="361" r:id="rId6"/>
    <p:sldId id="407" r:id="rId7"/>
    <p:sldId id="408" r:id="rId8"/>
    <p:sldId id="409" r:id="rId9"/>
    <p:sldId id="411" r:id="rId10"/>
    <p:sldId id="410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00" r:id="rId20"/>
    <p:sldId id="377" r:id="rId21"/>
    <p:sldId id="401" r:id="rId22"/>
    <p:sldId id="378" r:id="rId23"/>
    <p:sldId id="402" r:id="rId24"/>
    <p:sldId id="404" r:id="rId25"/>
    <p:sldId id="403" r:id="rId26"/>
    <p:sldId id="406" r:id="rId27"/>
    <p:sldId id="405" r:id="rId28"/>
    <p:sldId id="420" r:id="rId29"/>
    <p:sldId id="379" r:id="rId30"/>
    <p:sldId id="421" r:id="rId31"/>
    <p:sldId id="310" r:id="rId32"/>
    <p:sldId id="311" r:id="rId33"/>
    <p:sldId id="313" r:id="rId34"/>
  </p:sldIdLst>
  <p:sldSz cx="9144000" cy="5143500" type="screen16x9"/>
  <p:notesSz cx="6858000" cy="9144000"/>
  <p:embeddedFontLst>
    <p:embeddedFont>
      <p:font typeface="Proxima Nova" panose="020B0604020202020204" charset="0"/>
      <p:regular r:id="rId36"/>
      <p:bold r:id="rId37"/>
      <p:italic r:id="rId38"/>
      <p:boldItalic r:id="rId39"/>
    </p:embeddedFont>
    <p:embeddedFont>
      <p:font typeface="Proxima Nova Semibold" panose="020B0604020202020204" charset="0"/>
      <p:regular r:id="rId40"/>
      <p:bold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95" roundtripDataSignature="AMtx7miPhXGxc0iE9gpBlCh+HQf++Ga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958573-18DD-4F4F-87A5-23D0A4D2D5AC}">
  <a:tblStyle styleId="{51958573-18DD-4F4F-87A5-23D0A4D2D5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A3176-15EB-4DB9-A849-97660B76C8F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9BAF51-D252-47A5-B818-23F1545D66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9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4.fntdata"/><Relationship Id="rId9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7.fntdata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6.fntdata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1.fntdata"/><Relationship Id="rId95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7635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625e7805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7625e7805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90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71B89EA4-B1C0-6ACB-5B21-7D7D36FB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BCE8412F-D011-7891-7709-CBFE553D6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8D286401-94C3-AA93-6BCF-105E7683B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39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5F5B08CD-0419-2708-95CE-DF000114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0ACDBB07-7E0C-9291-A8E4-B5B19B4A8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E14D502B-5790-3A9E-474C-0B0E31CB7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71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AC0383B5-4664-4866-600C-C0746F9D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8A882935-B114-2F97-E82F-DA1E4E108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7D816E20-B882-4520-C67D-515BB9F44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323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EEF51CD-7470-FDA2-6D10-5373BECA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154DD959-A66B-483D-090C-D24E89F51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7F892C88-9F4C-2486-A2D3-88C4C054A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694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3BA6F33-67C1-83AF-AD0B-AB9BECFB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8A4B370F-4D96-2458-47F3-85BB2AA4A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35BE3193-68A1-5A76-0625-525287ECC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861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D00D3E77-9BF1-860E-0B38-4EF7CB1D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8D54E4E6-72FC-1349-E20A-30BBE494E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0EE3A426-6DCB-E491-CCF2-26D809DA1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575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9DA5F1B-5868-8CFE-CAD2-8EE9AFE3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C9CEB1B9-4D7B-94DD-A5A5-EB2B52F92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E14A7E97-BFFE-2A8C-1F26-0605B29E5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08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97493E3-F8A2-2408-D119-75A6555A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77BCB869-6B7B-FD89-D418-0D4332BE3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85705F20-AEBE-96C5-EBB0-65328DED2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283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5E3A0C1D-6370-5616-1AA2-2DCFFAFD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63042C77-746A-508B-C0DB-C142B987C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970BF9CB-2206-5E35-2C70-F671D9955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456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D5C5AAC1-954E-4431-897E-67594F8D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6EB1CB35-2EF2-ABE1-D749-7561E6D47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F7BB690B-24DC-A3BC-2C70-6D3B3C759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637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5E09EAEB-2374-3AF7-619E-34C080B7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51349A43-C306-95BD-1E82-CCC2B5257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9370B7CA-1EA3-785A-2B16-C14082D39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75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0E73CD0-7912-CF9D-1AF3-E388825B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940DBB91-31B9-A1A8-6317-0F7328C11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6257922D-9D62-067F-DCEA-079CD28DC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609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B557C67-BAC4-34C9-5507-7036B3F1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0B381291-F0B1-5A18-9E04-CD889C2E8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A8F50FA6-50BC-07D0-9F68-0C8BDCE044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060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3B1F377E-1525-EC8C-7813-3A51890E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54816721-D087-F493-8B5C-F0C033B7F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76889500-F803-274D-3863-45D0DD14A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855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475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49EF93E-78DD-59E7-CC0C-BAE228EA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5689E44E-EF75-8946-2C7A-6EA810184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42380567-DB23-8E6A-5954-190085FF8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62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68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4580F51-3BB4-E750-D561-E1412B7A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B831807A-3177-6C0C-2BDF-305020FF6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B4368950-99A9-0EDD-8B93-7EA03470E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887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7DFFA194-E0A8-D2EB-EAA0-D9EED04D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B07D3361-DDBA-5B6E-B6B0-4377D1A10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6CC7ED27-55F6-59CF-8D51-6051A263D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46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CDEF2197-1B90-4F1B-FA03-1A4A9856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5C892D2C-C708-C64D-8D78-2550EC1EA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AAFAA0FE-FBC5-E176-9703-F8EB64A10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1396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3FE4CEA-29C1-F129-CEA3-5816B09A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84581D83-8BED-E51C-C3C9-FB94B7D69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3E6B456F-5884-D2E6-0F44-1AE5785CC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8197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E11D42CD-A3CA-BEF2-07FD-9296B5DB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A60666DF-5C77-51E5-05A2-2DEE59EF9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94DD0400-BFB2-BBD1-A444-440D476AC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950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69464CD-D004-E88E-D0F6-249086C3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45F06648-483F-6B2C-879B-C7DCD713B8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50514A8A-E9F9-B93A-76BB-53E0CFC3B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2908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A067B21-1F48-4ABC-9E74-76EBA571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1B8568AB-F689-CDA8-5DB9-593BCCB54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EC071B84-D334-E666-72C1-94C10E700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082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860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863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/>
          <p:nvPr/>
        </p:nvSpPr>
        <p:spPr>
          <a:xfrm rot="10800000" flipH="1">
            <a:off x="457200" y="809428"/>
            <a:ext cx="32763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25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6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26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27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27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Pre -Tes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24543" y="143088"/>
            <a:ext cx="8319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689491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28" descr="C:\Users\rajthilaks\Desktop\LogoPNG.png"/>
          <p:cNvPicPr preferRelativeResize="0"/>
          <p:nvPr/>
        </p:nvPicPr>
        <p:blipFill rotWithShape="1">
          <a:blip r:embed="rId3">
            <a:alphaModFix/>
          </a:blip>
          <a:srcRect b="23652"/>
          <a:stretch/>
        </p:blipFill>
        <p:spPr>
          <a:xfrm>
            <a:off x="8398669" y="139151"/>
            <a:ext cx="579129" cy="2364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28"/>
          <p:cNvGraphicFramePr/>
          <p:nvPr/>
        </p:nvGraphicFramePr>
        <p:xfrm>
          <a:off x="1317713" y="833000"/>
          <a:ext cx="6221200" cy="3742000"/>
        </p:xfrm>
        <a:graphic>
          <a:graphicData uri="http://schemas.openxmlformats.org/drawingml/2006/table">
            <a:tbl>
              <a:tblPr firstRow="1" bandRow="1">
                <a:noFill/>
                <a:tableStyleId>{51958573-18DD-4F4F-87A5-23D0A4D2D5AC}</a:tableStyleId>
              </a:tblPr>
              <a:tblGrid>
                <a:gridCol w="5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S.No.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Question 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Answer Options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2">
            <a:alphaModFix/>
          </a:blip>
          <a:srcRect t="835" b="835"/>
          <a:stretch/>
        </p:blipFill>
        <p:spPr>
          <a:xfrm>
            <a:off x="7828161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2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82" name="Google Shape;82;p22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8" name="Google Shape;88;p29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3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3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32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33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3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34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7625e78053_0_64"/>
          <p:cNvSpPr txBox="1"/>
          <p:nvPr/>
        </p:nvSpPr>
        <p:spPr>
          <a:xfrm>
            <a:off x="702325" y="1771000"/>
            <a:ext cx="6725400" cy="6636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SzPts val="4000"/>
            </a:pPr>
            <a:r>
              <a:rPr lang="en-IN" sz="40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Frontend with Angular</a:t>
            </a:r>
          </a:p>
        </p:txBody>
      </p:sp>
    </p:spTree>
    <p:extLst>
      <p:ext uri="{BB962C8B-B14F-4D97-AF65-F5344CB8AC3E}">
        <p14:creationId xmlns:p14="http://schemas.microsoft.com/office/powerpoint/2010/main" val="18762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1949CD35-2982-ED12-F370-1B5ECD6E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BE07177F-B20E-D7B7-63A2-F8907CCBD458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Install Node.js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2C605-4A0B-63CC-7099-0F094B515293}"/>
              </a:ext>
            </a:extLst>
          </p:cNvPr>
          <p:cNvSpPr/>
          <p:nvPr/>
        </p:nvSpPr>
        <p:spPr>
          <a:xfrm>
            <a:off x="381000" y="1056670"/>
            <a:ext cx="8582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Node.js</a:t>
            </a:r>
            <a:r>
              <a:rPr lang="en-IN" dirty="0"/>
              <a:t> is a </a:t>
            </a:r>
            <a:r>
              <a:rPr lang="en-IN" b="1" dirty="0"/>
              <a:t>JavaScript runtime environment</a:t>
            </a:r>
            <a:r>
              <a:rPr lang="en-IN" dirty="0"/>
              <a:t> used to run JavaScript outside the browser.</a:t>
            </a:r>
          </a:p>
          <a:p>
            <a:r>
              <a:rPr lang="en-IN" dirty="0"/>
              <a:t>It is required for: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Angular development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React development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Package management</a:t>
            </a:r>
          </a:p>
          <a:p>
            <a:endParaRPr lang="en-IN" dirty="0"/>
          </a:p>
          <a:p>
            <a:r>
              <a:rPr lang="en-IN" dirty="0"/>
              <a:t>Running backend JavaScript applications</a:t>
            </a:r>
          </a:p>
          <a:p>
            <a:r>
              <a:rPr lang="en-IN" dirty="0"/>
              <a:t>Node.js includes </a:t>
            </a:r>
            <a:r>
              <a:rPr lang="en-IN" b="1" dirty="0" err="1"/>
              <a:t>npm</a:t>
            </a:r>
            <a:r>
              <a:rPr lang="en-IN" b="1" dirty="0"/>
              <a:t> (Node Package Manager)</a:t>
            </a:r>
            <a:r>
              <a:rPr lang="en-IN" dirty="0"/>
              <a:t> which installs project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02648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0692435B-BE4D-9E3E-634C-F106B35A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51BDF279-1155-308C-E83B-4053B23E38B7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Download Node.js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EFFF08-CDED-D053-509E-0D3605309DA3}"/>
              </a:ext>
            </a:extLst>
          </p:cNvPr>
          <p:cNvSpPr/>
          <p:nvPr/>
        </p:nvSpPr>
        <p:spPr>
          <a:xfrm>
            <a:off x="381000" y="1056670"/>
            <a:ext cx="85826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Download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the official website</a:t>
            </a:r>
            <a:br>
              <a:rPr lang="en-US" dirty="0"/>
            </a:br>
            <a:r>
              <a:rPr lang="en-US" dirty="0">
                <a:hlinkClick r:id="rId3"/>
              </a:rPr>
              <a:t>https://nodejs.org</a:t>
            </a:r>
            <a:endParaRPr lang="en-US" dirty="0"/>
          </a:p>
          <a:p>
            <a:r>
              <a:rPr lang="en-US" dirty="0"/>
              <a:t>Download the </a:t>
            </a:r>
            <a:r>
              <a:rPr lang="en-US" b="1" dirty="0"/>
              <a:t>LTS Version (Recommended)</a:t>
            </a:r>
          </a:p>
          <a:p>
            <a:r>
              <a:rPr lang="en-US" b="1" dirty="0"/>
              <a:t>Install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the downloaded installer: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node-vxx.x.x-x64.msi</a:t>
            </a:r>
          </a:p>
          <a:p>
            <a:r>
              <a:rPr lang="en-US" b="1" dirty="0"/>
              <a:t>Verify 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b="1" dirty="0"/>
              <a:t>Command Prompt</a:t>
            </a:r>
            <a:r>
              <a:rPr lang="en-US" dirty="0"/>
              <a:t> or </a:t>
            </a:r>
            <a:r>
              <a:rPr lang="en-US" b="1" dirty="0"/>
              <a:t>PowerShell</a:t>
            </a:r>
            <a:endParaRPr lang="en-US" dirty="0"/>
          </a:p>
          <a:p>
            <a:pPr lvl="1"/>
            <a:r>
              <a:rPr lang="en-US" dirty="0"/>
              <a:t>	Check Node.js version:</a:t>
            </a:r>
          </a:p>
          <a:p>
            <a:pPr lvl="1"/>
            <a:r>
              <a:rPr lang="en-US" dirty="0"/>
              <a:t>	node -v</a:t>
            </a:r>
          </a:p>
          <a:p>
            <a:pPr lvl="1"/>
            <a:r>
              <a:rPr lang="en-US" dirty="0"/>
              <a:t>	Example output:</a:t>
            </a:r>
          </a:p>
          <a:p>
            <a:pPr lvl="1"/>
            <a:r>
              <a:rPr lang="en-US" dirty="0"/>
              <a:t>	v20.10.0</a:t>
            </a:r>
          </a:p>
          <a:p>
            <a:pPr lvl="1"/>
            <a:r>
              <a:rPr lang="en-US" dirty="0"/>
              <a:t>	Check </a:t>
            </a:r>
            <a:r>
              <a:rPr lang="en-US" dirty="0" err="1"/>
              <a:t>npm</a:t>
            </a:r>
            <a:r>
              <a:rPr lang="en-US" dirty="0"/>
              <a:t> version:</a:t>
            </a:r>
          </a:p>
          <a:p>
            <a:pPr lvl="1"/>
            <a:r>
              <a:rPr lang="en-US" dirty="0"/>
              <a:t>	</a:t>
            </a:r>
            <a:r>
              <a:rPr lang="en-US" dirty="0" err="1"/>
              <a:t>npm</a:t>
            </a:r>
            <a:r>
              <a:rPr lang="en-US" dirty="0"/>
              <a:t> -v</a:t>
            </a:r>
          </a:p>
          <a:p>
            <a:pPr lvl="1"/>
            <a:r>
              <a:rPr lang="en-US" dirty="0"/>
              <a:t>	Example output:</a:t>
            </a:r>
          </a:p>
          <a:p>
            <a:pPr lvl="1"/>
            <a:r>
              <a:rPr lang="en-US" dirty="0"/>
              <a:t>	10.2.4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21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6BC2F85-BF1C-BA7D-EE18-505C2E0A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43CCFDBD-0856-6439-17E1-4EDFA8EA9303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7EB024-91F3-F333-A0B5-7946081391A3}"/>
              </a:ext>
            </a:extLst>
          </p:cNvPr>
          <p:cNvSpPr/>
          <p:nvPr/>
        </p:nvSpPr>
        <p:spPr>
          <a:xfrm>
            <a:off x="381000" y="1056670"/>
            <a:ext cx="419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Angular requires **Angular CLI.</a:t>
            </a:r>
          </a:p>
          <a:p>
            <a:r>
              <a:rPr lang="en-IN" dirty="0"/>
              <a:t>Install globally: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npm</a:t>
            </a:r>
            <a:r>
              <a:rPr lang="en-IN" dirty="0"/>
              <a:t> install -g @angular/cli</a:t>
            </a:r>
          </a:p>
          <a:p>
            <a:r>
              <a:rPr lang="en-IN" dirty="0"/>
              <a:t>Verify installation: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ng version</a:t>
            </a:r>
          </a:p>
          <a:p>
            <a:r>
              <a:rPr lang="en-IN" dirty="0"/>
              <a:t>Example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Angular CLI: 17.x</a:t>
            </a:r>
            <a:br>
              <a:rPr lang="en-IN" dirty="0"/>
            </a:br>
            <a:r>
              <a:rPr lang="en-IN" dirty="0"/>
              <a:t>Node: 20.x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: 10.x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B483C-2623-C118-78AC-1D5DC46D7E7A}"/>
              </a:ext>
            </a:extLst>
          </p:cNvPr>
          <p:cNvSpPr txBox="1"/>
          <p:nvPr/>
        </p:nvSpPr>
        <p:spPr>
          <a:xfrm>
            <a:off x="4572000" y="105667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Node.js Development Tools (Recommended)</a:t>
            </a:r>
          </a:p>
          <a:p>
            <a:pPr>
              <a:buNone/>
            </a:pPr>
            <a:r>
              <a:rPr lang="en-IN" dirty="0"/>
              <a:t>Install a code editor such as:</a:t>
            </a:r>
          </a:p>
          <a:p>
            <a:pPr>
              <a:buNone/>
            </a:pPr>
            <a:r>
              <a:rPr lang="en-IN" b="1" dirty="0"/>
              <a:t>Visual Studio Code</a:t>
            </a:r>
            <a:endParaRPr lang="en-IN" dirty="0"/>
          </a:p>
          <a:p>
            <a:pPr>
              <a:buNone/>
            </a:pPr>
            <a:r>
              <a:rPr lang="en-IN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JavaScript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Angular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Extensions for TypeScript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Integrated terminal</a:t>
            </a:r>
          </a:p>
        </p:txBody>
      </p:sp>
    </p:spTree>
    <p:extLst>
      <p:ext uri="{BB962C8B-B14F-4D97-AF65-F5344CB8AC3E}">
        <p14:creationId xmlns:p14="http://schemas.microsoft.com/office/powerpoint/2010/main" val="288870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773E7847-2AA8-2C41-95D0-70098B3D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8C02D12D-2DCA-ED5A-B942-7B9848F7E021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ED939-9F6D-14C5-99EE-79E5A2D8D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75" y="1317812"/>
            <a:ext cx="5013650" cy="330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0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A672964-5753-3E91-7035-5ED56D73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6D006229-C8DC-DA10-B21C-DE0125A8A9CB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4E06E-75AF-08EA-290B-DFB53FF3DDB5}"/>
              </a:ext>
            </a:extLst>
          </p:cNvPr>
          <p:cNvSpPr/>
          <p:nvPr/>
        </p:nvSpPr>
        <p:spPr>
          <a:xfrm>
            <a:off x="381000" y="1056670"/>
            <a:ext cx="8582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Angular requires **Angular CLI.</a:t>
            </a:r>
          </a:p>
          <a:p>
            <a:r>
              <a:rPr lang="en-IN" dirty="0"/>
              <a:t>Install globally: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npm</a:t>
            </a:r>
            <a:r>
              <a:rPr lang="en-IN" dirty="0"/>
              <a:t> install -g @angular/cli</a:t>
            </a:r>
          </a:p>
          <a:p>
            <a:r>
              <a:rPr lang="en-IN" dirty="0"/>
              <a:t>Verify installation: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ng version</a:t>
            </a:r>
          </a:p>
          <a:p>
            <a:r>
              <a:rPr lang="en-IN" dirty="0"/>
              <a:t>Example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Angular CLI: 17.x</a:t>
            </a:r>
            <a:br>
              <a:rPr lang="en-IN" dirty="0"/>
            </a:br>
            <a:r>
              <a:rPr lang="en-IN" dirty="0"/>
              <a:t>Node: 20.x</a:t>
            </a:r>
            <a:br>
              <a:rPr lang="en-IN" dirty="0"/>
            </a:br>
            <a:r>
              <a:rPr lang="en-IN" dirty="0" err="1"/>
              <a:t>npm</a:t>
            </a:r>
            <a:r>
              <a:rPr lang="en-IN" dirty="0"/>
              <a:t>: 10.x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10ADD-13B0-7ED1-85CE-D88C58E68006}"/>
              </a:ext>
            </a:extLst>
          </p:cNvPr>
          <p:cNvSpPr txBox="1"/>
          <p:nvPr/>
        </p:nvSpPr>
        <p:spPr>
          <a:xfrm>
            <a:off x="3960159" y="105667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Create a New Angular Project</a:t>
            </a:r>
          </a:p>
          <a:p>
            <a:pPr>
              <a:buNone/>
            </a:pPr>
            <a:r>
              <a:rPr lang="en-US" dirty="0"/>
              <a:t>Run: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ng new my-angular-app</a:t>
            </a:r>
          </a:p>
          <a:p>
            <a:pPr>
              <a:buNone/>
            </a:pPr>
            <a:r>
              <a:rPr lang="en-US" dirty="0"/>
              <a:t>During setup it will ask: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Would you like to add Angular routing? (y/n)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Which stylesheet format? (CSS / SCSS)</a:t>
            </a:r>
          </a:p>
          <a:p>
            <a:pPr>
              <a:buNone/>
            </a:pPr>
            <a:r>
              <a:rPr lang="en-US" dirty="0"/>
              <a:t>After completion, navigate to the project: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cd my-angular-app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B8C80-B017-553F-82F2-9F6065E367EE}"/>
              </a:ext>
            </a:extLst>
          </p:cNvPr>
          <p:cNvSpPr txBox="1"/>
          <p:nvPr/>
        </p:nvSpPr>
        <p:spPr>
          <a:xfrm>
            <a:off x="1674159" y="3269697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Angular CLI will: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new project folder</a:t>
            </a:r>
          </a:p>
          <a:p>
            <a:pPr>
              <a:buFont typeface="+mj-lt"/>
              <a:buAutoNum type="arabicPeriod"/>
            </a:pPr>
            <a:r>
              <a:rPr lang="en-US" dirty="0"/>
              <a:t>Install required dependencies using </a:t>
            </a:r>
            <a:r>
              <a:rPr lang="en-US" b="1" dirty="0" err="1"/>
              <a:t>npm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Configure </a:t>
            </a:r>
            <a:r>
              <a:rPr lang="en-US" b="1" dirty="0"/>
              <a:t>TypeScript, Webpack, and Angular settings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Generate a default Angular application</a:t>
            </a:r>
          </a:p>
        </p:txBody>
      </p:sp>
    </p:spTree>
    <p:extLst>
      <p:ext uri="{BB962C8B-B14F-4D97-AF65-F5344CB8AC3E}">
        <p14:creationId xmlns:p14="http://schemas.microsoft.com/office/powerpoint/2010/main" val="425584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58B2C6EA-235D-827D-B736-7C05CEFF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EE1809FA-3F0C-E50E-06BF-F065FF4812A3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44765-DFD1-0FA8-89A4-9B33F7A815AD}"/>
              </a:ext>
            </a:extLst>
          </p:cNvPr>
          <p:cNvSpPr txBox="1"/>
          <p:nvPr/>
        </p:nvSpPr>
        <p:spPr>
          <a:xfrm>
            <a:off x="564776" y="1253384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Project structure created: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my-angular-app/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│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node_modules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src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angular.json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package.json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tsconfig.json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README.md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└── .</a:t>
            </a:r>
            <a:r>
              <a:rPr lang="en-IN" dirty="0" err="1">
                <a:latin typeface="Courier New" panose="02070309020205020404" pitchFamily="49" charset="0"/>
              </a:rPr>
              <a:t>gitignore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633C0-7691-15BF-EC0C-5CE4D3A38E4C}"/>
              </a:ext>
            </a:extLst>
          </p:cNvPr>
          <p:cNvSpPr txBox="1"/>
          <p:nvPr/>
        </p:nvSpPr>
        <p:spPr>
          <a:xfrm>
            <a:off x="3906371" y="957739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package.json</a:t>
            </a:r>
            <a:endParaRPr lang="en-IN" b="1" dirty="0"/>
          </a:p>
          <a:p>
            <a:pPr>
              <a:buNone/>
            </a:pPr>
            <a:r>
              <a:rPr lang="en-IN" dirty="0"/>
              <a:t>This file manages </a:t>
            </a:r>
            <a:r>
              <a:rPr lang="en-IN" b="1" dirty="0"/>
              <a:t>project dependencies and scripts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"name": "my-angular-app",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"version": "0.0.0",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"scripts":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"start": "ng serve",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"build": "ng build"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Lists installed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Defines project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Controls project versions</a:t>
            </a:r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dependency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Standard project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Automated build processes</a:t>
            </a:r>
          </a:p>
        </p:txBody>
      </p:sp>
    </p:spTree>
    <p:extLst>
      <p:ext uri="{BB962C8B-B14F-4D97-AF65-F5344CB8AC3E}">
        <p14:creationId xmlns:p14="http://schemas.microsoft.com/office/powerpoint/2010/main" val="168694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2B4A34E4-D3F5-FFD1-42EC-12C0B418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2865837B-41E7-BFF3-6590-75B205135477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B9511-54D3-91C2-F46B-1C8D9AF90D42}"/>
              </a:ext>
            </a:extLst>
          </p:cNvPr>
          <p:cNvSpPr txBox="1"/>
          <p:nvPr/>
        </p:nvSpPr>
        <p:spPr>
          <a:xfrm>
            <a:off x="381000" y="1111609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node_modules</a:t>
            </a:r>
            <a:endParaRPr lang="en-IN" b="1" dirty="0"/>
          </a:p>
          <a:p>
            <a:pPr>
              <a:buNone/>
            </a:pPr>
            <a:r>
              <a:rPr lang="en-IN" dirty="0"/>
              <a:t>This folder contains </a:t>
            </a:r>
            <a:r>
              <a:rPr lang="en-IN" b="1" dirty="0"/>
              <a:t>all installed packages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Examples: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node_modules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@angular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</a:t>
            </a:r>
            <a:r>
              <a:rPr lang="en-IN" dirty="0" err="1">
                <a:latin typeface="Courier New" panose="02070309020205020404" pitchFamily="49" charset="0"/>
              </a:rPr>
              <a:t>rxjs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typescript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zone.js</a:t>
            </a:r>
          </a:p>
          <a:p>
            <a:pPr>
              <a:buNone/>
            </a:pPr>
            <a:r>
              <a:rPr lang="en-IN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Stores libraries required for Angular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Installed automatically using </a:t>
            </a:r>
            <a:r>
              <a:rPr lang="en-IN" dirty="0" err="1"/>
              <a:t>npm</a:t>
            </a:r>
            <a:endParaRPr lang="en-IN" dirty="0"/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Keeps project dependencies isolated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version control of 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227DF-7BDA-2911-F1CF-CDC1B8C3C9DD}"/>
              </a:ext>
            </a:extLst>
          </p:cNvPr>
          <p:cNvSpPr txBox="1"/>
          <p:nvPr/>
        </p:nvSpPr>
        <p:spPr>
          <a:xfrm>
            <a:off x="4450976" y="1003886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angular.json</a:t>
            </a:r>
            <a:endParaRPr lang="en-IN" b="1" dirty="0"/>
          </a:p>
          <a:p>
            <a:pPr>
              <a:buNone/>
            </a:pPr>
            <a:r>
              <a:rPr lang="en-IN" dirty="0"/>
              <a:t>This file controls the </a:t>
            </a:r>
            <a:r>
              <a:rPr lang="en-IN" b="1" dirty="0"/>
              <a:t>Angular project configuration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Example settings: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build configuration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assets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styles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scripts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output directory</a:t>
            </a:r>
          </a:p>
          <a:p>
            <a:pPr>
              <a:buNone/>
            </a:pPr>
            <a:r>
              <a:rPr lang="en-IN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Project build settings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Development server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Asset management</a:t>
            </a:r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Centralized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Customizable build process</a:t>
            </a:r>
          </a:p>
        </p:txBody>
      </p:sp>
    </p:spTree>
    <p:extLst>
      <p:ext uri="{BB962C8B-B14F-4D97-AF65-F5344CB8AC3E}">
        <p14:creationId xmlns:p14="http://schemas.microsoft.com/office/powerpoint/2010/main" val="207466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B230BE7-5484-1FE0-F2DE-51E82FD2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6E2A7828-A477-01A9-B485-3ADFD66808BF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8198-C1DB-3DB5-80B9-8CFB6185F664}"/>
              </a:ext>
            </a:extLst>
          </p:cNvPr>
          <p:cNvSpPr txBox="1"/>
          <p:nvPr/>
        </p:nvSpPr>
        <p:spPr>
          <a:xfrm>
            <a:off x="381000" y="976556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tsconfig.json</a:t>
            </a:r>
            <a:endParaRPr lang="en-IN" b="1" dirty="0"/>
          </a:p>
          <a:p>
            <a:pPr>
              <a:buNone/>
            </a:pPr>
            <a:r>
              <a:rPr lang="en-IN" dirty="0"/>
              <a:t>Angular uses </a:t>
            </a:r>
            <a:r>
              <a:rPr lang="en-IN" b="1" dirty="0"/>
              <a:t>TypeScript</a:t>
            </a:r>
            <a:r>
              <a:rPr lang="en-IN" dirty="0"/>
              <a:t> instead of plain JavaScript.</a:t>
            </a:r>
          </a:p>
          <a:p>
            <a:pPr>
              <a:buNone/>
            </a:pPr>
            <a:r>
              <a:rPr lang="en-IN" dirty="0"/>
              <a:t>This file configures </a:t>
            </a:r>
            <a:r>
              <a:rPr lang="en-IN" b="1" dirty="0"/>
              <a:t>TypeScript compilation settings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compilerOptions</a:t>
            </a:r>
            <a:r>
              <a:rPr lang="en-IN" dirty="0">
                <a:latin typeface="Courier New" panose="02070309020205020404" pitchFamily="49" charset="0"/>
              </a:rPr>
              <a:t>":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"target": "ES2022",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"module": "</a:t>
            </a:r>
            <a:r>
              <a:rPr lang="en-IN" dirty="0" err="1">
                <a:latin typeface="Courier New" panose="02070309020205020404" pitchFamily="49" charset="0"/>
              </a:rPr>
              <a:t>ESNext</a:t>
            </a:r>
            <a:r>
              <a:rPr lang="en-IN" dirty="0">
                <a:latin typeface="Courier New" panose="02070309020205020404" pitchFamily="49" charset="0"/>
              </a:rPr>
              <a:t>"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Controls TypeScript compilation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Defines module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modern JavaScript features</a:t>
            </a:r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typing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IDE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Compile-time error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FCEF3-8EA2-CF41-2E69-FD9EF88CCC2E}"/>
              </a:ext>
            </a:extLst>
          </p:cNvPr>
          <p:cNvSpPr txBox="1"/>
          <p:nvPr/>
        </p:nvSpPr>
        <p:spPr>
          <a:xfrm>
            <a:off x="4397188" y="2012997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.</a:t>
            </a:r>
            <a:r>
              <a:rPr lang="en-US" b="1" dirty="0" err="1"/>
              <a:t>gitignore</a:t>
            </a:r>
            <a:endParaRPr lang="en-US" b="1" dirty="0"/>
          </a:p>
          <a:p>
            <a:pPr>
              <a:buNone/>
            </a:pPr>
            <a:r>
              <a:rPr lang="en-US" dirty="0"/>
              <a:t>This file tells </a:t>
            </a:r>
            <a:r>
              <a:rPr lang="en-US" b="1" dirty="0"/>
              <a:t>Git</a:t>
            </a:r>
            <a:r>
              <a:rPr lang="en-US" dirty="0"/>
              <a:t> which files to ignore.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node_modules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dist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.env</a:t>
            </a:r>
          </a:p>
          <a:p>
            <a:pPr>
              <a:buNone/>
            </a:pPr>
            <a:r>
              <a:rPr lang="en-US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large unnecessary files from being committed</a:t>
            </a:r>
          </a:p>
          <a:p>
            <a:pPr>
              <a:buNone/>
            </a:pPr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Smaller repositories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version control operations</a:t>
            </a:r>
          </a:p>
        </p:txBody>
      </p:sp>
    </p:spTree>
    <p:extLst>
      <p:ext uri="{BB962C8B-B14F-4D97-AF65-F5344CB8AC3E}">
        <p14:creationId xmlns:p14="http://schemas.microsoft.com/office/powerpoint/2010/main" val="404412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2E79FB3-A4B1-758A-662E-5603FF58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6D9A660D-CD6C-AAE1-A341-9E9C5E172AF0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9B28E-906C-DBDC-DB62-5E52672B70D0}"/>
              </a:ext>
            </a:extLst>
          </p:cNvPr>
          <p:cNvSpPr txBox="1"/>
          <p:nvPr/>
        </p:nvSpPr>
        <p:spPr>
          <a:xfrm>
            <a:off x="381000" y="130731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README.md</a:t>
            </a:r>
          </a:p>
          <a:p>
            <a:pPr>
              <a:buNone/>
            </a:pPr>
            <a:r>
              <a:rPr lang="en-US" dirty="0"/>
              <a:t>Documentation file for the project.</a:t>
            </a:r>
          </a:p>
          <a:p>
            <a:pPr>
              <a:buNone/>
            </a:pPr>
            <a:r>
              <a:rPr lang="en-US" dirty="0"/>
              <a:t>Example content: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Project Name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Installation instructions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Development guide</a:t>
            </a:r>
          </a:p>
          <a:p>
            <a:pPr>
              <a:buNone/>
            </a:pPr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developers understand the project quickly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collaboration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B1AA2-419B-8DC6-EC68-722B694055BD}"/>
              </a:ext>
            </a:extLst>
          </p:cNvPr>
          <p:cNvSpPr txBox="1"/>
          <p:nvPr/>
        </p:nvSpPr>
        <p:spPr>
          <a:xfrm>
            <a:off x="4329953" y="1232922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src</a:t>
            </a:r>
            <a:r>
              <a:rPr lang="en-IN" b="1" dirty="0"/>
              <a:t> Folder (Most Important)</a:t>
            </a:r>
          </a:p>
          <a:p>
            <a:pPr>
              <a:buNone/>
            </a:pPr>
            <a:r>
              <a:rPr lang="en-IN" dirty="0"/>
              <a:t>This folder contains </a:t>
            </a:r>
            <a:r>
              <a:rPr lang="en-IN" b="1" dirty="0"/>
              <a:t>actual application code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Structure: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src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│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app/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assets/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environments/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index.html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</a:t>
            </a:r>
            <a:r>
              <a:rPr lang="en-IN" dirty="0" err="1">
                <a:latin typeface="Courier New" panose="02070309020205020404" pitchFamily="49" charset="0"/>
              </a:rPr>
              <a:t>main.ts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├── styles.css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└── </a:t>
            </a:r>
            <a:r>
              <a:rPr lang="en-IN" dirty="0" err="1">
                <a:latin typeface="Courier New" panose="02070309020205020404" pitchFamily="49" charset="0"/>
              </a:rPr>
              <a:t>polyfills.ts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95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8D22EB90-D1AF-125A-D5B0-1DA77C28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356570F1-FA30-EFA8-0780-0FFAB6461D42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1AD9F-5E6F-6552-8D40-E7CB70D2911B}"/>
              </a:ext>
            </a:extLst>
          </p:cNvPr>
          <p:cNvSpPr txBox="1"/>
          <p:nvPr/>
        </p:nvSpPr>
        <p:spPr>
          <a:xfrm>
            <a:off x="381000" y="1307317"/>
            <a:ext cx="40699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Below is the structure you mentioned:</a:t>
            </a:r>
          </a:p>
          <a:p>
            <a:r>
              <a:rPr lang="en-IN" dirty="0"/>
              <a:t>app/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app.config.ts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app.ts</a:t>
            </a:r>
            <a:br>
              <a:rPr lang="en-IN" dirty="0"/>
            </a:br>
            <a:r>
              <a:rPr lang="en-IN" dirty="0"/>
              <a:t>├── app.html</a:t>
            </a:r>
            <a:br>
              <a:rPr lang="en-IN" dirty="0"/>
            </a:br>
            <a:r>
              <a:rPr lang="en-IN" dirty="0"/>
              <a:t>├── app.css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app.routes.ts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app.spec.ts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This is part of </a:t>
            </a:r>
            <a:r>
              <a:rPr lang="en-IN" dirty="0" err="1"/>
              <a:t>Angular’s</a:t>
            </a:r>
            <a:r>
              <a:rPr lang="en-IN" dirty="0"/>
              <a:t> </a:t>
            </a:r>
            <a:r>
              <a:rPr lang="en-IN" b="1" dirty="0"/>
              <a:t>standalone component architecture</a:t>
            </a:r>
            <a:r>
              <a:rPr lang="en-IN" dirty="0"/>
              <a:t>, promoted by </a:t>
            </a:r>
            <a:r>
              <a:rPr lang="en-IN" b="1" dirty="0"/>
              <a:t>Google</a:t>
            </a:r>
            <a:r>
              <a:rPr lang="en-IN" dirty="0"/>
              <a:t> to simplify Angular applications.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051F5-13A6-A1FB-89CC-A5668B4E32CE}"/>
              </a:ext>
            </a:extLst>
          </p:cNvPr>
          <p:cNvSpPr txBox="1"/>
          <p:nvPr/>
        </p:nvSpPr>
        <p:spPr>
          <a:xfrm>
            <a:off x="4379259" y="1358489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app.config.ts</a:t>
            </a:r>
            <a:endParaRPr lang="en-IN" b="1" dirty="0"/>
          </a:p>
          <a:p>
            <a:pPr>
              <a:buNone/>
            </a:pPr>
            <a:r>
              <a:rPr lang="en-IN" b="1" dirty="0"/>
              <a:t>Purpose</a:t>
            </a:r>
          </a:p>
          <a:p>
            <a:pPr>
              <a:buNone/>
            </a:pPr>
            <a:r>
              <a:rPr lang="en-IN" dirty="0"/>
              <a:t>This file </a:t>
            </a:r>
            <a:r>
              <a:rPr lang="en-IN" b="1" dirty="0"/>
              <a:t>configures the Angular application globally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replaces many responsibilities previously handled by </a:t>
            </a:r>
            <a:r>
              <a:rPr lang="en-IN" b="1" dirty="0" err="1"/>
              <a:t>AppModule</a:t>
            </a:r>
            <a:r>
              <a:rPr lang="en-IN" dirty="0"/>
              <a:t>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What it configures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Dependency Injection providers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Global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 client configuration</a:t>
            </a:r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Replaces complex module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Centralized application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2118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83151E09-49C0-EE5E-4BC9-9063C511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A7372120-B18E-6EB2-2594-A16F7604F595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524D9-8BE5-E8A7-D5E4-3197FBCFFABB}"/>
              </a:ext>
            </a:extLst>
          </p:cNvPr>
          <p:cNvSpPr txBox="1"/>
          <p:nvPr/>
        </p:nvSpPr>
        <p:spPr>
          <a:xfrm>
            <a:off x="381000" y="1307317"/>
            <a:ext cx="40699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app.ts</a:t>
            </a:r>
            <a:endParaRPr lang="en-IN" b="1" dirty="0"/>
          </a:p>
          <a:p>
            <a:r>
              <a:rPr lang="en-IN" dirty="0"/>
              <a:t>This is the </a:t>
            </a:r>
            <a:r>
              <a:rPr lang="en-IN" b="1" dirty="0"/>
              <a:t>root component file</a:t>
            </a:r>
            <a:r>
              <a:rPr lang="en-IN" dirty="0"/>
              <a:t>.</a:t>
            </a:r>
          </a:p>
          <a:p>
            <a:r>
              <a:rPr lang="en-IN" dirty="0"/>
              <a:t>Previously Angular used:</a:t>
            </a:r>
          </a:p>
          <a:p>
            <a:r>
              <a:rPr lang="en-IN" dirty="0" err="1"/>
              <a:t>app.component.ts</a:t>
            </a:r>
            <a:endParaRPr lang="en-IN" dirty="0"/>
          </a:p>
          <a:p>
            <a:r>
              <a:rPr lang="en-IN" dirty="0"/>
              <a:t>Now it is simplified to:</a:t>
            </a:r>
          </a:p>
          <a:p>
            <a:r>
              <a:rPr lang="en-IN" dirty="0" err="1"/>
              <a:t>app.ts</a:t>
            </a:r>
            <a:endParaRPr lang="en-IN" dirty="0"/>
          </a:p>
          <a:p>
            <a:r>
              <a:rPr lang="en-IN" b="1" dirty="0"/>
              <a:t>Key Feature</a:t>
            </a:r>
          </a:p>
          <a:p>
            <a:r>
              <a:rPr lang="en-IN" dirty="0"/>
              <a:t>standalone: true</a:t>
            </a:r>
          </a:p>
          <a:p>
            <a:r>
              <a:rPr lang="en-IN" dirty="0"/>
              <a:t>This means:</a:t>
            </a:r>
          </a:p>
          <a:p>
            <a:r>
              <a:rPr lang="en-IN" dirty="0"/>
              <a:t>The component </a:t>
            </a:r>
            <a:r>
              <a:rPr lang="en-IN" b="1" dirty="0"/>
              <a:t>does not require </a:t>
            </a:r>
            <a:r>
              <a:rPr lang="en-IN" b="1" dirty="0" err="1"/>
              <a:t>NgModule</a:t>
            </a:r>
            <a:r>
              <a:rPr lang="en-IN" dirty="0"/>
              <a:t>.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Less boilerplate code</a:t>
            </a:r>
          </a:p>
          <a:p>
            <a:r>
              <a:rPr lang="en-IN" dirty="0"/>
              <a:t>Faster development</a:t>
            </a:r>
          </a:p>
          <a:p>
            <a:r>
              <a:rPr lang="en-IN" dirty="0"/>
              <a:t>Better readability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05285-869C-C76B-6695-0F041477A922}"/>
              </a:ext>
            </a:extLst>
          </p:cNvPr>
          <p:cNvSpPr txBox="1"/>
          <p:nvPr/>
        </p:nvSpPr>
        <p:spPr>
          <a:xfrm>
            <a:off x="4352365" y="1224019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app.html</a:t>
            </a:r>
          </a:p>
          <a:p>
            <a:r>
              <a:rPr lang="en-IN" dirty="0"/>
              <a:t>This file is the </a:t>
            </a:r>
            <a:r>
              <a:rPr lang="en-IN" b="1" dirty="0"/>
              <a:t>template (UI layout)</a:t>
            </a:r>
            <a:r>
              <a:rPr lang="en-IN" dirty="0"/>
              <a:t> of the root component.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r>
              <a:rPr lang="en-IN" dirty="0"/>
              <a:t>&lt;h1&gt;{{title}}&lt;/h1&gt;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&lt;p&gt;Welcome to Angular Application&lt;/p&gt;</a:t>
            </a:r>
          </a:p>
          <a:p>
            <a:r>
              <a:rPr lang="en-IN" b="1" dirty="0"/>
              <a:t>Features used in templates</a:t>
            </a:r>
          </a:p>
          <a:p>
            <a:r>
              <a:rPr lang="en-IN" dirty="0"/>
              <a:t>Interpolation</a:t>
            </a:r>
          </a:p>
          <a:p>
            <a:r>
              <a:rPr lang="en-IN" dirty="0"/>
              <a:t>Data binding</a:t>
            </a:r>
          </a:p>
          <a:p>
            <a:r>
              <a:rPr lang="en-IN" dirty="0"/>
              <a:t>Angular directives</a:t>
            </a:r>
          </a:p>
          <a:p>
            <a:r>
              <a:rPr lang="en-IN" dirty="0"/>
              <a:t>Event binding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&lt;button (click)="</a:t>
            </a:r>
            <a:r>
              <a:rPr lang="en-IN" dirty="0" err="1"/>
              <a:t>sayHello</a:t>
            </a:r>
            <a:r>
              <a:rPr lang="en-IN" dirty="0"/>
              <a:t>()"&gt;Click&lt;/button&gt;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4047451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9D580183-A80A-420B-71D4-5A157D86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AA8B998D-2029-8F1D-037F-F33B10AD97A4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1CA9D-1E37-6EDF-83F6-2C9B92467210}"/>
              </a:ext>
            </a:extLst>
          </p:cNvPr>
          <p:cNvSpPr txBox="1"/>
          <p:nvPr/>
        </p:nvSpPr>
        <p:spPr>
          <a:xfrm>
            <a:off x="381000" y="1307317"/>
            <a:ext cx="406997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app.css</a:t>
            </a:r>
          </a:p>
          <a:p>
            <a:r>
              <a:rPr lang="en-IN" dirty="0"/>
              <a:t>Contains </a:t>
            </a:r>
            <a:r>
              <a:rPr lang="en-IN" b="1" dirty="0"/>
              <a:t>component-level styles</a:t>
            </a:r>
            <a:r>
              <a:rPr lang="en-IN" dirty="0"/>
              <a:t>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h1{</a:t>
            </a:r>
            <a:br>
              <a:rPr lang="en-IN" dirty="0"/>
            </a:br>
            <a:r>
              <a:rPr lang="en-IN" dirty="0" err="1"/>
              <a:t>color:blue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p{</a:t>
            </a:r>
            <a:br>
              <a:rPr lang="en-IN" dirty="0"/>
            </a:br>
            <a:r>
              <a:rPr lang="en-IN" dirty="0"/>
              <a:t>font-size:18px;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Styles are scoped to the component</a:t>
            </a:r>
          </a:p>
          <a:p>
            <a:r>
              <a:rPr lang="en-IN" dirty="0"/>
              <a:t>Avoids global CSS conflicts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27F48-C298-8EBB-7A42-4EC2A8C63F99}"/>
              </a:ext>
            </a:extLst>
          </p:cNvPr>
          <p:cNvSpPr txBox="1"/>
          <p:nvPr/>
        </p:nvSpPr>
        <p:spPr>
          <a:xfrm>
            <a:off x="4352365" y="1224019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app.routes.ts</a:t>
            </a:r>
            <a:endParaRPr lang="en-IN" b="1" dirty="0"/>
          </a:p>
          <a:p>
            <a:r>
              <a:rPr lang="en-IN" dirty="0"/>
              <a:t>This file defines </a:t>
            </a:r>
            <a:r>
              <a:rPr lang="en-IN" b="1" dirty="0"/>
              <a:t>application routes</a:t>
            </a:r>
            <a:r>
              <a:rPr lang="en-IN" dirty="0"/>
              <a:t>.</a:t>
            </a:r>
          </a:p>
          <a:p>
            <a:endParaRPr lang="en-IN" b="1" dirty="0"/>
          </a:p>
          <a:p>
            <a:r>
              <a:rPr lang="en-IN" b="1" dirty="0"/>
              <a:t>Purpose</a:t>
            </a:r>
          </a:p>
          <a:p>
            <a:r>
              <a:rPr lang="en-IN" dirty="0"/>
              <a:t>Handles navigation between pages.</a:t>
            </a:r>
          </a:p>
          <a:p>
            <a:r>
              <a:rPr lang="en-IN" dirty="0"/>
              <a:t>Example URLs:</a:t>
            </a:r>
          </a:p>
          <a:p>
            <a:r>
              <a:rPr lang="en-IN" dirty="0"/>
              <a:t>localhost:4200/</a:t>
            </a:r>
            <a:br>
              <a:rPr lang="en-IN" dirty="0"/>
            </a:br>
            <a:r>
              <a:rPr lang="en-IN" dirty="0"/>
              <a:t>localhost:4200/products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Lazy loading</a:t>
            </a:r>
          </a:p>
          <a:p>
            <a:r>
              <a:rPr lang="en-IN" dirty="0"/>
              <a:t>Better performance</a:t>
            </a:r>
          </a:p>
          <a:p>
            <a:r>
              <a:rPr lang="en-IN" dirty="0"/>
              <a:t>Modular routing</a:t>
            </a:r>
          </a:p>
        </p:txBody>
      </p:sp>
    </p:spTree>
    <p:extLst>
      <p:ext uri="{BB962C8B-B14F-4D97-AF65-F5344CB8AC3E}">
        <p14:creationId xmlns:p14="http://schemas.microsoft.com/office/powerpoint/2010/main" val="31685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10CF67F3-C6D0-6AF5-6492-0714943B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B8598566-22E1-93FA-5EDB-50F1A3D40A6F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Install Angular CLI (For Angular Development)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2546B-1CCD-E8F2-33EC-3750DE38D380}"/>
              </a:ext>
            </a:extLst>
          </p:cNvPr>
          <p:cNvSpPr txBox="1"/>
          <p:nvPr/>
        </p:nvSpPr>
        <p:spPr>
          <a:xfrm>
            <a:off x="381000" y="1224019"/>
            <a:ext cx="40699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app.spec.ts</a:t>
            </a:r>
            <a:endParaRPr lang="en-IN" b="1" dirty="0"/>
          </a:p>
          <a:p>
            <a:r>
              <a:rPr lang="en-IN" dirty="0"/>
              <a:t>This file is used for </a:t>
            </a:r>
            <a:r>
              <a:rPr lang="en-IN" b="1" dirty="0"/>
              <a:t>unit testing</a:t>
            </a:r>
            <a:r>
              <a:rPr lang="en-IN" dirty="0"/>
              <a:t>.</a:t>
            </a:r>
          </a:p>
          <a:p>
            <a:r>
              <a:rPr lang="en-IN" dirty="0"/>
              <a:t>Angular uses </a:t>
            </a:r>
            <a:r>
              <a:rPr lang="en-IN" b="1" dirty="0"/>
              <a:t>Jasmine</a:t>
            </a:r>
            <a:r>
              <a:rPr lang="en-IN" dirty="0"/>
              <a:t> and </a:t>
            </a:r>
            <a:r>
              <a:rPr lang="en-IN" b="1" dirty="0"/>
              <a:t>Karma</a:t>
            </a:r>
            <a:r>
              <a:rPr lang="en-IN" dirty="0"/>
              <a:t> for testing.</a:t>
            </a:r>
          </a:p>
          <a:p>
            <a:endParaRPr lang="en-IN" b="1" dirty="0"/>
          </a:p>
          <a:p>
            <a:r>
              <a:rPr lang="en-IN" b="1" dirty="0"/>
              <a:t>Purpose</a:t>
            </a:r>
          </a:p>
          <a:p>
            <a:r>
              <a:rPr lang="en-IN" dirty="0"/>
              <a:t>Tests:</a:t>
            </a:r>
          </a:p>
          <a:p>
            <a:r>
              <a:rPr lang="en-IN" dirty="0"/>
              <a:t>Component creation</a:t>
            </a:r>
          </a:p>
          <a:p>
            <a:r>
              <a:rPr lang="en-IN" dirty="0"/>
              <a:t>Logic correctness</a:t>
            </a:r>
          </a:p>
          <a:p>
            <a:r>
              <a:rPr lang="en-IN" dirty="0"/>
              <a:t>UI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CE340-D05E-4B7D-9BFD-E3D28480299B}"/>
              </a:ext>
            </a:extLst>
          </p:cNvPr>
          <p:cNvSpPr txBox="1"/>
          <p:nvPr/>
        </p:nvSpPr>
        <p:spPr>
          <a:xfrm>
            <a:off x="4352365" y="1224019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Complete Angular Startup Flow (Standalone Architecture)</a:t>
            </a:r>
          </a:p>
          <a:p>
            <a:r>
              <a:rPr lang="en-IN" dirty="0" err="1"/>
              <a:t>main.ts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 err="1"/>
              <a:t>app.config.ts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 err="1"/>
              <a:t>app.ts</a:t>
            </a:r>
            <a:r>
              <a:rPr lang="en-IN" dirty="0"/>
              <a:t> (Root Component)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app.html (Template)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Browser UI</a:t>
            </a:r>
          </a:p>
        </p:txBody>
      </p:sp>
    </p:spTree>
    <p:extLst>
      <p:ext uri="{BB962C8B-B14F-4D97-AF65-F5344CB8AC3E}">
        <p14:creationId xmlns:p14="http://schemas.microsoft.com/office/powerpoint/2010/main" val="34724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72A6D923-66BA-D7FD-286A-CE4B5AA2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FFC8DAC4-4EF4-4660-C1C8-6E38756AF469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Introduction &amp; Core Building Blocks in Angular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5102D-2B17-69E9-F5EF-43DC7D1B8FEE}"/>
              </a:ext>
            </a:extLst>
          </p:cNvPr>
          <p:cNvSpPr/>
          <p:nvPr/>
        </p:nvSpPr>
        <p:spPr>
          <a:xfrm>
            <a:off x="381000" y="1056670"/>
            <a:ext cx="85826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What is Angular?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Angular is a web framework that empowers developers to build fast, reliable applications that users love.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Angular is a </a:t>
            </a:r>
            <a:r>
              <a:rPr lang="en-US" b="1" dirty="0"/>
              <a:t>TypeScript-based front-end framework</a:t>
            </a:r>
            <a:r>
              <a:rPr lang="en-US" dirty="0"/>
              <a:t> used to build </a:t>
            </a:r>
            <a:r>
              <a:rPr lang="en-US" b="1" dirty="0"/>
              <a:t>dynamic, scalable single-page applications (SPA)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Angular developed and maintained by </a:t>
            </a:r>
            <a:r>
              <a:rPr lang="en-US" b="1" dirty="0"/>
              <a:t>Google</a:t>
            </a:r>
            <a:r>
              <a:rPr lang="en-US" dirty="0"/>
              <a:t>.</a:t>
            </a:r>
          </a:p>
          <a:p>
            <a:r>
              <a:rPr lang="en-US" b="1" dirty="0"/>
              <a:t>Angular provides: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Component-based architecture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Two-way data binding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Dependency Injection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Modular application structure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Built-in routing and HTTP services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Powerful CLI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TypeScript support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High performance</a:t>
            </a:r>
          </a:p>
          <a:p>
            <a:pPr lvl="1"/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3056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Introduction &amp; Core Building Blocks in Angular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What is a Framework?</a:t>
            </a:r>
          </a:p>
          <a:p>
            <a:endParaRPr lang="en-IN" b="1" dirty="0"/>
          </a:p>
          <a:p>
            <a:pPr lvl="1"/>
            <a:r>
              <a:rPr lang="en-US" dirty="0"/>
              <a:t>A </a:t>
            </a:r>
            <a:r>
              <a:rPr lang="en-US" b="1" dirty="0"/>
              <a:t>framework</a:t>
            </a:r>
            <a:r>
              <a:rPr lang="en-US" dirty="0"/>
              <a:t> is a </a:t>
            </a:r>
            <a:r>
              <a:rPr lang="en-US" b="1" dirty="0"/>
              <a:t>pre-built structure</a:t>
            </a:r>
            <a:r>
              <a:rPr lang="en-US" dirty="0"/>
              <a:t> that provides rules, tools, and reusable code to help developers </a:t>
            </a:r>
            <a:r>
              <a:rPr lang="en-US" b="1" dirty="0"/>
              <a:t>build applications faster, more securely, and in a standard way</a:t>
            </a:r>
            <a:r>
              <a:rPr lang="en-US" dirty="0"/>
              <a:t>.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EC481FB5-AB1E-DE67-94C9-EBF00069BF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796286"/>
              </p:ext>
            </p:extLst>
          </p:nvPr>
        </p:nvGraphicFramePr>
        <p:xfrm>
          <a:off x="1298037" y="2192479"/>
          <a:ext cx="6547925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0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Angular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TypeScript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React (library)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Spring Boot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ASP.NET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Django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85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C455928-EE9C-5280-DF3A-36E20684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0B43C8E8-9196-84BF-CB24-27D9E57D04DA}"/>
              </a:ext>
            </a:extLst>
          </p:cNvPr>
          <p:cNvSpPr txBox="1"/>
          <p:nvPr/>
        </p:nvSpPr>
        <p:spPr>
          <a:xfrm>
            <a:off x="381000" y="321000"/>
            <a:ext cx="8382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Introduction &amp; Core Building Blocks in Angular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B560E-04AC-9EE5-7848-2B8E9A2C6727}"/>
              </a:ext>
            </a:extLst>
          </p:cNvPr>
          <p:cNvSpPr/>
          <p:nvPr/>
        </p:nvSpPr>
        <p:spPr>
          <a:xfrm>
            <a:off x="381000" y="1056670"/>
            <a:ext cx="85826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BAE6F-7651-76C3-2AEF-1FA2195A2DEE}"/>
              </a:ext>
            </a:extLst>
          </p:cNvPr>
          <p:cNvSpPr txBox="1"/>
          <p:nvPr/>
        </p:nvSpPr>
        <p:spPr>
          <a:xfrm>
            <a:off x="381000" y="1267266"/>
            <a:ext cx="78418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Angular CLI now </a:t>
            </a:r>
            <a:r>
              <a:rPr lang="en-US" b="1" dirty="0"/>
              <a:t>always enables live reload by default</a:t>
            </a:r>
            <a:r>
              <a:rPr lang="en-US" dirty="0"/>
              <a:t>, so the option is no longer needed or recognized. Correct Way to Run the App (Angular 17–21) </a:t>
            </a:r>
          </a:p>
          <a:p>
            <a:endParaRPr lang="en-US" dirty="0"/>
          </a:p>
          <a:p>
            <a:pPr lvl="1"/>
            <a:r>
              <a:rPr lang="en-US" dirty="0"/>
              <a:t>ng serve </a:t>
            </a:r>
          </a:p>
          <a:p>
            <a:pPr lvl="1"/>
            <a:r>
              <a:rPr lang="en-US" dirty="0"/>
              <a:t>ng serve --open</a:t>
            </a:r>
          </a:p>
          <a:p>
            <a:pPr lvl="1"/>
            <a:r>
              <a:rPr lang="en-US" dirty="0"/>
              <a:t>ng serve --open --port 4200 </a:t>
            </a:r>
          </a:p>
        </p:txBody>
      </p:sp>
      <p:graphicFrame>
        <p:nvGraphicFramePr>
          <p:cNvPr id="8" name="Content Placeholder 26">
            <a:extLst>
              <a:ext uri="{FF2B5EF4-FFF2-40B4-BE49-F238E27FC236}">
                <a16:creationId xmlns:a16="http://schemas.microsoft.com/office/drawing/2014/main" id="{55F8EBC9-5EE4-E5D6-9B58-F5E4968C7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699859"/>
              </p:ext>
            </p:extLst>
          </p:nvPr>
        </p:nvGraphicFramePr>
        <p:xfrm>
          <a:off x="581696" y="2862857"/>
          <a:ext cx="7317896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8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8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Old CLI (≤16)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New CLI (17–21)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--liveReload=true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--open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--port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Auto reload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9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Architecture</a:t>
            </a:r>
          </a:p>
        </p:txBody>
      </p:sp>
      <p:pic>
        <p:nvPicPr>
          <p:cNvPr id="3" name="Picture 2" descr="https://www.tatvasoft.com/outsourcing/wp-content/uploads/2023/06/Angular-Architecture.jpg">
            <a:extLst>
              <a:ext uri="{FF2B5EF4-FFF2-40B4-BE49-F238E27FC236}">
                <a16:creationId xmlns:a16="http://schemas.microsoft.com/office/drawing/2014/main" id="{63F196BE-1815-58C2-00A1-24CE2089C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52" y="1665349"/>
            <a:ext cx="5449225" cy="31569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A68645-5561-F677-376D-C374C79B0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703" y="1665522"/>
            <a:ext cx="2095245" cy="30942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0DD928-796A-2B5B-C043-CD63F4B27012}"/>
              </a:ext>
            </a:extLst>
          </p:cNvPr>
          <p:cNvSpPr txBox="1"/>
          <p:nvPr/>
        </p:nvSpPr>
        <p:spPr>
          <a:xfrm>
            <a:off x="381000" y="1100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Angular applications follow a </a:t>
            </a:r>
            <a:r>
              <a:rPr lang="en-US" b="1" dirty="0"/>
              <a:t>modular architecture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617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DDE44825-1722-8736-3888-31C68F09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47D534EE-1FFC-8868-5686-CF1A22B48005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Architecture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47C5088-DB23-00C3-F748-E2F97CD2D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975322"/>
              </p:ext>
            </p:extLst>
          </p:nvPr>
        </p:nvGraphicFramePr>
        <p:xfrm>
          <a:off x="521074" y="1495099"/>
          <a:ext cx="78867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51356906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63940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977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Organize application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13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Control UI parts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17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Templates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HTML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926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2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Navigation between 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767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701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DB8E191-0B0A-E56D-1A32-EB0CECFB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CCCDA409-D96A-6088-BC10-23F1D39B075D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Using Angular </a:t>
            </a:r>
            <a:r>
              <a:rPr lang="en-US" sz="2400" b="1" dirty="0"/>
              <a:t>Modules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19FF3-9E5D-0DFB-BB31-7251F367FF44}"/>
              </a:ext>
            </a:extLst>
          </p:cNvPr>
          <p:cNvSpPr txBox="1"/>
          <p:nvPr/>
        </p:nvSpPr>
        <p:spPr>
          <a:xfrm>
            <a:off x="381000" y="1220782"/>
            <a:ext cx="80704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Angular Module</a:t>
            </a:r>
            <a:r>
              <a:rPr lang="en-US" dirty="0"/>
              <a:t> is a </a:t>
            </a:r>
            <a:r>
              <a:rPr lang="en-US" b="1" dirty="0"/>
              <a:t>container</a:t>
            </a:r>
            <a:r>
              <a:rPr lang="en-US" dirty="0"/>
              <a:t> that groups related components, directives, pipes, and services into a single unit.</a:t>
            </a:r>
          </a:p>
          <a:p>
            <a:endParaRPr lang="en-US" dirty="0"/>
          </a:p>
          <a:p>
            <a:r>
              <a:rPr lang="en-US" dirty="0"/>
              <a:t>Below is the </a:t>
            </a:r>
            <a:r>
              <a:rPr lang="en-US" b="1" dirty="0"/>
              <a:t>Complete Angular Startup Flow using Standalone Architecture (Angular 17+ / modern Angular)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architecture removes </a:t>
            </a:r>
            <a:r>
              <a:rPr lang="en-US" b="1" dirty="0" err="1"/>
              <a:t>NgModule</a:t>
            </a:r>
            <a:r>
              <a:rPr lang="en-US" dirty="0"/>
              <a:t> and uses </a:t>
            </a:r>
            <a:r>
              <a:rPr lang="en-US" b="1" dirty="0"/>
              <a:t>standalone components</a:t>
            </a:r>
            <a:r>
              <a:rPr lang="en-US" dirty="0"/>
              <a:t> for simpler and faster applications.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6790BC-D671-1CB5-04BA-E49E97B1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31332"/>
              </p:ext>
            </p:extLst>
          </p:nvPr>
        </p:nvGraphicFramePr>
        <p:xfrm>
          <a:off x="659024" y="2874309"/>
          <a:ext cx="7792452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6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Module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Root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Main entry module (AppModule)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Feature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Specific functionality (e.g., AuthModule)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Shared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Reusable components/pipes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Core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Singleton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Lazy-loaded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Loaded on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502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DE6E1B54-9F07-EC5B-0C61-5C2AFA26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2F193C08-E7FC-4627-E3C5-2E8D47A472DB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</a:t>
            </a:r>
            <a:r>
              <a:rPr lang="en-US" sz="2400" b="1" dirty="0"/>
              <a:t>Modules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0F471-28BE-2507-1207-2970968C34A7}"/>
              </a:ext>
            </a:extLst>
          </p:cNvPr>
          <p:cNvSpPr txBox="1"/>
          <p:nvPr/>
        </p:nvSpPr>
        <p:spPr>
          <a:xfrm>
            <a:off x="430306" y="1033919"/>
            <a:ext cx="44397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Modules (</a:t>
            </a:r>
            <a:r>
              <a:rPr lang="en-US" b="1" dirty="0" err="1"/>
              <a:t>NgModule</a:t>
            </a:r>
            <a:r>
              <a:rPr lang="en-US" b="1" dirty="0"/>
              <a:t>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Angular applications are organized into </a:t>
            </a:r>
            <a:r>
              <a:rPr lang="en-US" b="1" dirty="0"/>
              <a:t>modules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module is a </a:t>
            </a:r>
            <a:r>
              <a:rPr lang="en-US" b="1" dirty="0"/>
              <a:t>container that groups related components, directives, pipes, and services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Angular uses </a:t>
            </a:r>
            <a:r>
              <a:rPr lang="en-US" b="1" dirty="0" err="1"/>
              <a:t>NgModule</a:t>
            </a:r>
            <a:r>
              <a:rPr lang="en-US" b="1" dirty="0"/>
              <a:t> decorator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Root Module</a:t>
            </a:r>
          </a:p>
          <a:p>
            <a:endParaRPr lang="en-US" b="1" dirty="0"/>
          </a:p>
          <a:p>
            <a:r>
              <a:rPr lang="en-US" dirty="0"/>
              <a:t>Every Angular app has </a:t>
            </a:r>
            <a:r>
              <a:rPr lang="en-US" b="1" dirty="0"/>
              <a:t>one root module</a:t>
            </a:r>
            <a:r>
              <a:rPr lang="en-US" dirty="0"/>
              <a:t> called: </a:t>
            </a:r>
            <a:r>
              <a:rPr lang="en-US" dirty="0" err="1"/>
              <a:t>AppModule</a:t>
            </a:r>
            <a:endParaRPr lang="en-US" dirty="0"/>
          </a:p>
          <a:p>
            <a:endParaRPr lang="en-US" dirty="0"/>
          </a:p>
          <a:p>
            <a:r>
              <a:rPr lang="en-IN" dirty="0"/>
              <a:t>File: </a:t>
            </a:r>
            <a:r>
              <a:rPr lang="en-IN" dirty="0" err="1"/>
              <a:t>app.module.ts</a:t>
            </a:r>
            <a:endParaRPr lang="en-IN" dirty="0"/>
          </a:p>
          <a:p>
            <a:endParaRPr lang="en-US" dirty="0"/>
          </a:p>
          <a:p>
            <a:pPr>
              <a:buNone/>
            </a:pPr>
            <a:r>
              <a:rPr lang="en-IN" dirty="0"/>
              <a:t>Using Angular CLI: ng generate module app OR</a:t>
            </a:r>
          </a:p>
          <a:p>
            <a:pPr>
              <a:buNone/>
            </a:pPr>
            <a:r>
              <a:rPr lang="en-IN" dirty="0"/>
              <a:t>ng g module app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BA7A6-6D10-68CD-2B7B-965CA8DE5E89}"/>
              </a:ext>
            </a:extLst>
          </p:cNvPr>
          <p:cNvSpPr txBox="1"/>
          <p:nvPr/>
        </p:nvSpPr>
        <p:spPr>
          <a:xfrm>
            <a:off x="4652683" y="653826"/>
            <a:ext cx="40610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{ </a:t>
            </a:r>
            <a:r>
              <a:rPr lang="en-IN" dirty="0" err="1"/>
              <a:t>NgModule</a:t>
            </a:r>
            <a:r>
              <a:rPr lang="en-IN" dirty="0"/>
              <a:t> } from '@angular/core';</a:t>
            </a:r>
          </a:p>
          <a:p>
            <a:r>
              <a:rPr lang="en-IN" dirty="0"/>
              <a:t>import { </a:t>
            </a:r>
            <a:r>
              <a:rPr lang="en-IN" dirty="0" err="1"/>
              <a:t>BrowserModule</a:t>
            </a:r>
            <a:r>
              <a:rPr lang="en-IN" dirty="0"/>
              <a:t> } from '@angular/platform-browser';</a:t>
            </a:r>
          </a:p>
          <a:p>
            <a:endParaRPr lang="en-IN" dirty="0"/>
          </a:p>
          <a:p>
            <a:r>
              <a:rPr lang="en-IN" dirty="0"/>
              <a:t>import { </a:t>
            </a:r>
            <a:r>
              <a:rPr lang="en-IN" dirty="0" err="1"/>
              <a:t>AppComponent</a:t>
            </a:r>
            <a:r>
              <a:rPr lang="en-IN" dirty="0"/>
              <a:t> } from './</a:t>
            </a:r>
            <a:r>
              <a:rPr lang="en-IN" dirty="0" err="1"/>
              <a:t>app.component</a:t>
            </a:r>
            <a:r>
              <a:rPr lang="en-IN" dirty="0"/>
              <a:t>';</a:t>
            </a:r>
          </a:p>
          <a:p>
            <a:endParaRPr lang="en-IN" dirty="0"/>
          </a:p>
          <a:p>
            <a:r>
              <a:rPr lang="en-IN" dirty="0"/>
              <a:t>@NgModule({</a:t>
            </a:r>
          </a:p>
          <a:p>
            <a:r>
              <a:rPr lang="en-IN" dirty="0"/>
              <a:t>  declarations: [</a:t>
            </a:r>
          </a:p>
          <a:p>
            <a:r>
              <a:rPr lang="en-IN" dirty="0"/>
              <a:t>    </a:t>
            </a:r>
            <a:r>
              <a:rPr lang="en-IN" dirty="0" err="1"/>
              <a:t>AppComponent</a:t>
            </a:r>
            <a:endParaRPr lang="en-IN" dirty="0"/>
          </a:p>
          <a:p>
            <a:r>
              <a:rPr lang="en-IN" dirty="0"/>
              <a:t>  ],</a:t>
            </a:r>
          </a:p>
          <a:p>
            <a:r>
              <a:rPr lang="en-IN" dirty="0"/>
              <a:t>  imports: [</a:t>
            </a:r>
          </a:p>
          <a:p>
            <a:r>
              <a:rPr lang="en-IN" dirty="0"/>
              <a:t>    </a:t>
            </a:r>
            <a:r>
              <a:rPr lang="en-IN" dirty="0" err="1"/>
              <a:t>BrowserModule</a:t>
            </a:r>
            <a:endParaRPr lang="en-IN" dirty="0"/>
          </a:p>
          <a:p>
            <a:r>
              <a:rPr lang="en-IN" dirty="0"/>
              <a:t>  ],</a:t>
            </a:r>
          </a:p>
          <a:p>
            <a:r>
              <a:rPr lang="en-IN" dirty="0"/>
              <a:t>  providers: [],</a:t>
            </a:r>
          </a:p>
          <a:p>
            <a:r>
              <a:rPr lang="en-IN" dirty="0"/>
              <a:t>  bootstrap: [</a:t>
            </a:r>
            <a:r>
              <a:rPr lang="en-IN" dirty="0" err="1"/>
              <a:t>AppComponent</a:t>
            </a:r>
            <a:r>
              <a:rPr lang="en-IN" dirty="0"/>
              <a:t>]</a:t>
            </a:r>
          </a:p>
          <a:p>
            <a:r>
              <a:rPr lang="en-IN" dirty="0"/>
              <a:t>})</a:t>
            </a:r>
          </a:p>
          <a:p>
            <a:endParaRPr lang="en-IN" dirty="0"/>
          </a:p>
          <a:p>
            <a:r>
              <a:rPr lang="en-IN" dirty="0"/>
              <a:t>export class </a:t>
            </a:r>
            <a:r>
              <a:rPr lang="en-IN" dirty="0" err="1"/>
              <a:t>AppModule</a:t>
            </a:r>
            <a:r>
              <a:rPr lang="en-IN" dirty="0"/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2994977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59444B50-3EA5-B036-0E72-B359964A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7116CDC2-CC59-5704-3C3A-CEDF135CE08B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b="1" dirty="0"/>
              <a:t>How to create a Module in Angular?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9404B-587A-798E-CD26-BFD659C2B07A}"/>
              </a:ext>
            </a:extLst>
          </p:cNvPr>
          <p:cNvSpPr txBox="1"/>
          <p:nvPr/>
        </p:nvSpPr>
        <p:spPr>
          <a:xfrm>
            <a:off x="381000" y="1099469"/>
            <a:ext cx="79023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create a module in angular using Angular CLI, you need to use the command. </a:t>
            </a:r>
          </a:p>
          <a:p>
            <a:pPr>
              <a:buNone/>
            </a:pPr>
            <a:r>
              <a:rPr lang="en-IN" dirty="0"/>
              <a:t>Using Angular CLI: ng generate module app OR ng g module app.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means the student module is created within the </a:t>
            </a:r>
            <a:r>
              <a:rPr lang="en-US" b="1" dirty="0" err="1"/>
              <a:t>src</a:t>
            </a:r>
            <a:r>
              <a:rPr lang="en-US" b="1" dirty="0"/>
              <a:t> =&gt; app =&gt; student</a:t>
            </a:r>
            <a:r>
              <a:rPr lang="en-US" dirty="0"/>
              <a:t> folder and employee module is created within the </a:t>
            </a:r>
            <a:r>
              <a:rPr lang="en-US" b="1" dirty="0" err="1"/>
              <a:t>src</a:t>
            </a:r>
            <a:r>
              <a:rPr lang="en-US" b="1" dirty="0"/>
              <a:t> =&gt; app =&gt; employee</a:t>
            </a:r>
            <a:r>
              <a:rPr lang="en-US" dirty="0"/>
              <a:t> folder.</a:t>
            </a:r>
          </a:p>
          <a:p>
            <a:endParaRPr lang="en-US" dirty="0"/>
          </a:p>
          <a:p>
            <a:r>
              <a:rPr lang="en-US" b="1" dirty="0"/>
              <a:t>Root Module</a:t>
            </a:r>
          </a:p>
          <a:p>
            <a:endParaRPr lang="en-US" b="1" dirty="0"/>
          </a:p>
          <a:p>
            <a:r>
              <a:rPr lang="en-US" dirty="0"/>
              <a:t>Every Angular app has </a:t>
            </a:r>
            <a:r>
              <a:rPr lang="en-US" b="1" dirty="0"/>
              <a:t>one root module</a:t>
            </a:r>
            <a:r>
              <a:rPr lang="en-US" dirty="0"/>
              <a:t> called: </a:t>
            </a:r>
            <a:r>
              <a:rPr lang="en-US" dirty="0" err="1"/>
              <a:t>AppModule</a:t>
            </a:r>
            <a:endParaRPr lang="en-US" dirty="0"/>
          </a:p>
          <a:p>
            <a:endParaRPr lang="en-US" dirty="0"/>
          </a:p>
          <a:p>
            <a:r>
              <a:rPr lang="en-IN" dirty="0"/>
              <a:t>File: </a:t>
            </a:r>
            <a:r>
              <a:rPr lang="en-IN" dirty="0" err="1"/>
              <a:t>app.module.ts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6FFFE-BE2A-B547-C95E-9E534EAF3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6" y="3605881"/>
            <a:ext cx="4841265" cy="87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996484-B4C9-DF8C-DF4A-502351365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373" y="2571750"/>
            <a:ext cx="2667015" cy="21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02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0316E61-F6CC-CAC1-3CD8-CA1C8B61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1DDC1E29-DAB9-4C05-5476-8804E577199C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</a:t>
            </a:r>
            <a:r>
              <a:rPr lang="en-US" sz="2400" b="1" dirty="0"/>
              <a:t>Modules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5F451-2C70-A202-AE75-0EF7A116BE0E}"/>
              </a:ext>
            </a:extLst>
          </p:cNvPr>
          <p:cNvSpPr txBox="1"/>
          <p:nvPr/>
        </p:nvSpPr>
        <p:spPr>
          <a:xfrm>
            <a:off x="430306" y="1033919"/>
            <a:ext cx="44397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Modules (</a:t>
            </a:r>
            <a:r>
              <a:rPr lang="en-US" b="1" dirty="0" err="1"/>
              <a:t>NgModule</a:t>
            </a:r>
            <a:r>
              <a:rPr lang="en-US" b="1" dirty="0"/>
              <a:t>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Angular applications are organized into </a:t>
            </a:r>
            <a:r>
              <a:rPr lang="en-US" b="1" dirty="0"/>
              <a:t>modules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module is a </a:t>
            </a:r>
            <a:r>
              <a:rPr lang="en-US" b="1" dirty="0"/>
              <a:t>container that groups related components, directives, pipes, and services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Angular uses </a:t>
            </a:r>
            <a:r>
              <a:rPr lang="en-US" b="1" dirty="0" err="1"/>
              <a:t>NgModule</a:t>
            </a:r>
            <a:r>
              <a:rPr lang="en-US" b="1" dirty="0"/>
              <a:t> decorator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3E1B5-A03D-F58B-DC5E-F9D9581DD1F7}"/>
              </a:ext>
            </a:extLst>
          </p:cNvPr>
          <p:cNvSpPr txBox="1"/>
          <p:nvPr/>
        </p:nvSpPr>
        <p:spPr>
          <a:xfrm>
            <a:off x="4652683" y="653826"/>
            <a:ext cx="40610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{ </a:t>
            </a:r>
            <a:r>
              <a:rPr lang="en-IN" dirty="0" err="1"/>
              <a:t>NgModule</a:t>
            </a:r>
            <a:r>
              <a:rPr lang="en-IN" dirty="0"/>
              <a:t> } from '@angular/core';</a:t>
            </a:r>
          </a:p>
          <a:p>
            <a:r>
              <a:rPr lang="en-IN" dirty="0"/>
              <a:t>import { </a:t>
            </a:r>
            <a:r>
              <a:rPr lang="en-IN" dirty="0" err="1"/>
              <a:t>BrowserModule</a:t>
            </a:r>
            <a:r>
              <a:rPr lang="en-IN" dirty="0"/>
              <a:t> } from '@angular/platform-browser';</a:t>
            </a:r>
          </a:p>
          <a:p>
            <a:endParaRPr lang="en-IN" dirty="0"/>
          </a:p>
          <a:p>
            <a:r>
              <a:rPr lang="en-IN" dirty="0"/>
              <a:t>import { </a:t>
            </a:r>
            <a:r>
              <a:rPr lang="en-IN" dirty="0" err="1"/>
              <a:t>AppComponent</a:t>
            </a:r>
            <a:r>
              <a:rPr lang="en-IN" dirty="0"/>
              <a:t> } from './</a:t>
            </a:r>
            <a:r>
              <a:rPr lang="en-IN" dirty="0" err="1"/>
              <a:t>app.component</a:t>
            </a:r>
            <a:r>
              <a:rPr lang="en-IN" dirty="0"/>
              <a:t>';</a:t>
            </a:r>
          </a:p>
          <a:p>
            <a:endParaRPr lang="en-IN" dirty="0"/>
          </a:p>
          <a:p>
            <a:r>
              <a:rPr lang="en-IN" dirty="0"/>
              <a:t>@NgModule({</a:t>
            </a:r>
          </a:p>
          <a:p>
            <a:r>
              <a:rPr lang="en-IN" dirty="0"/>
              <a:t>  declarations: [</a:t>
            </a:r>
          </a:p>
          <a:p>
            <a:r>
              <a:rPr lang="en-IN" dirty="0"/>
              <a:t>    </a:t>
            </a:r>
            <a:r>
              <a:rPr lang="en-IN" dirty="0" err="1"/>
              <a:t>AppComponent</a:t>
            </a:r>
            <a:endParaRPr lang="en-IN" dirty="0"/>
          </a:p>
          <a:p>
            <a:r>
              <a:rPr lang="en-IN" dirty="0"/>
              <a:t>  ],</a:t>
            </a:r>
          </a:p>
          <a:p>
            <a:r>
              <a:rPr lang="en-IN" dirty="0"/>
              <a:t>  imports: [</a:t>
            </a:r>
          </a:p>
          <a:p>
            <a:r>
              <a:rPr lang="en-IN" dirty="0"/>
              <a:t>    </a:t>
            </a:r>
            <a:r>
              <a:rPr lang="en-IN" dirty="0" err="1"/>
              <a:t>BrowserModule</a:t>
            </a:r>
            <a:endParaRPr lang="en-IN" dirty="0"/>
          </a:p>
          <a:p>
            <a:r>
              <a:rPr lang="en-IN" dirty="0"/>
              <a:t>  ],</a:t>
            </a:r>
          </a:p>
          <a:p>
            <a:r>
              <a:rPr lang="en-IN" dirty="0"/>
              <a:t>  providers: [],</a:t>
            </a:r>
          </a:p>
          <a:p>
            <a:r>
              <a:rPr lang="en-IN" dirty="0"/>
              <a:t>  bootstrap: [</a:t>
            </a:r>
            <a:r>
              <a:rPr lang="en-IN" dirty="0" err="1"/>
              <a:t>AppComponent</a:t>
            </a:r>
            <a:r>
              <a:rPr lang="en-IN" dirty="0"/>
              <a:t>]</a:t>
            </a:r>
          </a:p>
          <a:p>
            <a:r>
              <a:rPr lang="en-IN" dirty="0"/>
              <a:t>})</a:t>
            </a:r>
          </a:p>
          <a:p>
            <a:endParaRPr lang="en-IN" dirty="0"/>
          </a:p>
          <a:p>
            <a:r>
              <a:rPr lang="en-IN" dirty="0"/>
              <a:t>export class </a:t>
            </a:r>
            <a:r>
              <a:rPr lang="en-IN" dirty="0" err="1"/>
              <a:t>AppModule</a:t>
            </a:r>
            <a:r>
              <a:rPr lang="en-IN" dirty="0"/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4225009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A5BAD6DE-06A6-8AAA-066F-2A31E1AE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4F65281D-39EC-BB4F-7ECA-D7175542ACC7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F1F8F-3E59-7B57-FC14-B86873D5D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256" y="746312"/>
            <a:ext cx="2521488" cy="3832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B4662B-DB9B-AB6F-E90C-CAA5D02789A9}"/>
              </a:ext>
            </a:extLst>
          </p:cNvPr>
          <p:cNvSpPr txBox="1"/>
          <p:nvPr/>
        </p:nvSpPr>
        <p:spPr>
          <a:xfrm>
            <a:off x="381000" y="11463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Full Angular Startup 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095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New Startup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8A4CB-676E-CF59-BE08-F058F094E57B}"/>
              </a:ext>
            </a:extLst>
          </p:cNvPr>
          <p:cNvSpPr txBox="1"/>
          <p:nvPr/>
        </p:nvSpPr>
        <p:spPr>
          <a:xfrm>
            <a:off x="497541" y="1439752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Browser Loads index.html</a:t>
            </a:r>
          </a:p>
          <a:p>
            <a:pPr>
              <a:buNone/>
            </a:pPr>
            <a:r>
              <a:rPr lang="en-IN" dirty="0"/>
              <a:t>This is the </a:t>
            </a:r>
            <a:r>
              <a:rPr lang="en-IN" b="1" dirty="0"/>
              <a:t>main HTML page</a:t>
            </a:r>
            <a:r>
              <a:rPr lang="en-IN" dirty="0"/>
              <a:t> loaded by the browser.</a:t>
            </a:r>
          </a:p>
          <a:p>
            <a:pPr>
              <a:buNone/>
            </a:pPr>
            <a:r>
              <a:rPr lang="en-IN" b="1" dirty="0"/>
              <a:t>index.html</a:t>
            </a:r>
          </a:p>
          <a:p>
            <a:pPr>
              <a:buNone/>
            </a:pPr>
            <a:r>
              <a:rPr lang="en-IN" b="1" dirty="0"/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Entry point of Angular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Contains root component tag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&lt;app-root&gt;</a:t>
            </a:r>
          </a:p>
          <a:p>
            <a:pPr>
              <a:buNone/>
            </a:pPr>
            <a:r>
              <a:rPr lang="en-IN" dirty="0"/>
              <a:t>Angular replaces this tag with the </a:t>
            </a:r>
            <a:r>
              <a:rPr lang="en-IN" b="1" dirty="0"/>
              <a:t>root component UI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961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A02F36C-FB6C-A42C-422A-B5BDF39A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BA54708D-E434-C0BF-ABF9-5A28B3DEB7F6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Angular New Startup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5E8A0-104D-8B8B-87C9-AFFA764938E6}"/>
              </a:ext>
            </a:extLst>
          </p:cNvPr>
          <p:cNvSpPr txBox="1"/>
          <p:nvPr/>
        </p:nvSpPr>
        <p:spPr>
          <a:xfrm>
            <a:off x="381000" y="1256890"/>
            <a:ext cx="639631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main.ts</a:t>
            </a:r>
            <a:r>
              <a:rPr lang="en-IN" b="1" dirty="0"/>
              <a:t> (Application Entry Point)</a:t>
            </a:r>
          </a:p>
          <a:p>
            <a:endParaRPr lang="en-IN" b="1" dirty="0"/>
          </a:p>
          <a:p>
            <a:r>
              <a:rPr lang="en-IN" dirty="0" err="1"/>
              <a:t>main.ts</a:t>
            </a:r>
            <a:r>
              <a:rPr lang="en-IN" dirty="0"/>
              <a:t> is the </a:t>
            </a:r>
            <a:r>
              <a:rPr lang="en-IN" b="1" dirty="0"/>
              <a:t>starting point of the Angular application</a:t>
            </a:r>
            <a:r>
              <a:rPr lang="en-IN" dirty="0"/>
              <a:t>.</a:t>
            </a:r>
          </a:p>
          <a:p>
            <a:r>
              <a:rPr lang="en-IN" b="1" dirty="0" err="1"/>
              <a:t>main.ts</a:t>
            </a:r>
            <a:endParaRPr lang="en-IN" b="1" dirty="0"/>
          </a:p>
          <a:p>
            <a:r>
              <a:rPr lang="en-IN" b="1" dirty="0"/>
              <a:t>Purpose</a:t>
            </a:r>
          </a:p>
          <a:p>
            <a:r>
              <a:rPr lang="en-IN" dirty="0"/>
              <a:t>This file:</a:t>
            </a:r>
          </a:p>
          <a:p>
            <a:r>
              <a:rPr lang="en-IN" dirty="0"/>
              <a:t>Bootstraps Angular</a:t>
            </a:r>
          </a:p>
          <a:p>
            <a:r>
              <a:rPr lang="en-IN" dirty="0"/>
              <a:t>Starts the root component</a:t>
            </a:r>
          </a:p>
          <a:p>
            <a:r>
              <a:rPr lang="en-IN" dirty="0"/>
              <a:t>Loads global configuration</a:t>
            </a:r>
          </a:p>
          <a:p>
            <a:r>
              <a:rPr lang="en-IN" b="1" dirty="0"/>
              <a:t>Key Function</a:t>
            </a:r>
          </a:p>
          <a:p>
            <a:r>
              <a:rPr lang="en-IN" dirty="0" err="1"/>
              <a:t>bootstrapApplication</a:t>
            </a:r>
            <a:r>
              <a:rPr lang="en-IN" dirty="0"/>
              <a:t>()</a:t>
            </a:r>
          </a:p>
          <a:p>
            <a:r>
              <a:rPr lang="en-IN" dirty="0"/>
              <a:t>This replaces the old Angular method:</a:t>
            </a:r>
          </a:p>
          <a:p>
            <a:r>
              <a:rPr lang="en-IN" dirty="0" err="1"/>
              <a:t>platformBrowserDynamic</a:t>
            </a:r>
            <a:r>
              <a:rPr lang="en-IN" dirty="0"/>
              <a:t>().</a:t>
            </a:r>
            <a:r>
              <a:rPr lang="en-IN" dirty="0" err="1"/>
              <a:t>bootstrapModule</a:t>
            </a:r>
            <a:r>
              <a:rPr lang="en-IN" dirty="0"/>
              <a:t>(</a:t>
            </a:r>
            <a:r>
              <a:rPr lang="en-IN" dirty="0" err="1"/>
              <a:t>AppModule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7694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/>
        </p:nvSpPr>
        <p:spPr>
          <a:xfrm>
            <a:off x="226925" y="151275"/>
            <a:ext cx="4962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Check Your Understanding 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10"/>
          <p:cNvSpPr/>
          <p:nvPr/>
        </p:nvSpPr>
        <p:spPr>
          <a:xfrm rot="10800000" flipH="1">
            <a:off x="305900" y="627875"/>
            <a:ext cx="37635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1" name="Google Shape;491;p10" descr="check sign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7794" y="1088200"/>
            <a:ext cx="1768724" cy="1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/>
        </p:nvSpPr>
        <p:spPr>
          <a:xfrm>
            <a:off x="394950" y="223550"/>
            <a:ext cx="4442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&amp; Answer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8" name="Google Shape;4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175" y="940450"/>
            <a:ext cx="4832175" cy="33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/>
              <a:t>Benhar Charles Velankanni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  <MediaLengthInSeconds xmlns="9f6ad64a-8b6b-48eb-ae60-12a54eda0c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8A4D05-2C6B-4E3D-ACBF-D0F4E11F0DD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9f6ad64a-8b6b-48eb-ae60-12a54eda0ca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0328ee1-d215-47f2-9f94-e66745c0848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CFC267C-DE1B-4101-8C28-4BADF6AAF7D3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5DA012-BBE1-41E3-B821-9BF2DDCA6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24505</TotalTime>
  <Words>1982</Words>
  <Application>Microsoft Office PowerPoint</Application>
  <PresentationFormat>On-screen Show (16:9)</PresentationFormat>
  <Paragraphs>402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Proxima Nova Semibold</vt:lpstr>
      <vt:lpstr>Calibri</vt:lpstr>
      <vt:lpstr>Courier New</vt:lpstr>
      <vt:lpstr>Proxima Nova</vt:lpstr>
      <vt:lpstr>Arial</vt:lpstr>
      <vt:lpstr>Relevantz - Internal Slide Template</vt:lpstr>
      <vt:lpstr>Relevantz - Internal Slide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 V</dc:creator>
  <cp:lastModifiedBy>Benhar Charles V</cp:lastModifiedBy>
  <cp:revision>40</cp:revision>
  <dcterms:modified xsi:type="dcterms:W3CDTF">2026-03-16T14:24:50Z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391700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2025-06-04T11:23:41Z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fe66d7b1-c17e-4ba8-a08d-2e146117dc7e</vt:lpwstr>
  </property>
  <property fmtid="{D5CDD505-2E9C-101B-9397-08002B2CF9AE}" pid="15" name="MSIP_Label_defa4170-0d19-0005-0004-bc88714345d2_ActionId">
    <vt:lpwstr>db0fe4a2-2236-45c4-9210-9d9cc71c4f5d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10, 3, 0, 2</vt:lpwstr>
  </property>
</Properties>
</file>