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72" r:id="rId3"/>
    <p:sldId id="273" r:id="rId4"/>
    <p:sldId id="274" r:id="rId5"/>
    <p:sldId id="275" r:id="rId6"/>
    <p:sldId id="276" r:id="rId7"/>
    <p:sldId id="277" r:id="rId8"/>
    <p:sldId id="278" r:id="rId9"/>
    <p:sldId id="279" r:id="rId10"/>
    <p:sldId id="280"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293" r:id="rId24"/>
    <p:sldId id="294" r:id="rId25"/>
    <p:sldId id="295" r:id="rId26"/>
    <p:sldId id="29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9" d="100"/>
          <a:sy n="89" d="100"/>
        </p:scale>
        <p:origin x="43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D8AD6A-C85D-4A43-98F3-A44A126510EA}"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F69FFB-6521-4D78-A7F9-B9F4DDF9815E}" type="slidenum">
              <a:rPr lang="en-US" smtClean="0"/>
              <a:t>‹#›</a:t>
            </a:fld>
            <a:endParaRPr lang="en-US"/>
          </a:p>
        </p:txBody>
      </p:sp>
    </p:spTree>
    <p:extLst>
      <p:ext uri="{BB962C8B-B14F-4D97-AF65-F5344CB8AC3E}">
        <p14:creationId xmlns:p14="http://schemas.microsoft.com/office/powerpoint/2010/main" val="185148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803813F-56AE-41F8-8DCF-C23743840713}" type="slidenum">
              <a:rPr lang="en-IN" smtClean="0"/>
              <a:t>19</a:t>
            </a:fld>
            <a:endParaRPr lang="en-IN"/>
          </a:p>
        </p:txBody>
      </p:sp>
    </p:spTree>
    <p:extLst>
      <p:ext uri="{BB962C8B-B14F-4D97-AF65-F5344CB8AC3E}">
        <p14:creationId xmlns:p14="http://schemas.microsoft.com/office/powerpoint/2010/main" val="914553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A5A6B4F-A2F2-45DF-AAA5-F8A4DD4299A0}"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826D-FBC3-4F1F-94F9-5AF629F4585C}" type="slidenum">
              <a:rPr lang="en-US" smtClean="0"/>
              <a:t>‹#›</a:t>
            </a:fld>
            <a:endParaRPr lang="en-US"/>
          </a:p>
        </p:txBody>
      </p:sp>
    </p:spTree>
    <p:extLst>
      <p:ext uri="{BB962C8B-B14F-4D97-AF65-F5344CB8AC3E}">
        <p14:creationId xmlns:p14="http://schemas.microsoft.com/office/powerpoint/2010/main" val="1667994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5A6B4F-A2F2-45DF-AAA5-F8A4DD4299A0}"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826D-FBC3-4F1F-94F9-5AF629F4585C}" type="slidenum">
              <a:rPr lang="en-US" smtClean="0"/>
              <a:t>‹#›</a:t>
            </a:fld>
            <a:endParaRPr lang="en-US"/>
          </a:p>
        </p:txBody>
      </p:sp>
    </p:spTree>
    <p:extLst>
      <p:ext uri="{BB962C8B-B14F-4D97-AF65-F5344CB8AC3E}">
        <p14:creationId xmlns:p14="http://schemas.microsoft.com/office/powerpoint/2010/main" val="942145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A5A6B4F-A2F2-45DF-AAA5-F8A4DD4299A0}"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826D-FBC3-4F1F-94F9-5AF629F4585C}" type="slidenum">
              <a:rPr lang="en-US" smtClean="0"/>
              <a:t>‹#›</a:t>
            </a:fld>
            <a:endParaRPr lang="en-US"/>
          </a:p>
        </p:txBody>
      </p:sp>
    </p:spTree>
    <p:extLst>
      <p:ext uri="{BB962C8B-B14F-4D97-AF65-F5344CB8AC3E}">
        <p14:creationId xmlns:p14="http://schemas.microsoft.com/office/powerpoint/2010/main" val="1037927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A5A6B4F-A2F2-45DF-AAA5-F8A4DD4299A0}"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826D-FBC3-4F1F-94F9-5AF629F4585C}" type="slidenum">
              <a:rPr lang="en-US" smtClean="0"/>
              <a:t>‹#›</a:t>
            </a:fld>
            <a:endParaRPr lang="en-US"/>
          </a:p>
        </p:txBody>
      </p:sp>
    </p:spTree>
    <p:extLst>
      <p:ext uri="{BB962C8B-B14F-4D97-AF65-F5344CB8AC3E}">
        <p14:creationId xmlns:p14="http://schemas.microsoft.com/office/powerpoint/2010/main" val="2475089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A5A6B4F-A2F2-45DF-AAA5-F8A4DD4299A0}" type="datetimeFigureOut">
              <a:rPr lang="en-US" smtClean="0"/>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826D-FBC3-4F1F-94F9-5AF629F4585C}" type="slidenum">
              <a:rPr lang="en-US" smtClean="0"/>
              <a:t>‹#›</a:t>
            </a:fld>
            <a:endParaRPr lang="en-US"/>
          </a:p>
        </p:txBody>
      </p:sp>
    </p:spTree>
    <p:extLst>
      <p:ext uri="{BB962C8B-B14F-4D97-AF65-F5344CB8AC3E}">
        <p14:creationId xmlns:p14="http://schemas.microsoft.com/office/powerpoint/2010/main" val="2589038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A5A6B4F-A2F2-45DF-AAA5-F8A4DD4299A0}" type="datetimeFigureOut">
              <a:rPr lang="en-US" smtClean="0"/>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826D-FBC3-4F1F-94F9-5AF629F4585C}" type="slidenum">
              <a:rPr lang="en-US" smtClean="0"/>
              <a:t>‹#›</a:t>
            </a:fld>
            <a:endParaRPr lang="en-US"/>
          </a:p>
        </p:txBody>
      </p:sp>
    </p:spTree>
    <p:extLst>
      <p:ext uri="{BB962C8B-B14F-4D97-AF65-F5344CB8AC3E}">
        <p14:creationId xmlns:p14="http://schemas.microsoft.com/office/powerpoint/2010/main" val="3542446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5A6B4F-A2F2-45DF-AAA5-F8A4DD4299A0}" type="datetimeFigureOut">
              <a:rPr lang="en-US" smtClean="0"/>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826D-FBC3-4F1F-94F9-5AF629F4585C}" type="slidenum">
              <a:rPr lang="en-US" smtClean="0"/>
              <a:t>‹#›</a:t>
            </a:fld>
            <a:endParaRPr lang="en-US"/>
          </a:p>
        </p:txBody>
      </p:sp>
    </p:spTree>
    <p:extLst>
      <p:ext uri="{BB962C8B-B14F-4D97-AF65-F5344CB8AC3E}">
        <p14:creationId xmlns:p14="http://schemas.microsoft.com/office/powerpoint/2010/main" val="2399535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A5A6B4F-A2F2-45DF-AAA5-F8A4DD4299A0}"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826D-FBC3-4F1F-94F9-5AF629F4585C}" type="slidenum">
              <a:rPr lang="en-US" smtClean="0"/>
              <a:t>‹#›</a:t>
            </a:fld>
            <a:endParaRPr lang="en-US"/>
          </a:p>
        </p:txBody>
      </p:sp>
    </p:spTree>
    <p:extLst>
      <p:ext uri="{BB962C8B-B14F-4D97-AF65-F5344CB8AC3E}">
        <p14:creationId xmlns:p14="http://schemas.microsoft.com/office/powerpoint/2010/main" val="2930182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A5A6B4F-A2F2-45DF-AAA5-F8A4DD4299A0}"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826D-FBC3-4F1F-94F9-5AF629F4585C}" type="slidenum">
              <a:rPr lang="en-US" smtClean="0"/>
              <a:t>‹#›</a:t>
            </a:fld>
            <a:endParaRPr lang="en-US"/>
          </a:p>
        </p:txBody>
      </p:sp>
    </p:spTree>
    <p:extLst>
      <p:ext uri="{BB962C8B-B14F-4D97-AF65-F5344CB8AC3E}">
        <p14:creationId xmlns:p14="http://schemas.microsoft.com/office/powerpoint/2010/main" val="422336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5A6B4F-A2F2-45DF-AAA5-F8A4DD4299A0}"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826D-FBC3-4F1F-94F9-5AF629F4585C}" type="slidenum">
              <a:rPr lang="en-US" smtClean="0"/>
              <a:t>‹#›</a:t>
            </a:fld>
            <a:endParaRPr lang="en-US"/>
          </a:p>
        </p:txBody>
      </p:sp>
    </p:spTree>
    <p:extLst>
      <p:ext uri="{BB962C8B-B14F-4D97-AF65-F5344CB8AC3E}">
        <p14:creationId xmlns:p14="http://schemas.microsoft.com/office/powerpoint/2010/main" val="3585930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5A6B4F-A2F2-45DF-AAA5-F8A4DD4299A0}"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826D-FBC3-4F1F-94F9-5AF629F4585C}" type="slidenum">
              <a:rPr lang="en-US" smtClean="0"/>
              <a:t>‹#›</a:t>
            </a:fld>
            <a:endParaRPr lang="en-US"/>
          </a:p>
        </p:txBody>
      </p:sp>
    </p:spTree>
    <p:extLst>
      <p:ext uri="{BB962C8B-B14F-4D97-AF65-F5344CB8AC3E}">
        <p14:creationId xmlns:p14="http://schemas.microsoft.com/office/powerpoint/2010/main" val="3372595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5A6B4F-A2F2-45DF-AAA5-F8A4DD4299A0}" type="datetimeFigureOut">
              <a:rPr lang="en-US" smtClean="0"/>
              <a:t>2/18/2026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5C826D-FBC3-4F1F-94F9-5AF629F4585C}" type="slidenum">
              <a:rPr lang="en-US" smtClean="0"/>
              <a:t>‹#›</a:t>
            </a:fld>
            <a:endParaRPr lang="en-US"/>
          </a:p>
        </p:txBody>
      </p:sp>
    </p:spTree>
    <p:extLst>
      <p:ext uri="{BB962C8B-B14F-4D97-AF65-F5344CB8AC3E}">
        <p14:creationId xmlns:p14="http://schemas.microsoft.com/office/powerpoint/2010/main" val="3355357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solidFill>
                  <a:srgbClr val="C00000"/>
                </a:solidFill>
              </a:rPr>
              <a:t>Day-4</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483948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An interface looks like a class, but has no implementation</a:t>
            </a:r>
            <a:r>
              <a:rPr lang="en-US" dirty="0" smtClean="0"/>
              <a:t>.</a:t>
            </a:r>
          </a:p>
          <a:p>
            <a:r>
              <a:rPr lang="en-US" dirty="0" smtClean="0"/>
              <a:t>The </a:t>
            </a:r>
            <a:r>
              <a:rPr lang="en-US" dirty="0"/>
              <a:t>only thing it contains are declarations of events, indexers, methods and/or properties. </a:t>
            </a:r>
            <a:endParaRPr lang="en-US" dirty="0" smtClean="0"/>
          </a:p>
          <a:p>
            <a:r>
              <a:rPr lang="en-US" dirty="0" smtClean="0"/>
              <a:t>The </a:t>
            </a:r>
            <a:r>
              <a:rPr lang="en-US" dirty="0"/>
              <a:t>reason interfaces only provide declarations is because they are inherited by </a:t>
            </a:r>
            <a:r>
              <a:rPr lang="en-US" dirty="0" err="1"/>
              <a:t>structs</a:t>
            </a:r>
            <a:r>
              <a:rPr lang="en-US" dirty="0"/>
              <a:t> and classes, that must provide an implementation for each interface member declared.</a:t>
            </a:r>
            <a:endParaRPr lang="en-IN" dirty="0"/>
          </a:p>
        </p:txBody>
      </p:sp>
      <p:sp>
        <p:nvSpPr>
          <p:cNvPr id="3" name="Title 2"/>
          <p:cNvSpPr>
            <a:spLocks noGrp="1"/>
          </p:cNvSpPr>
          <p:nvPr>
            <p:ph type="title"/>
          </p:nvPr>
        </p:nvSpPr>
        <p:spPr/>
        <p:txBody>
          <a:bodyPr/>
          <a:lstStyle/>
          <a:p>
            <a:r>
              <a:rPr lang="en-IN" dirty="0"/>
              <a:t>Interfaces</a:t>
            </a:r>
          </a:p>
        </p:txBody>
      </p:sp>
    </p:spTree>
    <p:extLst>
      <p:ext uri="{BB962C8B-B14F-4D97-AF65-F5344CB8AC3E}">
        <p14:creationId xmlns:p14="http://schemas.microsoft.com/office/powerpoint/2010/main" val="9738754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Interface can not be instantiated.</a:t>
            </a:r>
          </a:p>
          <a:p>
            <a:pPr fontAlgn="base"/>
            <a:r>
              <a:rPr lang="en-IN" dirty="0" smtClean="0"/>
              <a:t>An </a:t>
            </a:r>
            <a:r>
              <a:rPr lang="en-IN" dirty="0"/>
              <a:t>interface can’t </a:t>
            </a:r>
            <a:r>
              <a:rPr lang="en-IN" dirty="0" smtClean="0"/>
              <a:t>contain: </a:t>
            </a:r>
          </a:p>
          <a:p>
            <a:pPr lvl="1" fontAlgn="base"/>
            <a:r>
              <a:rPr lang="en-IN" dirty="0" smtClean="0"/>
              <a:t>Constants</a:t>
            </a:r>
            <a:endParaRPr lang="en-IN" dirty="0"/>
          </a:p>
          <a:p>
            <a:pPr lvl="1" fontAlgn="base"/>
            <a:r>
              <a:rPr lang="en-IN" dirty="0"/>
              <a:t>Fields</a:t>
            </a:r>
          </a:p>
          <a:p>
            <a:pPr lvl="1" fontAlgn="base"/>
            <a:r>
              <a:rPr lang="en-IN" dirty="0"/>
              <a:t>Operators</a:t>
            </a:r>
          </a:p>
          <a:p>
            <a:pPr lvl="1" fontAlgn="base"/>
            <a:r>
              <a:rPr lang="en-IN" dirty="0"/>
              <a:t>Constructors</a:t>
            </a:r>
          </a:p>
          <a:p>
            <a:pPr lvl="1" fontAlgn="base"/>
            <a:r>
              <a:rPr lang="en-IN" dirty="0"/>
              <a:t>Destructors</a:t>
            </a:r>
          </a:p>
          <a:p>
            <a:r>
              <a:rPr lang="en-US" dirty="0"/>
              <a:t>An access modifier cannot be specified for an interface </a:t>
            </a:r>
            <a:r>
              <a:rPr lang="en-US" dirty="0" smtClean="0"/>
              <a:t>member.</a:t>
            </a:r>
            <a:endParaRPr lang="en-IN" dirty="0"/>
          </a:p>
        </p:txBody>
      </p:sp>
      <p:sp>
        <p:nvSpPr>
          <p:cNvPr id="3" name="Title 2"/>
          <p:cNvSpPr>
            <a:spLocks noGrp="1"/>
          </p:cNvSpPr>
          <p:nvPr>
            <p:ph type="title"/>
          </p:nvPr>
        </p:nvSpPr>
        <p:spPr/>
        <p:txBody>
          <a:bodyPr/>
          <a:lstStyle/>
          <a:p>
            <a:r>
              <a:rPr lang="en-IN" dirty="0"/>
              <a:t>Interfaces</a:t>
            </a:r>
          </a:p>
        </p:txBody>
      </p:sp>
    </p:spTree>
    <p:extLst>
      <p:ext uri="{BB962C8B-B14F-4D97-AF65-F5344CB8AC3E}">
        <p14:creationId xmlns:p14="http://schemas.microsoft.com/office/powerpoint/2010/main" val="1730223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All Interface members are </a:t>
            </a:r>
            <a:r>
              <a:rPr lang="en-US" dirty="0" smtClean="0"/>
              <a:t>public.</a:t>
            </a:r>
            <a:endParaRPr lang="en-US" dirty="0"/>
          </a:p>
          <a:p>
            <a:pPr fontAlgn="base"/>
            <a:r>
              <a:rPr lang="en-US" dirty="0"/>
              <a:t>Interface can Inherit another </a:t>
            </a:r>
            <a:r>
              <a:rPr lang="en-US" dirty="0" smtClean="0"/>
              <a:t>Interface.</a:t>
            </a:r>
            <a:endParaRPr lang="en-US" dirty="0"/>
          </a:p>
          <a:p>
            <a:r>
              <a:rPr lang="en-US" dirty="0"/>
              <a:t>All methods in an interface are public and abstract by </a:t>
            </a:r>
            <a:r>
              <a:rPr lang="en-US" dirty="0" smtClean="0"/>
              <a:t>default.</a:t>
            </a:r>
            <a:endParaRPr lang="en-IN" dirty="0"/>
          </a:p>
        </p:txBody>
      </p:sp>
      <p:sp>
        <p:nvSpPr>
          <p:cNvPr id="3" name="Title 2"/>
          <p:cNvSpPr>
            <a:spLocks noGrp="1"/>
          </p:cNvSpPr>
          <p:nvPr>
            <p:ph type="title"/>
          </p:nvPr>
        </p:nvSpPr>
        <p:spPr/>
        <p:txBody>
          <a:bodyPr/>
          <a:lstStyle/>
          <a:p>
            <a:r>
              <a:rPr lang="en-IN" dirty="0"/>
              <a:t>Interfaces</a:t>
            </a:r>
          </a:p>
        </p:txBody>
      </p:sp>
    </p:spTree>
    <p:extLst>
      <p:ext uri="{BB962C8B-B14F-4D97-AF65-F5344CB8AC3E}">
        <p14:creationId xmlns:p14="http://schemas.microsoft.com/office/powerpoint/2010/main" val="16555707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delegate is a reference type used to encapsulate </a:t>
            </a:r>
            <a:endParaRPr lang="en-US" dirty="0" smtClean="0"/>
          </a:p>
          <a:p>
            <a:r>
              <a:rPr lang="en-US" dirty="0"/>
              <a:t>Delegate is a type which  holds the method(s) reference in an object. </a:t>
            </a:r>
          </a:p>
          <a:p>
            <a:r>
              <a:rPr lang="en-US" dirty="0" smtClean="0"/>
              <a:t>a </a:t>
            </a:r>
            <a:r>
              <a:rPr lang="en-US" dirty="0"/>
              <a:t>method with a specific signature and return type.</a:t>
            </a:r>
          </a:p>
          <a:p>
            <a:r>
              <a:rPr lang="en-US" dirty="0" smtClean="0"/>
              <a:t>A </a:t>
            </a:r>
            <a:r>
              <a:rPr lang="en-US" dirty="0"/>
              <a:t>delegate is created with the delegate keyword</a:t>
            </a:r>
          </a:p>
          <a:p>
            <a:r>
              <a:rPr lang="en-US" dirty="0" smtClean="0"/>
              <a:t>public </a:t>
            </a:r>
            <a:r>
              <a:rPr lang="en-US" dirty="0"/>
              <a:t>delegate </a:t>
            </a:r>
            <a:r>
              <a:rPr lang="en-US" dirty="0" err="1"/>
              <a:t>int</a:t>
            </a:r>
            <a:r>
              <a:rPr lang="en-US" dirty="0"/>
              <a:t> </a:t>
            </a:r>
            <a:r>
              <a:rPr lang="en-US" dirty="0" err="1"/>
              <a:t>WhichIsFirst</a:t>
            </a:r>
            <a:r>
              <a:rPr lang="en-US" dirty="0"/>
              <a:t>(object obj1, object obj2</a:t>
            </a:r>
            <a:r>
              <a:rPr lang="en-US" dirty="0" smtClean="0"/>
              <a:t>);</a:t>
            </a:r>
          </a:p>
          <a:p>
            <a:r>
              <a:rPr lang="en-US" dirty="0"/>
              <a:t>It is also referred to as a type safe function pointer.</a:t>
            </a:r>
          </a:p>
          <a:p>
            <a:endParaRPr lang="en-US" dirty="0"/>
          </a:p>
        </p:txBody>
      </p:sp>
      <p:sp>
        <p:nvSpPr>
          <p:cNvPr id="3" name="Title 2"/>
          <p:cNvSpPr>
            <a:spLocks noGrp="1"/>
          </p:cNvSpPr>
          <p:nvPr>
            <p:ph type="title"/>
          </p:nvPr>
        </p:nvSpPr>
        <p:spPr/>
        <p:txBody>
          <a:bodyPr/>
          <a:lstStyle/>
          <a:p>
            <a:r>
              <a:rPr lang="en-US" dirty="0"/>
              <a:t>Delegates</a:t>
            </a:r>
          </a:p>
        </p:txBody>
      </p:sp>
    </p:spTree>
    <p:extLst>
      <p:ext uri="{BB962C8B-B14F-4D97-AF65-F5344CB8AC3E}">
        <p14:creationId xmlns:p14="http://schemas.microsoft.com/office/powerpoint/2010/main" val="617651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With multicasting you create a single delegate that will call multiple encapsulated methods. </a:t>
            </a:r>
            <a:endParaRPr lang="en-US" dirty="0" smtClean="0"/>
          </a:p>
          <a:p>
            <a:r>
              <a:rPr lang="en-US" dirty="0" err="1" smtClean="0"/>
              <a:t>Forexample</a:t>
            </a:r>
            <a:r>
              <a:rPr lang="en-US" dirty="0"/>
              <a:t>, when a button is pressed you might want to take more than one action. </a:t>
            </a:r>
            <a:endParaRPr lang="en-US" dirty="0" smtClean="0"/>
          </a:p>
          <a:p>
            <a:r>
              <a:rPr lang="en-US" dirty="0" smtClean="0"/>
              <a:t>You </a:t>
            </a:r>
            <a:r>
              <a:rPr lang="en-US" dirty="0"/>
              <a:t>could </a:t>
            </a:r>
            <a:r>
              <a:rPr lang="en-US" dirty="0" smtClean="0"/>
              <a:t>implement this </a:t>
            </a:r>
            <a:r>
              <a:rPr lang="en-US" dirty="0"/>
              <a:t>by giving the button a collection of delegates, but it is cleaner and easier to create a </a:t>
            </a:r>
            <a:r>
              <a:rPr lang="en-US" dirty="0" smtClean="0"/>
              <a:t>single multicast </a:t>
            </a:r>
            <a:r>
              <a:rPr lang="en-US" dirty="0"/>
              <a:t>delegate.</a:t>
            </a:r>
          </a:p>
          <a:p>
            <a:endParaRPr lang="en-US" dirty="0"/>
          </a:p>
        </p:txBody>
      </p:sp>
      <p:sp>
        <p:nvSpPr>
          <p:cNvPr id="3" name="Title 2"/>
          <p:cNvSpPr>
            <a:spLocks noGrp="1"/>
          </p:cNvSpPr>
          <p:nvPr>
            <p:ph type="title"/>
          </p:nvPr>
        </p:nvSpPr>
        <p:spPr/>
        <p:txBody>
          <a:bodyPr/>
          <a:lstStyle/>
          <a:p>
            <a:r>
              <a:rPr lang="en-US" dirty="0"/>
              <a:t>Multicasting</a:t>
            </a:r>
          </a:p>
        </p:txBody>
      </p:sp>
    </p:spTree>
    <p:extLst>
      <p:ext uri="{BB962C8B-B14F-4D97-AF65-F5344CB8AC3E}">
        <p14:creationId xmlns:p14="http://schemas.microsoft.com/office/powerpoint/2010/main" val="9744961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Two multicast delegates can be combined with the addition operator (+).</a:t>
            </a:r>
          </a:p>
          <a:p>
            <a:r>
              <a:rPr lang="en-US" dirty="0"/>
              <a:t>You can add delegates to a multicast delegate using the plus-equals (+=) operator.</a:t>
            </a:r>
          </a:p>
          <a:p>
            <a:r>
              <a:rPr lang="en-US" dirty="0"/>
              <a:t>Finally, you selectively remove delegates using the -= operator:</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1015302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Encapsulating the method's call from caller</a:t>
            </a:r>
          </a:p>
          <a:p>
            <a:r>
              <a:rPr lang="en-US" dirty="0" smtClean="0"/>
              <a:t>Effective </a:t>
            </a:r>
            <a:r>
              <a:rPr lang="en-US" dirty="0"/>
              <a:t>use of delegate improves the performance of application</a:t>
            </a:r>
          </a:p>
          <a:p>
            <a:r>
              <a:rPr lang="en-US" dirty="0" smtClean="0"/>
              <a:t>Used </a:t>
            </a:r>
            <a:r>
              <a:rPr lang="en-US" dirty="0"/>
              <a:t>to call a method asynchronously</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704504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Lambda expressions are like anonymous methods but with much more flexibility.</a:t>
            </a:r>
          </a:p>
          <a:p>
            <a:r>
              <a:rPr lang="en-US" dirty="0" smtClean="0"/>
              <a:t>Lambda </a:t>
            </a:r>
            <a:r>
              <a:rPr lang="en-US" dirty="0"/>
              <a:t>expressions were first introduced in .NET 3.5, at the same time that Language Integrated Query (LINQ) was made available</a:t>
            </a:r>
            <a:r>
              <a:rPr lang="en-US" dirty="0" smtClean="0"/>
              <a:t>.</a:t>
            </a:r>
            <a:endParaRPr lang="en-US" dirty="0"/>
          </a:p>
        </p:txBody>
      </p:sp>
    </p:spTree>
    <p:extLst>
      <p:ext uri="{BB962C8B-B14F-4D97-AF65-F5344CB8AC3E}">
        <p14:creationId xmlns:p14="http://schemas.microsoft.com/office/powerpoint/2010/main" val="19587674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C# language's exception handling features help you deal with any unexpected or exceptional situations that occur when a program is running.</a:t>
            </a:r>
          </a:p>
          <a:p>
            <a:r>
              <a:rPr lang="en-US" dirty="0"/>
              <a:t>A try block is used by C# programmers to partition code that might be affected by an exception.</a:t>
            </a:r>
          </a:p>
          <a:p>
            <a:endParaRPr lang="en-IN" dirty="0"/>
          </a:p>
        </p:txBody>
      </p:sp>
      <p:sp>
        <p:nvSpPr>
          <p:cNvPr id="3" name="Title 2"/>
          <p:cNvSpPr>
            <a:spLocks noGrp="1"/>
          </p:cNvSpPr>
          <p:nvPr>
            <p:ph type="title"/>
          </p:nvPr>
        </p:nvSpPr>
        <p:spPr/>
        <p:txBody>
          <a:bodyPr/>
          <a:lstStyle/>
          <a:p>
            <a:r>
              <a:rPr lang="en-IN" dirty="0"/>
              <a:t>Exception Handling in C#</a:t>
            </a:r>
          </a:p>
        </p:txBody>
      </p:sp>
    </p:spTree>
    <p:extLst>
      <p:ext uri="{BB962C8B-B14F-4D97-AF65-F5344CB8AC3E}">
        <p14:creationId xmlns:p14="http://schemas.microsoft.com/office/powerpoint/2010/main" val="30943686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 Associated catch blocks are used to handle any resulting exceptions.</a:t>
            </a:r>
          </a:p>
          <a:p>
            <a:r>
              <a:rPr lang="en-US" dirty="0"/>
              <a:t>A finally block contains code that is run regardless of whether or not an exception is thrown in the try block, such as releasing resources that are allocated in the try block. </a:t>
            </a:r>
          </a:p>
          <a:p>
            <a:endParaRPr lang="en-IN" dirty="0"/>
          </a:p>
        </p:txBody>
      </p:sp>
      <p:sp>
        <p:nvSpPr>
          <p:cNvPr id="3" name="Title 2"/>
          <p:cNvSpPr>
            <a:spLocks noGrp="1"/>
          </p:cNvSpPr>
          <p:nvPr>
            <p:ph type="title"/>
          </p:nvPr>
        </p:nvSpPr>
        <p:spPr/>
        <p:txBody>
          <a:bodyPr/>
          <a:lstStyle/>
          <a:p>
            <a:r>
              <a:rPr lang="en-IN" dirty="0"/>
              <a:t>Exception Handling in C#</a:t>
            </a:r>
          </a:p>
        </p:txBody>
      </p:sp>
    </p:spTree>
    <p:extLst>
      <p:ext uri="{BB962C8B-B14F-4D97-AF65-F5344CB8AC3E}">
        <p14:creationId xmlns:p14="http://schemas.microsoft.com/office/powerpoint/2010/main" val="38106254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a:p>
        </p:txBody>
      </p:sp>
      <p:sp>
        <p:nvSpPr>
          <p:cNvPr id="3" name="Title 2"/>
          <p:cNvSpPr>
            <a:spLocks noGrp="1"/>
          </p:cNvSpPr>
          <p:nvPr>
            <p:ph type="title"/>
          </p:nvPr>
        </p:nvSpPr>
        <p:spPr/>
        <p:txBody>
          <a:bodyPr/>
          <a:lstStyle/>
          <a:p>
            <a:r>
              <a:rPr lang="en-IN" dirty="0"/>
              <a:t>The </a:t>
            </a:r>
            <a:r>
              <a:rPr lang="en-IN" dirty="0" err="1"/>
              <a:t>System.Exception</a:t>
            </a:r>
            <a:r>
              <a:rPr lang="en-IN" dirty="0"/>
              <a:t> class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9716" y="1835234"/>
            <a:ext cx="7057621" cy="436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60880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These keywords work together; you can’t have a </a:t>
            </a:r>
            <a:r>
              <a:rPr lang="en-US" b="1" dirty="0"/>
              <a:t>catch</a:t>
            </a:r>
            <a:r>
              <a:rPr lang="en-US" dirty="0"/>
              <a:t> without a </a:t>
            </a:r>
            <a:r>
              <a:rPr lang="en-US" b="1" dirty="0"/>
              <a:t>try</a:t>
            </a:r>
            <a:r>
              <a:rPr lang="en-US" dirty="0"/>
              <a:t>. </a:t>
            </a:r>
          </a:p>
          <a:p>
            <a:r>
              <a:rPr lang="en-US" dirty="0"/>
              <a:t>The general form of the </a:t>
            </a:r>
            <a:r>
              <a:rPr lang="en-US" b="1" dirty="0"/>
              <a:t>try</a:t>
            </a:r>
            <a:r>
              <a:rPr lang="en-US" dirty="0"/>
              <a:t>/</a:t>
            </a:r>
            <a:r>
              <a:rPr lang="en-US" b="1" dirty="0"/>
              <a:t>catch</a:t>
            </a:r>
            <a:r>
              <a:rPr lang="en-US" dirty="0"/>
              <a:t> exception </a:t>
            </a:r>
          </a:p>
          <a:p>
            <a:endParaRPr lang="en-IN" dirty="0"/>
          </a:p>
        </p:txBody>
      </p:sp>
      <p:sp>
        <p:nvSpPr>
          <p:cNvPr id="3" name="Title 2"/>
          <p:cNvSpPr>
            <a:spLocks noGrp="1"/>
          </p:cNvSpPr>
          <p:nvPr>
            <p:ph type="title"/>
          </p:nvPr>
        </p:nvSpPr>
        <p:spPr/>
        <p:txBody>
          <a:bodyPr/>
          <a:lstStyle/>
          <a:p>
            <a:r>
              <a:rPr lang="en-US" dirty="0"/>
              <a:t>Using try and catch</a:t>
            </a:r>
            <a:endParaRPr lang="en-IN" dirty="0"/>
          </a:p>
        </p:txBody>
      </p:sp>
      <p:sp>
        <p:nvSpPr>
          <p:cNvPr id="4" name="Rectangle 3"/>
          <p:cNvSpPr/>
          <p:nvPr/>
        </p:nvSpPr>
        <p:spPr>
          <a:xfrm>
            <a:off x="3332407" y="3572438"/>
            <a:ext cx="5715001" cy="257492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buFont typeface="Wingdings" pitchFamily="2" charset="2"/>
              <a:buNone/>
            </a:pPr>
            <a:r>
              <a:rPr lang="en-US" sz="1793" b="1" dirty="0">
                <a:solidFill>
                  <a:schemeClr val="tx1"/>
                </a:solidFill>
                <a:latin typeface="Courier New" pitchFamily="49" charset="0"/>
                <a:cs typeface="Courier New" pitchFamily="49" charset="0"/>
              </a:rPr>
              <a:t>try</a:t>
            </a:r>
          </a:p>
          <a:p>
            <a:pPr>
              <a:buFont typeface="Wingdings" pitchFamily="2" charset="2"/>
              <a:buNone/>
            </a:pPr>
            <a:r>
              <a:rPr lang="en-US" sz="1793" b="1" dirty="0">
                <a:solidFill>
                  <a:schemeClr val="tx1"/>
                </a:solidFill>
                <a:latin typeface="Courier New" pitchFamily="49" charset="0"/>
                <a:cs typeface="Courier New" pitchFamily="49" charset="0"/>
              </a:rPr>
              <a:t>{</a:t>
            </a:r>
          </a:p>
          <a:p>
            <a:pPr>
              <a:buFont typeface="Wingdings" pitchFamily="2" charset="2"/>
              <a:buNone/>
            </a:pPr>
            <a:r>
              <a:rPr lang="en-US" sz="1793" b="1" dirty="0">
                <a:solidFill>
                  <a:schemeClr val="tx1"/>
                </a:solidFill>
                <a:latin typeface="Courier New" pitchFamily="49" charset="0"/>
                <a:cs typeface="Courier New" pitchFamily="49" charset="0"/>
              </a:rPr>
              <a:t>   // block of code to monitor for errors</a:t>
            </a:r>
          </a:p>
          <a:p>
            <a:pPr>
              <a:buFont typeface="Wingdings" pitchFamily="2" charset="2"/>
              <a:buNone/>
            </a:pPr>
            <a:r>
              <a:rPr lang="en-US" sz="1793" b="1" dirty="0">
                <a:solidFill>
                  <a:schemeClr val="tx1"/>
                </a:solidFill>
                <a:latin typeface="Courier New" pitchFamily="49" charset="0"/>
                <a:cs typeface="Courier New" pitchFamily="49" charset="0"/>
              </a:rPr>
              <a:t>}</a:t>
            </a:r>
          </a:p>
          <a:p>
            <a:pPr>
              <a:buFont typeface="Wingdings" pitchFamily="2" charset="2"/>
              <a:buNone/>
            </a:pPr>
            <a:r>
              <a:rPr lang="en-US" sz="1793" b="1" dirty="0">
                <a:solidFill>
                  <a:schemeClr val="tx1"/>
                </a:solidFill>
                <a:latin typeface="Courier New" pitchFamily="49" charset="0"/>
                <a:cs typeface="Courier New" pitchFamily="49" charset="0"/>
              </a:rPr>
              <a:t>catch (ExcepType1 </a:t>
            </a:r>
            <a:r>
              <a:rPr lang="en-US" sz="1793" b="1" dirty="0" err="1">
                <a:solidFill>
                  <a:schemeClr val="tx1"/>
                </a:solidFill>
                <a:latin typeface="Courier New" pitchFamily="49" charset="0"/>
                <a:cs typeface="Courier New" pitchFamily="49" charset="0"/>
              </a:rPr>
              <a:t>exOb</a:t>
            </a:r>
            <a:r>
              <a:rPr lang="en-US" sz="1793" b="1" dirty="0">
                <a:solidFill>
                  <a:schemeClr val="tx1"/>
                </a:solidFill>
                <a:latin typeface="Courier New" pitchFamily="49" charset="0"/>
                <a:cs typeface="Courier New" pitchFamily="49" charset="0"/>
              </a:rPr>
              <a:t>) </a:t>
            </a:r>
          </a:p>
          <a:p>
            <a:pPr>
              <a:buFont typeface="Wingdings" pitchFamily="2" charset="2"/>
              <a:buNone/>
            </a:pPr>
            <a:r>
              <a:rPr lang="en-US" sz="1793" b="1" dirty="0">
                <a:solidFill>
                  <a:schemeClr val="tx1"/>
                </a:solidFill>
                <a:latin typeface="Courier New" pitchFamily="49" charset="0"/>
                <a:cs typeface="Courier New" pitchFamily="49" charset="0"/>
              </a:rPr>
              <a:t>{</a:t>
            </a:r>
          </a:p>
          <a:p>
            <a:pPr>
              <a:buFont typeface="Wingdings" pitchFamily="2" charset="2"/>
              <a:buNone/>
            </a:pPr>
            <a:r>
              <a:rPr lang="en-US" sz="1793" b="1" dirty="0">
                <a:solidFill>
                  <a:schemeClr val="tx1"/>
                </a:solidFill>
                <a:latin typeface="Courier New" pitchFamily="49" charset="0"/>
                <a:cs typeface="Courier New" pitchFamily="49" charset="0"/>
              </a:rPr>
              <a:t>   // handler for ExcepType1</a:t>
            </a:r>
          </a:p>
          <a:p>
            <a:pPr>
              <a:buFont typeface="Wingdings" pitchFamily="2" charset="2"/>
              <a:buNone/>
            </a:pPr>
            <a:r>
              <a:rPr lang="en-US" sz="1793" b="1" dirty="0">
                <a:solidFill>
                  <a:schemeClr val="tx1"/>
                </a:solidFill>
                <a:latin typeface="Courier New" pitchFamily="49" charset="0"/>
                <a:cs typeface="Courier New" pitchFamily="49" charset="0"/>
              </a:rPr>
              <a:t>}</a:t>
            </a:r>
          </a:p>
        </p:txBody>
      </p:sp>
    </p:spTree>
    <p:extLst>
      <p:ext uri="{BB962C8B-B14F-4D97-AF65-F5344CB8AC3E}">
        <p14:creationId xmlns:p14="http://schemas.microsoft.com/office/powerpoint/2010/main" val="11763456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endParaRPr lang="en-IN"/>
          </a:p>
        </p:txBody>
      </p:sp>
      <p:pic>
        <p:nvPicPr>
          <p:cNvPr id="4" name="Picture 4"/>
          <p:cNvPicPr>
            <a:picLocks noChangeAspect="1" noChangeArrowheads="1"/>
          </p:cNvPicPr>
          <p:nvPr/>
        </p:nvPicPr>
        <p:blipFill rotWithShape="1">
          <a:blip r:embed="rId2"/>
          <a:srcRect l="2714"/>
          <a:stretch/>
        </p:blipFill>
        <p:spPr bwMode="auto">
          <a:xfrm>
            <a:off x="1275009" y="629486"/>
            <a:ext cx="8358390" cy="5541307"/>
          </a:xfrm>
          <a:prstGeom prst="rect">
            <a:avLst/>
          </a:prstGeom>
          <a:noFill/>
          <a:ln w="9525">
            <a:solidFill>
              <a:schemeClr val="tx1"/>
            </a:solidFill>
            <a:miter lim="800000"/>
            <a:headEnd/>
            <a:tailEnd/>
          </a:ln>
        </p:spPr>
      </p:pic>
      <p:pic>
        <p:nvPicPr>
          <p:cNvPr id="6" name="Picture 5"/>
          <p:cNvPicPr>
            <a:picLocks noChangeAspect="1" noChangeArrowheads="1"/>
          </p:cNvPicPr>
          <p:nvPr/>
        </p:nvPicPr>
        <p:blipFill>
          <a:blip r:embed="rId3"/>
          <a:srcRect/>
          <a:stretch>
            <a:fillRect/>
          </a:stretch>
        </p:blipFill>
        <p:spPr bwMode="auto">
          <a:xfrm>
            <a:off x="1275009" y="629487"/>
            <a:ext cx="8358389" cy="3535099"/>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514882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Using Multiple catch Statements</a:t>
            </a:r>
            <a:endParaRPr lang="en-IN" dirty="0"/>
          </a:p>
        </p:txBody>
      </p:sp>
      <p:pic>
        <p:nvPicPr>
          <p:cNvPr id="4" name="Picture 4"/>
          <p:cNvPicPr>
            <a:picLocks noGrp="1" noChangeAspect="1" noChangeArrowheads="1"/>
          </p:cNvPicPr>
          <p:nvPr>
            <p:ph idx="1"/>
          </p:nvPr>
        </p:nvPicPr>
        <p:blipFill rotWithShape="1">
          <a:blip r:embed="rId2"/>
          <a:srcRect l="2811"/>
          <a:stretch/>
        </p:blipFill>
        <p:spPr bwMode="auto">
          <a:xfrm>
            <a:off x="1815922" y="1732616"/>
            <a:ext cx="7959144" cy="4433299"/>
          </a:xfrm>
          <a:prstGeom prst="rect">
            <a:avLst/>
          </a:prstGeom>
          <a:noFill/>
          <a:ln w="9525">
            <a:solidFill>
              <a:schemeClr val="tx1"/>
            </a:solidFill>
            <a:miter lim="800000"/>
            <a:headEnd/>
            <a:tailEnd/>
          </a:ln>
        </p:spPr>
      </p:pic>
      <p:pic>
        <p:nvPicPr>
          <p:cNvPr id="5" name="Picture 5"/>
          <p:cNvPicPr>
            <a:picLocks noChangeAspect="1" noChangeArrowheads="1"/>
          </p:cNvPicPr>
          <p:nvPr/>
        </p:nvPicPr>
        <p:blipFill>
          <a:blip r:embed="rId3"/>
          <a:srcRect/>
          <a:stretch>
            <a:fillRect/>
          </a:stretch>
        </p:blipFill>
        <p:spPr bwMode="auto">
          <a:xfrm>
            <a:off x="1751528" y="1732618"/>
            <a:ext cx="7984901" cy="2530389"/>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2243938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r>
              <a:rPr lang="en-US" dirty="0"/>
              <a:t>Catching All Exceptions</a:t>
            </a:r>
            <a:endParaRPr lang="en-IN" dirty="0"/>
          </a:p>
        </p:txBody>
      </p:sp>
      <p:pic>
        <p:nvPicPr>
          <p:cNvPr id="4" name="Picture 4"/>
          <p:cNvPicPr>
            <a:picLocks noChangeAspect="1" noChangeArrowheads="1"/>
          </p:cNvPicPr>
          <p:nvPr/>
        </p:nvPicPr>
        <p:blipFill rotWithShape="1">
          <a:blip r:embed="rId2"/>
          <a:srcRect l="2286"/>
          <a:stretch/>
        </p:blipFill>
        <p:spPr bwMode="auto">
          <a:xfrm>
            <a:off x="1880316" y="1694136"/>
            <a:ext cx="7959144" cy="4438175"/>
          </a:xfrm>
          <a:prstGeom prst="rect">
            <a:avLst/>
          </a:prstGeom>
          <a:noFill/>
          <a:ln w="9525">
            <a:solidFill>
              <a:schemeClr val="tx1"/>
            </a:solidFill>
            <a:miter lim="800000"/>
            <a:headEnd/>
            <a:tailEnd/>
          </a:ln>
        </p:spPr>
      </p:pic>
      <p:pic>
        <p:nvPicPr>
          <p:cNvPr id="5" name="Picture 5"/>
          <p:cNvPicPr>
            <a:picLocks noChangeAspect="1" noChangeArrowheads="1"/>
          </p:cNvPicPr>
          <p:nvPr/>
        </p:nvPicPr>
        <p:blipFill>
          <a:blip r:embed="rId3"/>
          <a:srcRect/>
          <a:stretch>
            <a:fillRect/>
          </a:stretch>
        </p:blipFill>
        <p:spPr bwMode="auto">
          <a:xfrm>
            <a:off x="1880316" y="1694136"/>
            <a:ext cx="7714445" cy="2440119"/>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1588625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r>
              <a:rPr lang="en-US" dirty="0"/>
              <a:t>Nesting try Blocks</a:t>
            </a:r>
            <a:endParaRPr lang="en-IN" dirty="0"/>
          </a:p>
        </p:txBody>
      </p:sp>
      <p:pic>
        <p:nvPicPr>
          <p:cNvPr id="4" name="Picture 4"/>
          <p:cNvPicPr>
            <a:picLocks noChangeAspect="1" noChangeArrowheads="1"/>
          </p:cNvPicPr>
          <p:nvPr/>
        </p:nvPicPr>
        <p:blipFill rotWithShape="1">
          <a:blip r:embed="rId2"/>
          <a:srcRect l="2049"/>
          <a:stretch/>
        </p:blipFill>
        <p:spPr bwMode="auto">
          <a:xfrm>
            <a:off x="1661376" y="1514556"/>
            <a:ext cx="8190964" cy="4665856"/>
          </a:xfrm>
          <a:prstGeom prst="rect">
            <a:avLst/>
          </a:prstGeom>
          <a:noFill/>
          <a:ln w="9525">
            <a:solidFill>
              <a:schemeClr val="tx1"/>
            </a:solidFill>
            <a:miter lim="800000"/>
            <a:headEnd/>
            <a:tailEnd/>
          </a:ln>
        </p:spPr>
      </p:pic>
      <p:pic>
        <p:nvPicPr>
          <p:cNvPr id="5" name="Picture 5"/>
          <p:cNvPicPr>
            <a:picLocks noChangeAspect="1" noChangeArrowheads="1"/>
          </p:cNvPicPr>
          <p:nvPr/>
        </p:nvPicPr>
        <p:blipFill>
          <a:blip r:embed="rId3"/>
          <a:srcRect/>
          <a:stretch>
            <a:fillRect/>
          </a:stretch>
        </p:blipFill>
        <p:spPr bwMode="auto">
          <a:xfrm>
            <a:off x="1661376" y="1514556"/>
            <a:ext cx="8190963" cy="2846492"/>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123299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preceding examples have been catching exceptions generated automatically by C#. However, it is possible to manually throw an exception by using the </a:t>
            </a:r>
            <a:r>
              <a:rPr lang="en-US" b="1" dirty="0"/>
              <a:t>throw</a:t>
            </a:r>
            <a:r>
              <a:rPr lang="en-US" dirty="0"/>
              <a:t> statement. </a:t>
            </a:r>
          </a:p>
          <a:p>
            <a:r>
              <a:rPr lang="en-US" dirty="0"/>
              <a:t>Its general form is shown here: </a:t>
            </a:r>
          </a:p>
          <a:p>
            <a:pPr>
              <a:buFont typeface="Wingdings" pitchFamily="2" charset="2"/>
              <a:buNone/>
            </a:pPr>
            <a:r>
              <a:rPr lang="en-US" dirty="0"/>
              <a:t>		</a:t>
            </a:r>
            <a:r>
              <a:rPr lang="en-US" b="1" dirty="0">
                <a:latin typeface="Courier New" pitchFamily="49" charset="0"/>
                <a:cs typeface="Courier New" pitchFamily="49" charset="0"/>
              </a:rPr>
              <a:t>throw </a:t>
            </a:r>
            <a:r>
              <a:rPr lang="en-US" b="1" dirty="0" err="1">
                <a:latin typeface="Courier New" pitchFamily="49" charset="0"/>
                <a:cs typeface="Courier New" pitchFamily="49" charset="0"/>
              </a:rPr>
              <a:t>exceptOb</a:t>
            </a:r>
            <a:r>
              <a:rPr lang="en-US" b="1" dirty="0">
                <a:latin typeface="Courier New" pitchFamily="49" charset="0"/>
                <a:cs typeface="Courier New" pitchFamily="49" charset="0"/>
              </a:rPr>
              <a:t>;</a:t>
            </a:r>
          </a:p>
          <a:p>
            <a:r>
              <a:rPr lang="en-US" dirty="0"/>
              <a:t>The </a:t>
            </a:r>
            <a:r>
              <a:rPr lang="en-US" i="1" dirty="0" err="1"/>
              <a:t>exceptOb</a:t>
            </a:r>
            <a:r>
              <a:rPr lang="en-US" dirty="0"/>
              <a:t> must be an object of an exception class derived from </a:t>
            </a:r>
            <a:r>
              <a:rPr lang="en-US" b="1" dirty="0"/>
              <a:t>Exception</a:t>
            </a:r>
            <a:endParaRPr lang="en-US" dirty="0"/>
          </a:p>
          <a:p>
            <a:endParaRPr lang="en-IN" dirty="0"/>
          </a:p>
        </p:txBody>
      </p:sp>
      <p:sp>
        <p:nvSpPr>
          <p:cNvPr id="3" name="Title 2"/>
          <p:cNvSpPr>
            <a:spLocks noGrp="1"/>
          </p:cNvSpPr>
          <p:nvPr>
            <p:ph type="title"/>
          </p:nvPr>
        </p:nvSpPr>
        <p:spPr/>
        <p:txBody>
          <a:bodyPr/>
          <a:lstStyle/>
          <a:p>
            <a:r>
              <a:rPr lang="en-US" dirty="0"/>
              <a:t>Throwing an Exception</a:t>
            </a:r>
            <a:endParaRPr lang="en-IN" dirty="0"/>
          </a:p>
        </p:txBody>
      </p:sp>
    </p:spTree>
    <p:extLst>
      <p:ext uri="{BB962C8B-B14F-4D97-AF65-F5344CB8AC3E}">
        <p14:creationId xmlns:p14="http://schemas.microsoft.com/office/powerpoint/2010/main" val="16687576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endParaRPr lang="en-IN"/>
          </a:p>
        </p:txBody>
      </p:sp>
      <p:pic>
        <p:nvPicPr>
          <p:cNvPr id="4" name="Picture 4"/>
          <p:cNvPicPr>
            <a:picLocks noChangeAspect="1" noChangeArrowheads="1"/>
          </p:cNvPicPr>
          <p:nvPr/>
        </p:nvPicPr>
        <p:blipFill rotWithShape="1">
          <a:blip r:embed="rId3"/>
          <a:srcRect l="2418"/>
          <a:stretch/>
        </p:blipFill>
        <p:spPr bwMode="auto">
          <a:xfrm>
            <a:off x="1931833" y="1200291"/>
            <a:ext cx="7624292" cy="4932020"/>
          </a:xfrm>
          <a:prstGeom prst="rect">
            <a:avLst/>
          </a:prstGeom>
          <a:noFill/>
          <a:ln w="9525">
            <a:solidFill>
              <a:schemeClr val="tx1"/>
            </a:solidFill>
            <a:miter lim="800000"/>
            <a:headEnd/>
            <a:tailEnd/>
          </a:ln>
        </p:spPr>
      </p:pic>
      <p:pic>
        <p:nvPicPr>
          <p:cNvPr id="5" name="Picture 5"/>
          <p:cNvPicPr>
            <a:picLocks noChangeAspect="1" noChangeArrowheads="1"/>
          </p:cNvPicPr>
          <p:nvPr/>
        </p:nvPicPr>
        <p:blipFill>
          <a:blip r:embed="rId4"/>
          <a:srcRect/>
          <a:stretch>
            <a:fillRect/>
          </a:stretch>
        </p:blipFill>
        <p:spPr bwMode="auto">
          <a:xfrm>
            <a:off x="1792890" y="1277445"/>
            <a:ext cx="7624292" cy="3161880"/>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3172766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To specify a block of code to execute when a </a:t>
            </a:r>
            <a:r>
              <a:rPr lang="en-US" b="1" dirty="0"/>
              <a:t>try/catch</a:t>
            </a:r>
            <a:r>
              <a:rPr lang="en-US" dirty="0"/>
              <a:t> block is exited, include a </a:t>
            </a:r>
            <a:r>
              <a:rPr lang="en-US" b="1" dirty="0"/>
              <a:t>finally</a:t>
            </a:r>
            <a:r>
              <a:rPr lang="en-US" dirty="0"/>
              <a:t> block at the end of a </a:t>
            </a:r>
            <a:r>
              <a:rPr lang="en-US" b="1" dirty="0"/>
              <a:t>try</a:t>
            </a:r>
            <a:r>
              <a:rPr lang="en-US" dirty="0"/>
              <a:t>/</a:t>
            </a:r>
            <a:r>
              <a:rPr lang="en-US" b="1" dirty="0"/>
              <a:t>catch</a:t>
            </a:r>
            <a:r>
              <a:rPr lang="en-US" dirty="0"/>
              <a:t> sequence. </a:t>
            </a:r>
          </a:p>
          <a:p>
            <a:r>
              <a:rPr lang="en-US" dirty="0"/>
              <a:t>The general form of a </a:t>
            </a:r>
            <a:r>
              <a:rPr lang="en-US" b="1" dirty="0"/>
              <a:t>try</a:t>
            </a:r>
            <a:r>
              <a:rPr lang="en-US" dirty="0"/>
              <a:t>/</a:t>
            </a:r>
            <a:r>
              <a:rPr lang="en-US" b="1" dirty="0"/>
              <a:t>catch</a:t>
            </a:r>
            <a:r>
              <a:rPr lang="en-US" dirty="0"/>
              <a:t> that includes </a:t>
            </a:r>
            <a:r>
              <a:rPr lang="en-US" b="1" dirty="0"/>
              <a:t>finally</a:t>
            </a:r>
            <a:r>
              <a:rPr lang="en-US" dirty="0"/>
              <a:t> is : </a:t>
            </a:r>
          </a:p>
          <a:p>
            <a:endParaRPr lang="en-IN" dirty="0"/>
          </a:p>
        </p:txBody>
      </p:sp>
      <p:sp>
        <p:nvSpPr>
          <p:cNvPr id="3" name="Title 2"/>
          <p:cNvSpPr>
            <a:spLocks noGrp="1"/>
          </p:cNvSpPr>
          <p:nvPr>
            <p:ph type="title"/>
          </p:nvPr>
        </p:nvSpPr>
        <p:spPr/>
        <p:txBody>
          <a:bodyPr/>
          <a:lstStyle/>
          <a:p>
            <a:r>
              <a:rPr lang="en-US" dirty="0"/>
              <a:t>Using Finally</a:t>
            </a:r>
            <a:endParaRPr lang="en-IN" dirty="0"/>
          </a:p>
        </p:txBody>
      </p:sp>
    </p:spTree>
    <p:extLst>
      <p:ext uri="{BB962C8B-B14F-4D97-AF65-F5344CB8AC3E}">
        <p14:creationId xmlns:p14="http://schemas.microsoft.com/office/powerpoint/2010/main" val="27181736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r>
              <a:rPr lang="en-US" dirty="0"/>
              <a:t>Using Finally</a:t>
            </a:r>
            <a:endParaRPr lang="en-IN" dirty="0"/>
          </a:p>
        </p:txBody>
      </p:sp>
      <p:sp>
        <p:nvSpPr>
          <p:cNvPr id="4" name="Rectangle 3"/>
          <p:cNvSpPr/>
          <p:nvPr/>
        </p:nvSpPr>
        <p:spPr>
          <a:xfrm>
            <a:off x="2275974" y="1822797"/>
            <a:ext cx="6598276" cy="4285418"/>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nSpc>
                <a:spcPct val="80000"/>
              </a:lnSpc>
              <a:buFont typeface="Wingdings" pitchFamily="2" charset="2"/>
              <a:buNone/>
            </a:pPr>
            <a:r>
              <a:rPr lang="en-US" sz="1793" b="1" dirty="0">
                <a:solidFill>
                  <a:schemeClr val="tx1"/>
                </a:solidFill>
                <a:latin typeface="Courier New" pitchFamily="49" charset="0"/>
                <a:cs typeface="Courier New" pitchFamily="49" charset="0"/>
              </a:rPr>
              <a:t>try </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   // block of code to monitor for errors</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catch (ExcepType1 </a:t>
            </a:r>
            <a:r>
              <a:rPr lang="en-US" sz="1793" b="1" dirty="0" err="1">
                <a:solidFill>
                  <a:schemeClr val="tx1"/>
                </a:solidFill>
                <a:latin typeface="Courier New" pitchFamily="49" charset="0"/>
                <a:cs typeface="Courier New" pitchFamily="49" charset="0"/>
              </a:rPr>
              <a:t>exOb</a:t>
            </a:r>
            <a:r>
              <a:rPr lang="en-US" sz="1793" b="1" dirty="0">
                <a:solidFill>
                  <a:schemeClr val="tx1"/>
                </a:solidFill>
                <a:latin typeface="Courier New" pitchFamily="49" charset="0"/>
                <a:cs typeface="Courier New" pitchFamily="49" charset="0"/>
              </a:rPr>
              <a:t>) </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   // handler for ExcepType1</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catch (ExcepType2 </a:t>
            </a:r>
            <a:r>
              <a:rPr lang="en-US" sz="1793" b="1" dirty="0" err="1">
                <a:solidFill>
                  <a:schemeClr val="tx1"/>
                </a:solidFill>
                <a:latin typeface="Courier New" pitchFamily="49" charset="0"/>
                <a:cs typeface="Courier New" pitchFamily="49" charset="0"/>
              </a:rPr>
              <a:t>exOb</a:t>
            </a:r>
            <a:r>
              <a:rPr lang="en-US" sz="1793" b="1" dirty="0">
                <a:solidFill>
                  <a:schemeClr val="tx1"/>
                </a:solidFill>
                <a:latin typeface="Courier New" pitchFamily="49" charset="0"/>
                <a:cs typeface="Courier New" pitchFamily="49" charset="0"/>
              </a:rPr>
              <a:t>) </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   // handler for ExcepType2</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a:t>
            </a:r>
          </a:p>
          <a:p>
            <a:pPr>
              <a:lnSpc>
                <a:spcPct val="80000"/>
              </a:lnSpc>
              <a:buFont typeface="Wingdings" pitchFamily="2" charset="2"/>
              <a:buNone/>
            </a:pPr>
            <a:endParaRPr lang="en-US" sz="1793" b="1" dirty="0">
              <a:solidFill>
                <a:schemeClr val="tx1"/>
              </a:solidFill>
              <a:latin typeface="Courier New" pitchFamily="49" charset="0"/>
              <a:cs typeface="Courier New" pitchFamily="49" charset="0"/>
            </a:endParaRP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finally </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   // finally code</a:t>
            </a:r>
          </a:p>
          <a:p>
            <a:pPr>
              <a:lnSpc>
                <a:spcPct val="80000"/>
              </a:lnSpc>
              <a:buFont typeface="Wingdings" pitchFamily="2" charset="2"/>
              <a:buNone/>
            </a:pPr>
            <a:r>
              <a:rPr lang="en-US" sz="1793" b="1" dirty="0">
                <a:solidFill>
                  <a:schemeClr val="tx1"/>
                </a:solidFill>
                <a:latin typeface="Courier New" pitchFamily="49" charset="0"/>
                <a:cs typeface="Courier New" pitchFamily="49" charset="0"/>
              </a:rPr>
              <a:t>}</a:t>
            </a:r>
          </a:p>
        </p:txBody>
      </p:sp>
    </p:spTree>
    <p:extLst>
      <p:ext uri="{BB962C8B-B14F-4D97-AF65-F5344CB8AC3E}">
        <p14:creationId xmlns:p14="http://schemas.microsoft.com/office/powerpoint/2010/main" val="11336921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Using Finally</a:t>
            </a:r>
            <a:endParaRPr lang="en-IN" dirty="0"/>
          </a:p>
        </p:txBody>
      </p:sp>
      <p:pic>
        <p:nvPicPr>
          <p:cNvPr id="4" name="Picture 4"/>
          <p:cNvPicPr>
            <a:picLocks noChangeAspect="1" noChangeArrowheads="1"/>
          </p:cNvPicPr>
          <p:nvPr/>
        </p:nvPicPr>
        <p:blipFill rotWithShape="1">
          <a:blip r:embed="rId2"/>
          <a:srcRect l="2155"/>
          <a:stretch/>
        </p:blipFill>
        <p:spPr bwMode="auto">
          <a:xfrm>
            <a:off x="2923125" y="1420882"/>
            <a:ext cx="7018986" cy="5015961"/>
          </a:xfrm>
          <a:prstGeom prst="rect">
            <a:avLst/>
          </a:prstGeom>
          <a:noFill/>
          <a:ln w="9525">
            <a:solidFill>
              <a:schemeClr val="tx1"/>
            </a:solidFill>
            <a:miter lim="800000"/>
            <a:headEnd/>
            <a:tailEnd/>
          </a:ln>
        </p:spPr>
      </p:pic>
      <p:pic>
        <p:nvPicPr>
          <p:cNvPr id="5" name="Picture 5"/>
          <p:cNvPicPr>
            <a:picLocks noChangeAspect="1" noChangeArrowheads="1"/>
          </p:cNvPicPr>
          <p:nvPr/>
        </p:nvPicPr>
        <p:blipFill>
          <a:blip r:embed="rId3"/>
          <a:srcRect/>
          <a:stretch>
            <a:fillRect/>
          </a:stretch>
        </p:blipFill>
        <p:spPr bwMode="auto">
          <a:xfrm>
            <a:off x="2936384" y="1565864"/>
            <a:ext cx="7018985" cy="3153328"/>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1016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We have seen built-in exception classes in the previous section. </a:t>
            </a:r>
            <a:endParaRPr lang="en-US" dirty="0" smtClean="0"/>
          </a:p>
          <a:p>
            <a:r>
              <a:rPr lang="en-US" dirty="0" smtClean="0"/>
              <a:t>However</a:t>
            </a:r>
            <a:r>
              <a:rPr lang="en-US" dirty="0"/>
              <a:t>, you often like to raise an exception when the business rule of your application gets violated. </a:t>
            </a:r>
            <a:endParaRPr lang="en-US" dirty="0" smtClean="0"/>
          </a:p>
          <a:p>
            <a:r>
              <a:rPr lang="en-US" dirty="0" smtClean="0"/>
              <a:t>So</a:t>
            </a:r>
            <a:r>
              <a:rPr lang="en-US" dirty="0"/>
              <a:t>, for this you can create a custom exception class by deriving Exception or </a:t>
            </a:r>
            <a:r>
              <a:rPr lang="en-US" dirty="0" err="1"/>
              <a:t>ApplicationException</a:t>
            </a:r>
            <a:r>
              <a:rPr lang="en-US" dirty="0"/>
              <a:t> class</a:t>
            </a:r>
            <a:r>
              <a:rPr lang="en-US" dirty="0" smtClean="0"/>
              <a:t>.</a:t>
            </a:r>
            <a:endParaRPr lang="en-US" dirty="0"/>
          </a:p>
        </p:txBody>
      </p:sp>
      <p:sp>
        <p:nvSpPr>
          <p:cNvPr id="3" name="Title 2"/>
          <p:cNvSpPr>
            <a:spLocks noGrp="1"/>
          </p:cNvSpPr>
          <p:nvPr>
            <p:ph type="title"/>
          </p:nvPr>
        </p:nvSpPr>
        <p:spPr/>
        <p:txBody>
          <a:bodyPr/>
          <a:lstStyle/>
          <a:p>
            <a:r>
              <a:rPr lang="en-IN" dirty="0"/>
              <a:t>User Defined Exception</a:t>
            </a:r>
          </a:p>
        </p:txBody>
      </p:sp>
    </p:spTree>
    <p:extLst>
      <p:ext uri="{BB962C8B-B14F-4D97-AF65-F5344CB8AC3E}">
        <p14:creationId xmlns:p14="http://schemas.microsoft.com/office/powerpoint/2010/main" val="15973812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 </a:t>
            </a:r>
            <a:r>
              <a:rPr lang="en-US" dirty="0" err="1"/>
              <a:t>.Net</a:t>
            </a:r>
            <a:r>
              <a:rPr lang="en-US" dirty="0"/>
              <a:t> framework includes </a:t>
            </a:r>
            <a:r>
              <a:rPr lang="en-US" dirty="0" err="1"/>
              <a:t>ApplicationException</a:t>
            </a:r>
            <a:r>
              <a:rPr lang="en-US" dirty="0"/>
              <a:t> class since </a:t>
            </a:r>
            <a:r>
              <a:rPr lang="en-US" dirty="0" err="1"/>
              <a:t>.Net</a:t>
            </a:r>
            <a:r>
              <a:rPr lang="en-US" dirty="0"/>
              <a:t> v1.0. </a:t>
            </a:r>
            <a:endParaRPr lang="en-US" dirty="0" smtClean="0"/>
          </a:p>
          <a:p>
            <a:r>
              <a:rPr lang="en-US" dirty="0" smtClean="0"/>
              <a:t>It </a:t>
            </a:r>
            <a:r>
              <a:rPr lang="en-US" dirty="0"/>
              <a:t>was designed to use as a base class for the custom exception class. </a:t>
            </a:r>
            <a:endParaRPr lang="en-US" dirty="0" smtClean="0"/>
          </a:p>
          <a:p>
            <a:r>
              <a:rPr lang="en-US" dirty="0" smtClean="0"/>
              <a:t>However</a:t>
            </a:r>
            <a:r>
              <a:rPr lang="en-US" dirty="0"/>
              <a:t>, Microsoft now recommends Exception class to create a custom exception class.</a:t>
            </a:r>
            <a:endParaRPr lang="en-IN" dirty="0"/>
          </a:p>
          <a:p>
            <a:endParaRPr lang="en-IN" dirty="0"/>
          </a:p>
        </p:txBody>
      </p:sp>
      <p:sp>
        <p:nvSpPr>
          <p:cNvPr id="3" name="Title 2"/>
          <p:cNvSpPr>
            <a:spLocks noGrp="1"/>
          </p:cNvSpPr>
          <p:nvPr>
            <p:ph type="title"/>
          </p:nvPr>
        </p:nvSpPr>
        <p:spPr/>
        <p:txBody>
          <a:bodyPr/>
          <a:lstStyle/>
          <a:p>
            <a:r>
              <a:rPr lang="en-IN" dirty="0"/>
              <a:t>User Defined Exception</a:t>
            </a:r>
          </a:p>
        </p:txBody>
      </p:sp>
    </p:spTree>
    <p:extLst>
      <p:ext uri="{BB962C8B-B14F-4D97-AF65-F5344CB8AC3E}">
        <p14:creationId xmlns:p14="http://schemas.microsoft.com/office/powerpoint/2010/main" val="290924694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r>
              <a:rPr lang="en-IN" dirty="0"/>
              <a:t>User Defined Exception</a:t>
            </a:r>
          </a:p>
        </p:txBody>
      </p:sp>
      <p:sp>
        <p:nvSpPr>
          <p:cNvPr id="4" name="Rectangle 3"/>
          <p:cNvSpPr/>
          <p:nvPr/>
        </p:nvSpPr>
        <p:spPr>
          <a:xfrm>
            <a:off x="788830" y="1854216"/>
            <a:ext cx="10470903" cy="3954356"/>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N" sz="1793" b="1" dirty="0">
                <a:solidFill>
                  <a:schemeClr val="tx1"/>
                </a:solidFill>
                <a:latin typeface="Courier New" pitchFamily="49" charset="0"/>
                <a:cs typeface="Courier New" pitchFamily="49" charset="0"/>
              </a:rPr>
              <a:t>using System;  </a:t>
            </a:r>
          </a:p>
          <a:p>
            <a:r>
              <a:rPr lang="en-IN" sz="1793" b="1" dirty="0">
                <a:solidFill>
                  <a:schemeClr val="tx1"/>
                </a:solidFill>
                <a:latin typeface="Courier New" pitchFamily="49" charset="0"/>
                <a:cs typeface="Courier New" pitchFamily="49" charset="0"/>
              </a:rPr>
              <a:t>using </a:t>
            </a:r>
            <a:r>
              <a:rPr lang="en-IN" sz="1793" b="1" dirty="0" err="1">
                <a:solidFill>
                  <a:schemeClr val="tx1"/>
                </a:solidFill>
                <a:latin typeface="Courier New" pitchFamily="49" charset="0"/>
                <a:cs typeface="Courier New" pitchFamily="49" charset="0"/>
              </a:rPr>
              <a:t>System.Collections.Generic</a:t>
            </a:r>
            <a:r>
              <a:rPr lang="en-IN" sz="1793" b="1" dirty="0">
                <a:solidFill>
                  <a:schemeClr val="tx1"/>
                </a:solidFill>
                <a:latin typeface="Courier New" pitchFamily="49" charset="0"/>
                <a:cs typeface="Courier New" pitchFamily="49" charset="0"/>
              </a:rPr>
              <a:t>;  </a:t>
            </a:r>
          </a:p>
          <a:p>
            <a:r>
              <a:rPr lang="en-IN" sz="1793" b="1" dirty="0">
                <a:solidFill>
                  <a:schemeClr val="tx1"/>
                </a:solidFill>
                <a:latin typeface="Courier New" pitchFamily="49" charset="0"/>
                <a:cs typeface="Courier New" pitchFamily="49" charset="0"/>
              </a:rPr>
              <a:t>using </a:t>
            </a:r>
            <a:r>
              <a:rPr lang="en-IN" sz="1793" b="1" dirty="0" err="1">
                <a:solidFill>
                  <a:schemeClr val="tx1"/>
                </a:solidFill>
                <a:latin typeface="Courier New" pitchFamily="49" charset="0"/>
                <a:cs typeface="Courier New" pitchFamily="49" charset="0"/>
              </a:rPr>
              <a:t>System.Linq</a:t>
            </a:r>
            <a:r>
              <a:rPr lang="en-IN" sz="1793" b="1" dirty="0">
                <a:solidFill>
                  <a:schemeClr val="tx1"/>
                </a:solidFill>
                <a:latin typeface="Courier New" pitchFamily="49" charset="0"/>
                <a:cs typeface="Courier New" pitchFamily="49" charset="0"/>
              </a:rPr>
              <a:t>;  </a:t>
            </a:r>
          </a:p>
          <a:p>
            <a:r>
              <a:rPr lang="en-IN" sz="1793" b="1" dirty="0">
                <a:solidFill>
                  <a:schemeClr val="tx1"/>
                </a:solidFill>
                <a:latin typeface="Courier New" pitchFamily="49" charset="0"/>
                <a:cs typeface="Courier New" pitchFamily="49" charset="0"/>
              </a:rPr>
              <a:t>using </a:t>
            </a:r>
            <a:r>
              <a:rPr lang="en-IN" sz="1793" b="1" dirty="0" err="1">
                <a:solidFill>
                  <a:schemeClr val="tx1"/>
                </a:solidFill>
                <a:latin typeface="Courier New" pitchFamily="49" charset="0"/>
                <a:cs typeface="Courier New" pitchFamily="49" charset="0"/>
              </a:rPr>
              <a:t>System.Text</a:t>
            </a:r>
            <a:r>
              <a:rPr lang="en-IN" sz="1793" b="1" dirty="0">
                <a:solidFill>
                  <a:schemeClr val="tx1"/>
                </a:solidFill>
                <a:latin typeface="Courier New" pitchFamily="49" charset="0"/>
                <a:cs typeface="Courier New" pitchFamily="49" charset="0"/>
              </a:rPr>
              <a:t>;  </a:t>
            </a:r>
          </a:p>
          <a:p>
            <a:r>
              <a:rPr lang="en-IN" sz="1793" b="1" dirty="0">
                <a:solidFill>
                  <a:schemeClr val="tx1"/>
                </a:solidFill>
                <a:latin typeface="Courier New" pitchFamily="49" charset="0"/>
                <a:cs typeface="Courier New" pitchFamily="49" charset="0"/>
              </a:rPr>
              <a:t>using </a:t>
            </a:r>
            <a:r>
              <a:rPr lang="en-IN" sz="1793" b="1" dirty="0" err="1">
                <a:solidFill>
                  <a:schemeClr val="tx1"/>
                </a:solidFill>
                <a:latin typeface="Courier New" pitchFamily="49" charset="0"/>
                <a:cs typeface="Courier New" pitchFamily="49" charset="0"/>
              </a:rPr>
              <a:t>System.Threading.Tasks</a:t>
            </a:r>
            <a:r>
              <a:rPr lang="en-IN" sz="1793" b="1" dirty="0">
                <a:solidFill>
                  <a:schemeClr val="tx1"/>
                </a:solidFill>
                <a:latin typeface="Courier New" pitchFamily="49" charset="0"/>
                <a:cs typeface="Courier New" pitchFamily="49" charset="0"/>
              </a:rPr>
              <a:t>; </a:t>
            </a:r>
          </a:p>
          <a:p>
            <a:r>
              <a:rPr lang="en-IN" sz="1793" b="1" dirty="0">
                <a:solidFill>
                  <a:schemeClr val="tx1"/>
                </a:solidFill>
                <a:latin typeface="Courier New" pitchFamily="49" charset="0"/>
                <a:cs typeface="Courier New" pitchFamily="49" charset="0"/>
              </a:rPr>
              <a:t> </a:t>
            </a:r>
          </a:p>
          <a:p>
            <a:r>
              <a:rPr lang="en-IN" sz="1793" b="1" dirty="0">
                <a:solidFill>
                  <a:schemeClr val="tx1"/>
                </a:solidFill>
                <a:latin typeface="Courier New" pitchFamily="49" charset="0"/>
                <a:cs typeface="Courier New" pitchFamily="49" charset="0"/>
              </a:rPr>
              <a:t>namespace </a:t>
            </a:r>
            <a:r>
              <a:rPr lang="en-IN" sz="1793" b="1" dirty="0" err="1">
                <a:solidFill>
                  <a:schemeClr val="tx1"/>
                </a:solidFill>
                <a:latin typeface="Courier New" pitchFamily="49" charset="0"/>
                <a:cs typeface="Courier New" pitchFamily="49" charset="0"/>
              </a:rPr>
              <a:t>CustomExceptionExampleCode</a:t>
            </a:r>
            <a:r>
              <a:rPr lang="en-IN" sz="1793" b="1" dirty="0">
                <a:solidFill>
                  <a:schemeClr val="tx1"/>
                </a:solidFill>
                <a:latin typeface="Courier New" pitchFamily="49" charset="0"/>
                <a:cs typeface="Courier New" pitchFamily="49" charset="0"/>
              </a:rPr>
              <a:t> {  </a:t>
            </a:r>
          </a:p>
          <a:p>
            <a:r>
              <a:rPr lang="en-IN" sz="1793" b="1" dirty="0">
                <a:solidFill>
                  <a:schemeClr val="tx1"/>
                </a:solidFill>
                <a:latin typeface="Courier New" pitchFamily="49" charset="0"/>
                <a:cs typeface="Courier New" pitchFamily="49" charset="0"/>
              </a:rPr>
              <a:t>    class </a:t>
            </a:r>
            <a:r>
              <a:rPr lang="en-IN" sz="1793" b="1" dirty="0" err="1">
                <a:solidFill>
                  <a:schemeClr val="tx1"/>
                </a:solidFill>
                <a:latin typeface="Courier New" pitchFamily="49" charset="0"/>
                <a:cs typeface="Courier New" pitchFamily="49" charset="0"/>
              </a:rPr>
              <a:t>MyException</a:t>
            </a:r>
            <a:r>
              <a:rPr lang="en-IN" sz="1793" b="1" dirty="0">
                <a:solidFill>
                  <a:schemeClr val="tx1"/>
                </a:solidFill>
                <a:latin typeface="Courier New" pitchFamily="49" charset="0"/>
                <a:cs typeface="Courier New" pitchFamily="49" charset="0"/>
              </a:rPr>
              <a:t>: Exception {  </a:t>
            </a:r>
          </a:p>
          <a:p>
            <a:r>
              <a:rPr lang="en-IN" sz="1793" b="1" dirty="0">
                <a:solidFill>
                  <a:schemeClr val="tx1"/>
                </a:solidFill>
                <a:latin typeface="Courier New" pitchFamily="49" charset="0"/>
                <a:cs typeface="Courier New" pitchFamily="49" charset="0"/>
              </a:rPr>
              <a:t>        public </a:t>
            </a:r>
            <a:r>
              <a:rPr lang="en-IN" sz="1793" b="1" dirty="0" err="1">
                <a:solidFill>
                  <a:schemeClr val="tx1"/>
                </a:solidFill>
                <a:latin typeface="Courier New" pitchFamily="49" charset="0"/>
                <a:cs typeface="Courier New" pitchFamily="49" charset="0"/>
              </a:rPr>
              <a:t>MyException</a:t>
            </a:r>
            <a:r>
              <a:rPr lang="en-IN" sz="1793" b="1" dirty="0">
                <a:solidFill>
                  <a:schemeClr val="tx1"/>
                </a:solidFill>
                <a:latin typeface="Courier New" pitchFamily="49" charset="0"/>
                <a:cs typeface="Courier New" pitchFamily="49" charset="0"/>
              </a:rPr>
              <a:t>(string Message): base(Message) {}  </a:t>
            </a:r>
          </a:p>
          <a:p>
            <a:r>
              <a:rPr lang="en-IN" sz="1793" b="1" dirty="0">
                <a:solidFill>
                  <a:schemeClr val="tx1"/>
                </a:solidFill>
                <a:latin typeface="Courier New" pitchFamily="49" charset="0"/>
                <a:cs typeface="Courier New" pitchFamily="49" charset="0"/>
              </a:rPr>
              <a:t>        public </a:t>
            </a:r>
            <a:r>
              <a:rPr lang="en-IN" sz="1793" b="1" dirty="0" err="1">
                <a:solidFill>
                  <a:schemeClr val="tx1"/>
                </a:solidFill>
                <a:latin typeface="Courier New" pitchFamily="49" charset="0"/>
                <a:cs typeface="Courier New" pitchFamily="49" charset="0"/>
              </a:rPr>
              <a:t>MyException</a:t>
            </a:r>
            <a:r>
              <a:rPr lang="en-IN" sz="1793" b="1" dirty="0">
                <a:solidFill>
                  <a:schemeClr val="tx1"/>
                </a:solidFill>
                <a:latin typeface="Courier New" pitchFamily="49" charset="0"/>
                <a:cs typeface="Courier New" pitchFamily="49" charset="0"/>
              </a:rPr>
              <a:t>() {}  </a:t>
            </a:r>
          </a:p>
          <a:p>
            <a:r>
              <a:rPr lang="en-IN" sz="1793" b="1" dirty="0">
                <a:solidFill>
                  <a:schemeClr val="tx1"/>
                </a:solidFill>
                <a:latin typeface="Courier New" pitchFamily="49" charset="0"/>
                <a:cs typeface="Courier New" pitchFamily="49" charset="0"/>
              </a:rPr>
              <a:t>        public </a:t>
            </a:r>
            <a:r>
              <a:rPr lang="en-IN" sz="1793" b="1" dirty="0" err="1">
                <a:solidFill>
                  <a:schemeClr val="tx1"/>
                </a:solidFill>
                <a:latin typeface="Courier New" pitchFamily="49" charset="0"/>
                <a:cs typeface="Courier New" pitchFamily="49" charset="0"/>
              </a:rPr>
              <a:t>MyException</a:t>
            </a:r>
            <a:r>
              <a:rPr lang="en-IN" sz="1793" b="1" dirty="0">
                <a:solidFill>
                  <a:schemeClr val="tx1"/>
                </a:solidFill>
                <a:latin typeface="Courier New" pitchFamily="49" charset="0"/>
                <a:cs typeface="Courier New" pitchFamily="49" charset="0"/>
              </a:rPr>
              <a:t>(string Message, Exception inner): base(Message, inner) {}  </a:t>
            </a:r>
          </a:p>
          <a:p>
            <a:r>
              <a:rPr lang="en-IN" sz="1793" b="1" dirty="0">
                <a:solidFill>
                  <a:schemeClr val="tx1"/>
                </a:solidFill>
                <a:latin typeface="Courier New" pitchFamily="49" charset="0"/>
                <a:cs typeface="Courier New" pitchFamily="49" charset="0"/>
              </a:rPr>
              <a:t>    }  </a:t>
            </a:r>
          </a:p>
          <a:p>
            <a:r>
              <a:rPr lang="en-IN" sz="1793" b="1" dirty="0">
                <a:solidFill>
                  <a:schemeClr val="tx1"/>
                </a:solidFill>
                <a:latin typeface="Courier New" pitchFamily="49" charset="0"/>
                <a:cs typeface="Courier New" pitchFamily="49" charset="0"/>
              </a:rPr>
              <a:t>   }   </a:t>
            </a:r>
          </a:p>
        </p:txBody>
      </p:sp>
    </p:spTree>
    <p:extLst>
      <p:ext uri="{BB962C8B-B14F-4D97-AF65-F5344CB8AC3E}">
        <p14:creationId xmlns:p14="http://schemas.microsoft.com/office/powerpoint/2010/main" val="42827497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r>
              <a:rPr lang="en-IN" dirty="0"/>
              <a:t>User Defined Exception</a:t>
            </a:r>
          </a:p>
        </p:txBody>
      </p:sp>
      <p:sp>
        <p:nvSpPr>
          <p:cNvPr id="4" name="Rectangle 3"/>
          <p:cNvSpPr/>
          <p:nvPr/>
        </p:nvSpPr>
        <p:spPr>
          <a:xfrm>
            <a:off x="788830" y="1854215"/>
            <a:ext cx="10542621" cy="4506126"/>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N" sz="1793" b="1" dirty="0">
                <a:solidFill>
                  <a:schemeClr val="tx1"/>
                </a:solidFill>
                <a:latin typeface="Courier New" pitchFamily="49" charset="0"/>
                <a:cs typeface="Courier New" pitchFamily="49" charset="0"/>
              </a:rPr>
              <a:t>class Program {  </a:t>
            </a:r>
          </a:p>
          <a:p>
            <a:r>
              <a:rPr lang="en-IN" sz="1793" b="1" dirty="0">
                <a:solidFill>
                  <a:schemeClr val="tx1"/>
                </a:solidFill>
                <a:latin typeface="Courier New" pitchFamily="49" charset="0"/>
                <a:cs typeface="Courier New" pitchFamily="49" charset="0"/>
              </a:rPr>
              <a:t>        static void Main(string[] </a:t>
            </a:r>
            <a:r>
              <a:rPr lang="en-IN" sz="1793" b="1" dirty="0" err="1">
                <a:solidFill>
                  <a:schemeClr val="tx1"/>
                </a:solidFill>
                <a:latin typeface="Courier New" pitchFamily="49" charset="0"/>
                <a:cs typeface="Courier New" pitchFamily="49" charset="0"/>
              </a:rPr>
              <a:t>args</a:t>
            </a:r>
            <a:r>
              <a:rPr lang="en-IN" sz="1793" b="1" dirty="0">
                <a:solidFill>
                  <a:schemeClr val="tx1"/>
                </a:solidFill>
                <a:latin typeface="Courier New" pitchFamily="49" charset="0"/>
                <a:cs typeface="Courier New" pitchFamily="49" charset="0"/>
              </a:rPr>
              <a:t>) {  </a:t>
            </a:r>
          </a:p>
          <a:p>
            <a:r>
              <a:rPr lang="en-IN" sz="1793" b="1" dirty="0">
                <a:solidFill>
                  <a:schemeClr val="tx1"/>
                </a:solidFill>
                <a:latin typeface="Courier New" pitchFamily="49" charset="0"/>
                <a:cs typeface="Courier New" pitchFamily="49" charset="0"/>
              </a:rPr>
              <a:t>            </a:t>
            </a:r>
            <a:r>
              <a:rPr lang="en-IN" sz="1793" b="1" dirty="0" err="1">
                <a:solidFill>
                  <a:schemeClr val="tx1"/>
                </a:solidFill>
                <a:latin typeface="Courier New" pitchFamily="49" charset="0"/>
                <a:cs typeface="Courier New" pitchFamily="49" charset="0"/>
              </a:rPr>
              <a:t>int</a:t>
            </a:r>
            <a:r>
              <a:rPr lang="en-IN" sz="1793" b="1" dirty="0">
                <a:solidFill>
                  <a:schemeClr val="tx1"/>
                </a:solidFill>
                <a:latin typeface="Courier New" pitchFamily="49" charset="0"/>
                <a:cs typeface="Courier New" pitchFamily="49" charset="0"/>
              </a:rPr>
              <a:t> a = 50;  </a:t>
            </a:r>
          </a:p>
          <a:p>
            <a:r>
              <a:rPr lang="en-IN" sz="1793" b="1" dirty="0">
                <a:solidFill>
                  <a:schemeClr val="tx1"/>
                </a:solidFill>
                <a:latin typeface="Courier New" pitchFamily="49" charset="0"/>
                <a:cs typeface="Courier New" pitchFamily="49" charset="0"/>
              </a:rPr>
              <a:t>            </a:t>
            </a:r>
            <a:r>
              <a:rPr lang="en-IN" sz="1793" b="1" dirty="0" err="1">
                <a:solidFill>
                  <a:schemeClr val="tx1"/>
                </a:solidFill>
                <a:latin typeface="Courier New" pitchFamily="49" charset="0"/>
                <a:cs typeface="Courier New" pitchFamily="49" charset="0"/>
              </a:rPr>
              <a:t>int</a:t>
            </a:r>
            <a:r>
              <a:rPr lang="en-IN" sz="1793" b="1" dirty="0">
                <a:solidFill>
                  <a:schemeClr val="tx1"/>
                </a:solidFill>
                <a:latin typeface="Courier New" pitchFamily="49" charset="0"/>
                <a:cs typeface="Courier New" pitchFamily="49" charset="0"/>
              </a:rPr>
              <a:t> b = 10;  </a:t>
            </a:r>
          </a:p>
          <a:p>
            <a:r>
              <a:rPr lang="en-IN" sz="1793" b="1" dirty="0">
                <a:solidFill>
                  <a:schemeClr val="tx1"/>
                </a:solidFill>
                <a:latin typeface="Courier New" pitchFamily="49" charset="0"/>
                <a:cs typeface="Courier New" pitchFamily="49" charset="0"/>
              </a:rPr>
              <a:t>            </a:t>
            </a:r>
            <a:r>
              <a:rPr lang="en-IN" sz="1793" b="1" dirty="0" err="1">
                <a:solidFill>
                  <a:schemeClr val="tx1"/>
                </a:solidFill>
                <a:latin typeface="Courier New" pitchFamily="49" charset="0"/>
                <a:cs typeface="Courier New" pitchFamily="49" charset="0"/>
              </a:rPr>
              <a:t>int</a:t>
            </a:r>
            <a:r>
              <a:rPr lang="en-IN" sz="1793" b="1" dirty="0">
                <a:solidFill>
                  <a:schemeClr val="tx1"/>
                </a:solidFill>
                <a:latin typeface="Courier New" pitchFamily="49" charset="0"/>
                <a:cs typeface="Courier New" pitchFamily="49" charset="0"/>
              </a:rPr>
              <a:t> k = a / b;  </a:t>
            </a:r>
          </a:p>
          <a:p>
            <a:r>
              <a:rPr lang="en-IN" sz="1793" b="1" dirty="0">
                <a:solidFill>
                  <a:schemeClr val="tx1"/>
                </a:solidFill>
                <a:latin typeface="Courier New" pitchFamily="49" charset="0"/>
                <a:cs typeface="Courier New" pitchFamily="49" charset="0"/>
              </a:rPr>
              <a:t>            try {  </a:t>
            </a:r>
          </a:p>
          <a:p>
            <a:r>
              <a:rPr lang="en-IN" sz="1793" b="1" dirty="0">
                <a:solidFill>
                  <a:schemeClr val="tx1"/>
                </a:solidFill>
                <a:latin typeface="Courier New" pitchFamily="49" charset="0"/>
                <a:cs typeface="Courier New" pitchFamily="49" charset="0"/>
              </a:rPr>
              <a:t>                if (k &lt; 10) {  </a:t>
            </a:r>
          </a:p>
          <a:p>
            <a:r>
              <a:rPr lang="en-IN" sz="1793" b="1" dirty="0">
                <a:solidFill>
                  <a:schemeClr val="tx1"/>
                </a:solidFill>
                <a:latin typeface="Courier New" pitchFamily="49" charset="0"/>
                <a:cs typeface="Courier New" pitchFamily="49" charset="0"/>
              </a:rPr>
              <a:t>                    throw new </a:t>
            </a:r>
            <a:r>
              <a:rPr lang="en-IN" sz="1793" b="1" dirty="0" err="1">
                <a:solidFill>
                  <a:schemeClr val="tx1"/>
                </a:solidFill>
                <a:latin typeface="Courier New" pitchFamily="49" charset="0"/>
                <a:cs typeface="Courier New" pitchFamily="49" charset="0"/>
              </a:rPr>
              <a:t>MyException</a:t>
            </a:r>
            <a:r>
              <a:rPr lang="en-IN" sz="1793" b="1" dirty="0">
                <a:solidFill>
                  <a:schemeClr val="tx1"/>
                </a:solidFill>
                <a:latin typeface="Courier New" pitchFamily="49" charset="0"/>
                <a:cs typeface="Courier New" pitchFamily="49" charset="0"/>
              </a:rPr>
              <a:t>("value of k is less than 10");  </a:t>
            </a:r>
          </a:p>
          <a:p>
            <a:r>
              <a:rPr lang="en-IN" sz="1793" b="1" dirty="0">
                <a:solidFill>
                  <a:schemeClr val="tx1"/>
                </a:solidFill>
                <a:latin typeface="Courier New" pitchFamily="49" charset="0"/>
                <a:cs typeface="Courier New" pitchFamily="49" charset="0"/>
              </a:rPr>
              <a:t>                }  </a:t>
            </a:r>
          </a:p>
          <a:p>
            <a:r>
              <a:rPr lang="en-IN" sz="1793" b="1" dirty="0">
                <a:solidFill>
                  <a:schemeClr val="tx1"/>
                </a:solidFill>
                <a:latin typeface="Courier New" pitchFamily="49" charset="0"/>
                <a:cs typeface="Courier New" pitchFamily="49" charset="0"/>
              </a:rPr>
              <a:t>            } catch (</a:t>
            </a:r>
            <a:r>
              <a:rPr lang="en-IN" sz="1793" b="1" dirty="0" err="1">
                <a:solidFill>
                  <a:schemeClr val="tx1"/>
                </a:solidFill>
                <a:latin typeface="Courier New" pitchFamily="49" charset="0"/>
                <a:cs typeface="Courier New" pitchFamily="49" charset="0"/>
              </a:rPr>
              <a:t>MyException</a:t>
            </a:r>
            <a:r>
              <a:rPr lang="en-IN" sz="1793" b="1" dirty="0">
                <a:solidFill>
                  <a:schemeClr val="tx1"/>
                </a:solidFill>
                <a:latin typeface="Courier New" pitchFamily="49" charset="0"/>
                <a:cs typeface="Courier New" pitchFamily="49" charset="0"/>
              </a:rPr>
              <a:t> e) {  </a:t>
            </a:r>
          </a:p>
          <a:p>
            <a:r>
              <a:rPr lang="en-IN" sz="1793" b="1" dirty="0">
                <a:solidFill>
                  <a:schemeClr val="tx1"/>
                </a:solidFill>
                <a:latin typeface="Courier New" pitchFamily="49" charset="0"/>
                <a:cs typeface="Courier New" pitchFamily="49" charset="0"/>
              </a:rPr>
              <a:t>                </a:t>
            </a:r>
            <a:r>
              <a:rPr lang="en-IN" sz="1793" b="1" dirty="0" err="1">
                <a:solidFill>
                  <a:schemeClr val="tx1"/>
                </a:solidFill>
                <a:latin typeface="Courier New" pitchFamily="49" charset="0"/>
                <a:cs typeface="Courier New" pitchFamily="49" charset="0"/>
              </a:rPr>
              <a:t>Console.WriteLine</a:t>
            </a:r>
            <a:r>
              <a:rPr lang="en-IN" sz="1793" b="1" dirty="0">
                <a:solidFill>
                  <a:schemeClr val="tx1"/>
                </a:solidFill>
                <a:latin typeface="Courier New" pitchFamily="49" charset="0"/>
                <a:cs typeface="Courier New" pitchFamily="49" charset="0"/>
              </a:rPr>
              <a:t>("Caught My Exception");  </a:t>
            </a:r>
          </a:p>
          <a:p>
            <a:r>
              <a:rPr lang="en-IN" sz="1793" b="1" dirty="0">
                <a:solidFill>
                  <a:schemeClr val="tx1"/>
                </a:solidFill>
                <a:latin typeface="Courier New" pitchFamily="49" charset="0"/>
                <a:cs typeface="Courier New" pitchFamily="49" charset="0"/>
              </a:rPr>
              <a:t>                </a:t>
            </a:r>
            <a:r>
              <a:rPr lang="en-IN" sz="1793" b="1" dirty="0" err="1">
                <a:solidFill>
                  <a:schemeClr val="tx1"/>
                </a:solidFill>
                <a:latin typeface="Courier New" pitchFamily="49" charset="0"/>
                <a:cs typeface="Courier New" pitchFamily="49" charset="0"/>
              </a:rPr>
              <a:t>Console.WriteLine</a:t>
            </a:r>
            <a:r>
              <a:rPr lang="en-IN" sz="1793" b="1" dirty="0">
                <a:solidFill>
                  <a:schemeClr val="tx1"/>
                </a:solidFill>
                <a:latin typeface="Courier New" pitchFamily="49" charset="0"/>
                <a:cs typeface="Courier New" pitchFamily="49" charset="0"/>
              </a:rPr>
              <a:t>(</a:t>
            </a:r>
            <a:r>
              <a:rPr lang="en-IN" sz="1793" b="1" dirty="0" err="1">
                <a:solidFill>
                  <a:schemeClr val="tx1"/>
                </a:solidFill>
                <a:latin typeface="Courier New" pitchFamily="49" charset="0"/>
                <a:cs typeface="Courier New" pitchFamily="49" charset="0"/>
              </a:rPr>
              <a:t>e.Message</a:t>
            </a:r>
            <a:r>
              <a:rPr lang="en-IN" sz="1793" b="1" dirty="0">
                <a:solidFill>
                  <a:schemeClr val="tx1"/>
                </a:solidFill>
                <a:latin typeface="Courier New" pitchFamily="49" charset="0"/>
                <a:cs typeface="Courier New" pitchFamily="49" charset="0"/>
              </a:rPr>
              <a:t>);  </a:t>
            </a:r>
          </a:p>
          <a:p>
            <a:r>
              <a:rPr lang="en-IN" sz="1793" b="1" dirty="0">
                <a:solidFill>
                  <a:schemeClr val="tx1"/>
                </a:solidFill>
                <a:latin typeface="Courier New" pitchFamily="49" charset="0"/>
                <a:cs typeface="Courier New" pitchFamily="49" charset="0"/>
              </a:rPr>
              <a:t>            }  </a:t>
            </a:r>
          </a:p>
          <a:p>
            <a:r>
              <a:rPr lang="en-IN" sz="1793" b="1" dirty="0">
                <a:solidFill>
                  <a:schemeClr val="tx1"/>
                </a:solidFill>
                <a:latin typeface="Courier New" pitchFamily="49" charset="0"/>
                <a:cs typeface="Courier New" pitchFamily="49" charset="0"/>
              </a:rPr>
              <a:t>            </a:t>
            </a:r>
            <a:r>
              <a:rPr lang="en-IN" sz="1793" b="1" dirty="0" err="1">
                <a:solidFill>
                  <a:schemeClr val="tx1"/>
                </a:solidFill>
                <a:latin typeface="Courier New" pitchFamily="49" charset="0"/>
                <a:cs typeface="Courier New" pitchFamily="49" charset="0"/>
              </a:rPr>
              <a:t>Console.Read</a:t>
            </a:r>
            <a:r>
              <a:rPr lang="en-IN" sz="1793" b="1" dirty="0">
                <a:solidFill>
                  <a:schemeClr val="tx1"/>
                </a:solidFill>
                <a:latin typeface="Courier New" pitchFamily="49" charset="0"/>
                <a:cs typeface="Courier New" pitchFamily="49" charset="0"/>
              </a:rPr>
              <a:t>();  </a:t>
            </a:r>
          </a:p>
          <a:p>
            <a:r>
              <a:rPr lang="en-IN" sz="1793" b="1" dirty="0">
                <a:solidFill>
                  <a:schemeClr val="tx1"/>
                </a:solidFill>
                <a:latin typeface="Courier New" pitchFamily="49" charset="0"/>
                <a:cs typeface="Courier New" pitchFamily="49" charset="0"/>
              </a:rPr>
              <a:t>        }  </a:t>
            </a:r>
          </a:p>
          <a:p>
            <a:r>
              <a:rPr lang="en-IN" sz="1793" b="1" dirty="0">
                <a:solidFill>
                  <a:schemeClr val="tx1"/>
                </a:solidFill>
                <a:latin typeface="Courier New" pitchFamily="49" charset="0"/>
                <a:cs typeface="Courier New" pitchFamily="49" charset="0"/>
              </a:rPr>
              <a:t>    }  </a:t>
            </a:r>
          </a:p>
        </p:txBody>
      </p:sp>
    </p:spTree>
    <p:extLst>
      <p:ext uri="{BB962C8B-B14F-4D97-AF65-F5344CB8AC3E}">
        <p14:creationId xmlns:p14="http://schemas.microsoft.com/office/powerpoint/2010/main" val="3022313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3107</TotalTime>
  <Words>655</Words>
  <Application>Microsoft Office PowerPoint</Application>
  <PresentationFormat>Widescreen</PresentationFormat>
  <Paragraphs>127</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Courier New</vt:lpstr>
      <vt:lpstr>Wingdings</vt:lpstr>
      <vt:lpstr>Office Theme</vt:lpstr>
      <vt:lpstr>Day-4</vt:lpstr>
      <vt:lpstr>Interfaces</vt:lpstr>
      <vt:lpstr>Interfaces</vt:lpstr>
      <vt:lpstr>Interfaces</vt:lpstr>
      <vt:lpstr>Delegates</vt:lpstr>
      <vt:lpstr>Multicasting</vt:lpstr>
      <vt:lpstr>PowerPoint Presentation</vt:lpstr>
      <vt:lpstr>PowerPoint Presentation</vt:lpstr>
      <vt:lpstr>PowerPoint Presentation</vt:lpstr>
      <vt:lpstr>Exception Handling in C#</vt:lpstr>
      <vt:lpstr>Exception Handling in C#</vt:lpstr>
      <vt:lpstr>The System.Exception class</vt:lpstr>
      <vt:lpstr>Using try and catch</vt:lpstr>
      <vt:lpstr>PowerPoint Presentation</vt:lpstr>
      <vt:lpstr>Using Multiple catch Statements</vt:lpstr>
      <vt:lpstr>Catching All Exceptions</vt:lpstr>
      <vt:lpstr>Nesting try Blocks</vt:lpstr>
      <vt:lpstr>Throwing an Exception</vt:lpstr>
      <vt:lpstr>PowerPoint Presentation</vt:lpstr>
      <vt:lpstr>Using Finally</vt:lpstr>
      <vt:lpstr>Using Finally</vt:lpstr>
      <vt:lpstr>Using Finally</vt:lpstr>
      <vt:lpstr>User Defined Exception</vt:lpstr>
      <vt:lpstr>User Defined Exception</vt:lpstr>
      <vt:lpstr>User Defined Exception</vt:lpstr>
      <vt:lpstr>User Defined Exception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Day-3</dc:title>
  <dc:creator>Windows User</dc:creator>
  <cp:lastModifiedBy>Microsoft account</cp:lastModifiedBy>
  <cp:revision>7</cp:revision>
  <dcterms:created xsi:type="dcterms:W3CDTF">2021-09-30T02:13:35Z</dcterms:created>
  <dcterms:modified xsi:type="dcterms:W3CDTF">2026-02-19T12:34:30Z</dcterms:modified>
</cp:coreProperties>
</file>