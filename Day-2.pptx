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92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6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47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3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9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8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52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3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34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0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33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3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 smtClean="0"/>
              <a:t>Day-2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Data Types and Arrays in C</a:t>
            </a:r>
            <a:r>
              <a:rPr lang="en-US" dirty="0" smtClean="0"/>
              <a:t># And </a:t>
            </a:r>
            <a:endParaRPr lang="en-US" dirty="0"/>
          </a:p>
          <a:p>
            <a:r>
              <a:rPr lang="en-US" dirty="0" smtClean="0"/>
              <a:t>OOP </a:t>
            </a:r>
            <a:r>
              <a:rPr lang="en-US" dirty="0"/>
              <a:t>with C#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965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Data Types in C#</a:t>
            </a:r>
          </a:p>
          <a:p>
            <a:r>
              <a:rPr lang="en-IN" dirty="0"/>
              <a:t>Value Types and Reference Types</a:t>
            </a:r>
          </a:p>
          <a:p>
            <a:r>
              <a:rPr lang="en-IN" dirty="0" smtClean="0"/>
              <a:t>Single </a:t>
            </a:r>
            <a:r>
              <a:rPr lang="en-IN" dirty="0"/>
              <a:t>Dimensional, Multi-Dimensional &amp; Jagged arrays</a:t>
            </a:r>
          </a:p>
          <a:p>
            <a:r>
              <a:rPr lang="en-IN" dirty="0" err="1"/>
              <a:t>Nullable</a:t>
            </a:r>
            <a:r>
              <a:rPr lang="en-IN" dirty="0"/>
              <a:t> Types</a:t>
            </a:r>
          </a:p>
          <a:p>
            <a:r>
              <a:rPr lang="en-IN" dirty="0"/>
              <a:t>Implicitly Typed Local </a:t>
            </a:r>
            <a:r>
              <a:rPr lang="en-IN" dirty="0" smtClean="0"/>
              <a:t>variables</a:t>
            </a:r>
          </a:p>
          <a:p>
            <a:r>
              <a:rPr lang="en-US" dirty="0"/>
              <a:t>Classes and Objects</a:t>
            </a:r>
          </a:p>
          <a:p>
            <a:r>
              <a:rPr lang="en-US" dirty="0"/>
              <a:t>Constructors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Objective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327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Structures in C#</a:t>
            </a:r>
          </a:p>
          <a:p>
            <a:r>
              <a:rPr lang="en-US" dirty="0" smtClean="0"/>
              <a:t>Inheritance</a:t>
            </a:r>
            <a:endParaRPr lang="en-US" dirty="0"/>
          </a:p>
          <a:p>
            <a:r>
              <a:rPr lang="en-US" dirty="0"/>
              <a:t>Properties and Indexers</a:t>
            </a:r>
          </a:p>
          <a:p>
            <a:r>
              <a:rPr lang="en-US" dirty="0"/>
              <a:t>Concept of Function </a:t>
            </a:r>
            <a:r>
              <a:rPr lang="en-US" dirty="0" smtClean="0"/>
              <a:t>Overloading &amp; Overriding</a:t>
            </a:r>
            <a:endParaRPr lang="en-US" dirty="0"/>
          </a:p>
          <a:p>
            <a:r>
              <a:rPr lang="en-US" dirty="0"/>
              <a:t>Abstract Class, Virtual and Abstract Methods Sealed Class</a:t>
            </a:r>
          </a:p>
          <a:p>
            <a:r>
              <a:rPr lang="en-US" dirty="0"/>
              <a:t>Interfaces</a:t>
            </a:r>
          </a:p>
          <a:p>
            <a:r>
              <a:rPr lang="en-US" dirty="0"/>
              <a:t>Method Parameters (out, </a:t>
            </a:r>
            <a:r>
              <a:rPr lang="en-US" dirty="0" smtClean="0"/>
              <a:t>ref)</a:t>
            </a:r>
            <a:endParaRPr lang="en-US" dirty="0"/>
          </a:p>
          <a:p>
            <a:r>
              <a:rPr lang="en-US" dirty="0"/>
              <a:t>Object Initializers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556148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C# is a strongly-typed language.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Types in C#</a:t>
            </a:r>
          </a:p>
        </p:txBody>
      </p:sp>
      <p:pic>
        <p:nvPicPr>
          <p:cNvPr id="4" name="Picture 2" descr="C# Data Typ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3448" y="2502760"/>
            <a:ext cx="10273142" cy="35258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9081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932267" y="1412396"/>
          <a:ext cx="10184028" cy="5350153"/>
        </p:xfrm>
        <a:graphic>
          <a:graphicData uri="http://schemas.openxmlformats.org/drawingml/2006/table">
            <a:tbl>
              <a:tblPr/>
              <a:tblGrid>
                <a:gridCol w="13525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715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5993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6109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37514" marR="37514" marT="18681" marB="18681" anchor="b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A9E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37514" marR="37514" marT="18681" marB="18681" anchor="b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A9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 marL="37514" marR="37514" marT="18681" marB="18681" anchor="b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A9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0578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rgbClr val="414141"/>
                          </a:solidFill>
                        </a:rPr>
                        <a:t>byte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414141"/>
                          </a:solidFill>
                        </a:rPr>
                        <a:t>8-bit unsigned integer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414141"/>
                          </a:solidFill>
                        </a:rPr>
                        <a:t>0 to 255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0578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 err="1">
                          <a:solidFill>
                            <a:srgbClr val="414141"/>
                          </a:solidFill>
                        </a:rPr>
                        <a:t>sbyte</a:t>
                      </a:r>
                      <a:endParaRPr lang="en-US" sz="1800" b="1" dirty="0">
                        <a:solidFill>
                          <a:srgbClr val="414141"/>
                        </a:solidFill>
                      </a:endParaRP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414141"/>
                          </a:solidFill>
                        </a:rPr>
                        <a:t>8-bit signed integer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414141"/>
                          </a:solidFill>
                        </a:rPr>
                        <a:t>-128 to 127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0578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rgbClr val="414141"/>
                          </a:solidFill>
                        </a:rPr>
                        <a:t>short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414141"/>
                          </a:solidFill>
                        </a:rPr>
                        <a:t>16-bit signed integer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-32,768 to 32,767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0578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 err="1">
                          <a:solidFill>
                            <a:srgbClr val="414141"/>
                          </a:solidFill>
                        </a:rPr>
                        <a:t>ushort</a:t>
                      </a:r>
                      <a:endParaRPr lang="en-US" sz="1800" b="1" dirty="0">
                        <a:solidFill>
                          <a:srgbClr val="414141"/>
                        </a:solidFill>
                      </a:endParaRP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414141"/>
                          </a:solidFill>
                        </a:rPr>
                        <a:t>16-bit unsigned integer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414141"/>
                          </a:solidFill>
                        </a:rPr>
                        <a:t>0 to 65,535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0578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 err="1">
                          <a:solidFill>
                            <a:srgbClr val="414141"/>
                          </a:solidFill>
                        </a:rPr>
                        <a:t>int</a:t>
                      </a:r>
                      <a:endParaRPr lang="en-US" sz="1800" b="1" dirty="0">
                        <a:solidFill>
                          <a:srgbClr val="414141"/>
                        </a:solidFill>
                      </a:endParaRP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32-bit signed integer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-</a:t>
                      </a:r>
                      <a:r>
                        <a:rPr lang="en-US" sz="1600" dirty="0" smtClean="0">
                          <a:solidFill>
                            <a:srgbClr val="414141"/>
                          </a:solidFill>
                        </a:rPr>
                        <a:t>2,147,483,648</a:t>
                      </a:r>
                      <a:r>
                        <a:rPr lang="en-US" sz="1600" baseline="0" dirty="0" smtClean="0">
                          <a:solidFill>
                            <a:srgbClr val="414141"/>
                          </a:solidFill>
                        </a:rPr>
                        <a:t>  </a:t>
                      </a:r>
                      <a:r>
                        <a:rPr lang="en-US" sz="1600" dirty="0" smtClean="0">
                          <a:solidFill>
                            <a:srgbClr val="414141"/>
                          </a:solidFill>
                        </a:rPr>
                        <a:t>to</a:t>
                      </a:r>
                      <a:r>
                        <a:rPr lang="en-US" sz="1600" baseline="0" dirty="0" smtClean="0">
                          <a:solidFill>
                            <a:srgbClr val="414141"/>
                          </a:solidFill>
                        </a:rPr>
                        <a:t>    </a:t>
                      </a:r>
                      <a:r>
                        <a:rPr lang="en-US" sz="1600" dirty="0" smtClean="0">
                          <a:solidFill>
                            <a:srgbClr val="414141"/>
                          </a:solidFill>
                        </a:rPr>
                        <a:t>2,147,483,647</a:t>
                      </a:r>
                      <a:endParaRPr lang="en-US" sz="1600" dirty="0">
                        <a:solidFill>
                          <a:srgbClr val="414141"/>
                        </a:solidFill>
                      </a:endParaRP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10578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 err="1">
                          <a:solidFill>
                            <a:srgbClr val="414141"/>
                          </a:solidFill>
                        </a:rPr>
                        <a:t>uint</a:t>
                      </a:r>
                      <a:endParaRPr lang="en-US" sz="1800" b="1" dirty="0">
                        <a:solidFill>
                          <a:srgbClr val="414141"/>
                        </a:solidFill>
                      </a:endParaRP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32-bit unsigned integer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414141"/>
                          </a:solidFill>
                        </a:rPr>
                        <a:t>0 to 4,294,967,295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23081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 smtClean="0">
                          <a:solidFill>
                            <a:srgbClr val="414141"/>
                          </a:solidFill>
                        </a:rPr>
                        <a:t>Long</a:t>
                      </a:r>
                      <a:endParaRPr lang="en-US" sz="1800" b="1" dirty="0">
                        <a:solidFill>
                          <a:srgbClr val="414141"/>
                        </a:solidFill>
                      </a:endParaRP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64-bit signed integer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-</a:t>
                      </a:r>
                      <a:r>
                        <a:rPr lang="en-US" sz="1600" dirty="0" smtClean="0">
                          <a:solidFill>
                            <a:srgbClr val="414141"/>
                          </a:solidFill>
                        </a:rPr>
                        <a:t>9,223,372,036,854,775,808  to</a:t>
                      </a:r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/>
                      </a:r>
                      <a:br>
                        <a:rPr lang="en-US" sz="1600" dirty="0">
                          <a:solidFill>
                            <a:srgbClr val="414141"/>
                          </a:solidFill>
                        </a:rPr>
                      </a:br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9,223,372,036,854,775,807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81269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 err="1">
                          <a:solidFill>
                            <a:srgbClr val="414141"/>
                          </a:solidFill>
                        </a:rPr>
                        <a:t>ulong</a:t>
                      </a:r>
                      <a:endParaRPr lang="en-US" sz="1800" b="1" dirty="0">
                        <a:solidFill>
                          <a:srgbClr val="414141"/>
                        </a:solidFill>
                      </a:endParaRP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64-bit unsigned integer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0 to 18,446,744,073,709,551,615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82247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rgbClr val="414141"/>
                          </a:solidFill>
                        </a:rPr>
                        <a:t>float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414141"/>
                          </a:solidFill>
                        </a:rPr>
                        <a:t>32-bit Single-precision floating point type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-3.402823e38 to 3.402823e38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82247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rgbClr val="414141"/>
                          </a:solidFill>
                        </a:rPr>
                        <a:t>double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64-bit double-precision floating point type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-1.79769313486232e308 to 1.79769313486232e308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523081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rgbClr val="414141"/>
                          </a:solidFill>
                        </a:rPr>
                        <a:t>decimal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128-bit decimal type for financial and monetary calculations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(+ or -)1.0 x </a:t>
                      </a:r>
                      <a:r>
                        <a:rPr lang="en-US" sz="1600" dirty="0" smtClean="0">
                          <a:solidFill>
                            <a:srgbClr val="414141"/>
                          </a:solidFill>
                        </a:rPr>
                        <a:t>10e-28 to</a:t>
                      </a:r>
                      <a:r>
                        <a:rPr lang="en-US" sz="1600" baseline="0" dirty="0" smtClean="0">
                          <a:solidFill>
                            <a:srgbClr val="414141"/>
                          </a:solidFill>
                        </a:rPr>
                        <a:t> </a:t>
                      </a:r>
                      <a:r>
                        <a:rPr lang="en-US" sz="1600" dirty="0" smtClean="0">
                          <a:solidFill>
                            <a:srgbClr val="414141"/>
                          </a:solidFill>
                        </a:rPr>
                        <a:t>7.9 </a:t>
                      </a:r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x 10e28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523081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rgbClr val="414141"/>
                          </a:solidFill>
                        </a:rPr>
                        <a:t>char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414141"/>
                          </a:solidFill>
                        </a:rPr>
                        <a:t>16-bit single Unicode character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Any valid character, e.g. a,*, \x0058 (hex), or\u0058 (Unicode)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10578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 err="1">
                          <a:solidFill>
                            <a:srgbClr val="414141"/>
                          </a:solidFill>
                        </a:rPr>
                        <a:t>bool</a:t>
                      </a:r>
                      <a:endParaRPr lang="en-US" sz="1800" b="1" dirty="0">
                        <a:solidFill>
                          <a:srgbClr val="414141"/>
                        </a:solidFill>
                      </a:endParaRP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8-bit logical true/false value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414141"/>
                          </a:solidFill>
                        </a:rPr>
                        <a:t>True or False</a:t>
                      </a:r>
                    </a:p>
                  </a:txBody>
                  <a:tcPr marL="37514" marR="37514" marT="18681" marB="18681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Types in C#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3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Types in C#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754" y="1832072"/>
            <a:ext cx="6871062" cy="43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2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data type is a value type if it holds a data value within its own memory space. It means variables of these data types directly contain their values.</a:t>
            </a:r>
          </a:p>
          <a:p>
            <a:r>
              <a:rPr lang="en-US" dirty="0"/>
              <a:t>A reference type doesn't store its value directly. Instead, it stores the address where the value is being stored. In other words, a reference type contains a pointer to another memory location that holds the data.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Value Types and Reference Types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017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Types</a:t>
            </a:r>
            <a:endParaRPr lang="en-US" dirty="0"/>
          </a:p>
        </p:txBody>
      </p:sp>
      <p:pic>
        <p:nvPicPr>
          <p:cNvPr id="184321" name="Picture 1" descr="D:\Benhar\ODL Technical Training\C# OOPs\04-ValueTyp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9460" y="2497578"/>
            <a:ext cx="9121015" cy="30121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230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Types</a:t>
            </a:r>
            <a:endParaRPr lang="en-US" dirty="0"/>
          </a:p>
        </p:txBody>
      </p:sp>
      <p:pic>
        <p:nvPicPr>
          <p:cNvPr id="185347" name="Picture 3" descr="D:\Benhar\ODL Technical Training\C# OOPs\05-ReferenceTyp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70" y="2417515"/>
            <a:ext cx="9451728" cy="30913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2621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Implicit conversions are easier to use and understand. For example, assigning an integer to a double is implicit conversion and of course there is no data loss</a:t>
            </a:r>
            <a:r>
              <a:rPr lang="en-US" dirty="0" smtClean="0"/>
              <a:t>.</a:t>
            </a:r>
          </a:p>
          <a:p>
            <a:r>
              <a:rPr lang="en-IN" dirty="0" smtClean="0"/>
              <a:t>For Example:</a:t>
            </a:r>
          </a:p>
          <a:p>
            <a:pPr lvl="1"/>
            <a:r>
              <a:rPr lang="nn-NO" b="1" dirty="0"/>
              <a:t>int</a:t>
            </a:r>
            <a:r>
              <a:rPr lang="nn-NO" dirty="0"/>
              <a:t> val1 = 10;  </a:t>
            </a:r>
          </a:p>
          <a:p>
            <a:pPr lvl="1"/>
            <a:r>
              <a:rPr lang="nn-NO" b="1" dirty="0"/>
              <a:t>double</a:t>
            </a:r>
            <a:r>
              <a:rPr lang="nn-NO" dirty="0"/>
              <a:t> val2 </a:t>
            </a:r>
            <a:r>
              <a:rPr lang="nn-NO" dirty="0" smtClean="0"/>
              <a:t>= val1; </a:t>
            </a:r>
            <a:r>
              <a:rPr lang="nn-NO" dirty="0" smtClean="0">
                <a:solidFill>
                  <a:schemeClr val="accent1"/>
                </a:solidFill>
                <a:sym typeface="Wingdings" pitchFamily="2" charset="2"/>
              </a:rPr>
              <a:t> </a:t>
            </a:r>
            <a:r>
              <a:rPr lang="nn-NO" b="1" dirty="0" smtClean="0">
                <a:solidFill>
                  <a:schemeClr val="accent1"/>
                </a:solidFill>
                <a:sym typeface="Wingdings" pitchFamily="2" charset="2"/>
              </a:rPr>
              <a:t>Implicit</a:t>
            </a:r>
            <a:r>
              <a:rPr lang="nn-NO" dirty="0" smtClean="0">
                <a:solidFill>
                  <a:schemeClr val="accent1"/>
                </a:solidFill>
                <a:sym typeface="Wingdings" pitchFamily="2" charset="2"/>
              </a:rPr>
              <a:t> </a:t>
            </a:r>
            <a:br>
              <a:rPr lang="nn-NO" dirty="0" smtClean="0">
                <a:solidFill>
                  <a:schemeClr val="accent1"/>
                </a:solidFill>
                <a:sym typeface="Wingdings" pitchFamily="2" charset="2"/>
              </a:rPr>
            </a:br>
            <a:r>
              <a:rPr lang="nn-NO" dirty="0" smtClean="0">
                <a:solidFill>
                  <a:schemeClr val="accent1"/>
                </a:solidFill>
                <a:sym typeface="Wingdings" pitchFamily="2" charset="2"/>
              </a:rPr>
              <a:t>                                    conversion</a:t>
            </a:r>
            <a:endParaRPr lang="nn-NO" dirty="0">
              <a:solidFill>
                <a:schemeClr val="accent1"/>
              </a:solidFill>
            </a:endParaRP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Implicit </a:t>
            </a:r>
            <a:r>
              <a:rPr lang="en-IN" dirty="0" smtClean="0"/>
              <a:t>Conversions</a:t>
            </a:r>
            <a:endParaRPr lang="en-IN" dirty="0"/>
          </a:p>
        </p:txBody>
      </p:sp>
      <p:pic>
        <p:nvPicPr>
          <p:cNvPr id="1026" name="Picture 2" descr="Box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15" y="3572437"/>
            <a:ext cx="3955947" cy="2567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38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Converting </a:t>
            </a:r>
            <a:r>
              <a:rPr lang="en-US" dirty="0"/>
              <a:t>from double to </a:t>
            </a:r>
            <a:r>
              <a:rPr lang="en-US" dirty="0" err="1"/>
              <a:t>int</a:t>
            </a:r>
            <a:r>
              <a:rPr lang="en-US" dirty="0"/>
              <a:t> is not allowed without type casting. It is called explicit type casting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For Example:</a:t>
            </a:r>
          </a:p>
          <a:p>
            <a:pPr lvl="1"/>
            <a:r>
              <a:rPr lang="en-IN" b="1" dirty="0" err="1"/>
              <a:t>int</a:t>
            </a:r>
            <a:r>
              <a:rPr lang="en-IN" dirty="0"/>
              <a:t> val1 = 10;  </a:t>
            </a:r>
          </a:p>
          <a:p>
            <a:pPr lvl="1"/>
            <a:r>
              <a:rPr lang="en-IN" b="1" dirty="0"/>
              <a:t>double</a:t>
            </a:r>
            <a:r>
              <a:rPr lang="en-IN" dirty="0"/>
              <a:t> val2 =val1;  </a:t>
            </a:r>
          </a:p>
          <a:p>
            <a:pPr lvl="1"/>
            <a:r>
              <a:rPr lang="en-IN" b="1" dirty="0" err="1"/>
              <a:t>int</a:t>
            </a:r>
            <a:r>
              <a:rPr lang="en-IN" dirty="0"/>
              <a:t> val3 = (</a:t>
            </a:r>
            <a:r>
              <a:rPr lang="en-IN" b="1" dirty="0" err="1"/>
              <a:t>int</a:t>
            </a:r>
            <a:r>
              <a:rPr lang="en-IN" dirty="0"/>
              <a:t>) val2</a:t>
            </a:r>
            <a:r>
              <a:rPr lang="en-IN" dirty="0" smtClean="0"/>
              <a:t>; </a:t>
            </a:r>
            <a:r>
              <a:rPr lang="nn-NO" dirty="0">
                <a:solidFill>
                  <a:schemeClr val="accent1"/>
                </a:solidFill>
                <a:sym typeface="Wingdings" pitchFamily="2" charset="2"/>
              </a:rPr>
              <a:t> </a:t>
            </a:r>
            <a:r>
              <a:rPr lang="nn-NO" b="1" dirty="0" smtClean="0">
                <a:solidFill>
                  <a:schemeClr val="accent1"/>
                </a:solidFill>
                <a:sym typeface="Wingdings" pitchFamily="2" charset="2"/>
              </a:rPr>
              <a:t>Explicit</a:t>
            </a:r>
            <a:r>
              <a:rPr lang="nn-NO" dirty="0">
                <a:solidFill>
                  <a:schemeClr val="accent1"/>
                </a:solidFill>
                <a:sym typeface="Wingdings" pitchFamily="2" charset="2"/>
              </a:rPr>
              <a:t/>
            </a:r>
            <a:br>
              <a:rPr lang="nn-NO" dirty="0">
                <a:solidFill>
                  <a:schemeClr val="accent1"/>
                </a:solidFill>
                <a:sym typeface="Wingdings" pitchFamily="2" charset="2"/>
              </a:rPr>
            </a:br>
            <a:r>
              <a:rPr lang="nn-NO" dirty="0">
                <a:solidFill>
                  <a:schemeClr val="accent1"/>
                </a:solidFill>
                <a:sym typeface="Wingdings" pitchFamily="2" charset="2"/>
              </a:rPr>
              <a:t>                                    conversion</a:t>
            </a:r>
            <a:endParaRPr lang="en-IN" dirty="0">
              <a:solidFill>
                <a:schemeClr val="accent1"/>
              </a:solidFill>
            </a:endParaRP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Explicit </a:t>
            </a:r>
            <a:r>
              <a:rPr lang="en-IN" dirty="0"/>
              <a:t>Conversions</a:t>
            </a:r>
          </a:p>
        </p:txBody>
      </p:sp>
      <p:pic>
        <p:nvPicPr>
          <p:cNvPr id="2050" name="Picture 2" descr="Unbox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341" y="3138789"/>
            <a:ext cx="4724402" cy="305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99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basic difference between type conversion and type casting, i.e. type conversion is made “automatically” by compiler whereas, type casting is to be “explicitly done” by the programmer.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 Casting and Type </a:t>
            </a:r>
            <a:r>
              <a:rPr lang="en-US" dirty="0" smtClean="0"/>
              <a:t>Conversion</a:t>
            </a:r>
            <a:endParaRPr lang="en-IN" dirty="0"/>
          </a:p>
        </p:txBody>
      </p:sp>
      <p:pic>
        <p:nvPicPr>
          <p:cNvPr id="3074" name="Picture 2" descr="Binding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971" y="3644155"/>
            <a:ext cx="4899750" cy="208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087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value </a:t>
            </a:r>
            <a:r>
              <a:rPr lang="en-US" dirty="0"/>
              <a:t>type cannot be assigned a null value.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 </a:t>
            </a:r>
            <a:r>
              <a:rPr lang="en-US" i="1" dirty="0" err="1"/>
              <a:t>int</a:t>
            </a:r>
            <a:r>
              <a:rPr lang="en-US" i="1" dirty="0"/>
              <a:t> </a:t>
            </a:r>
            <a:r>
              <a:rPr lang="en-US" i="1" dirty="0" smtClean="0"/>
              <a:t>b2 </a:t>
            </a:r>
            <a:r>
              <a:rPr lang="en-US" i="1" dirty="0"/>
              <a:t>= null</a:t>
            </a:r>
            <a:r>
              <a:rPr lang="en-US" dirty="0"/>
              <a:t> will give you a compile time error</a:t>
            </a:r>
            <a:r>
              <a:rPr lang="en-US" dirty="0" smtClean="0"/>
              <a:t>.</a:t>
            </a:r>
          </a:p>
          <a:p>
            <a:r>
              <a:rPr lang="en-US" dirty="0"/>
              <a:t>A </a:t>
            </a:r>
            <a:r>
              <a:rPr lang="en-US" dirty="0" err="1"/>
              <a:t>Nullable</a:t>
            </a:r>
            <a:r>
              <a:rPr lang="en-US" dirty="0"/>
              <a:t> type can be created as </a:t>
            </a:r>
            <a:r>
              <a:rPr lang="en-US" dirty="0" err="1"/>
              <a:t>Nullable</a:t>
            </a:r>
            <a:r>
              <a:rPr lang="en-US" dirty="0"/>
              <a:t>&lt;T&gt;. The T here is the type that cannot have null values.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type </a:t>
            </a:r>
            <a:r>
              <a:rPr lang="en-US" dirty="0" err="1"/>
              <a:t>Nullable</a:t>
            </a:r>
            <a:r>
              <a:rPr lang="en-US" dirty="0"/>
              <a:t>&lt;T&gt; will either have a null value or any possible value that T can have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 Exa</a:t>
            </a:r>
            <a:r>
              <a:rPr lang="en-US" dirty="0"/>
              <a:t>mple, </a:t>
            </a:r>
            <a:r>
              <a:rPr lang="en-US" dirty="0" err="1" smtClean="0"/>
              <a:t>Nullable</a:t>
            </a:r>
            <a:r>
              <a:rPr lang="en-US" dirty="0" smtClean="0"/>
              <a:t>&lt;T&gt; </a:t>
            </a:r>
            <a:r>
              <a:rPr lang="en-US" dirty="0"/>
              <a:t>b2 = null</a:t>
            </a:r>
            <a:r>
              <a:rPr lang="en-US" dirty="0" smtClean="0"/>
              <a:t>;</a:t>
            </a:r>
          </a:p>
          <a:p>
            <a:r>
              <a:rPr lang="en-US" dirty="0"/>
              <a:t>Instead of writing </a:t>
            </a:r>
            <a:r>
              <a:rPr lang="en-US" dirty="0" err="1"/>
              <a:t>Nullable</a:t>
            </a:r>
            <a:r>
              <a:rPr lang="en-US" dirty="0"/>
              <a:t>&lt;T&gt; every time, we can use the shorthand version for creating The </a:t>
            </a:r>
            <a:r>
              <a:rPr lang="en-US" dirty="0" err="1"/>
              <a:t>Nullable</a:t>
            </a:r>
            <a:r>
              <a:rPr lang="en-US" dirty="0"/>
              <a:t> types as T? t.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Nullable</a:t>
            </a:r>
            <a:r>
              <a:rPr lang="en-IN" dirty="0"/>
              <a:t> Types</a:t>
            </a:r>
          </a:p>
        </p:txBody>
      </p:sp>
    </p:spTree>
    <p:extLst>
      <p:ext uri="{BB962C8B-B14F-4D97-AF65-F5344CB8AC3E}">
        <p14:creationId xmlns:p14="http://schemas.microsoft.com/office/powerpoint/2010/main" val="341928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Nullable</a:t>
            </a:r>
            <a:r>
              <a:rPr lang="en-IN" dirty="0"/>
              <a:t>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24747" y="1851195"/>
            <a:ext cx="7917182" cy="420265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Using System;</a:t>
            </a:r>
          </a:p>
          <a:p>
            <a:r>
              <a:rPr lang="en-IN" sz="1793" dirty="0"/>
              <a:t> </a:t>
            </a:r>
            <a:r>
              <a:rPr lang="en-IN" sz="1793" b="1" dirty="0">
                <a:latin typeface="Courier New" pitchFamily="49" charset="0"/>
                <a:cs typeface="Courier New" pitchFamily="49" charset="0"/>
              </a:rPr>
              <a:t>class Program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        static void Main(string[] </a:t>
            </a:r>
            <a:r>
              <a:rPr lang="en-IN" sz="1793" b="1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IN" sz="1793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IN" sz="1793" b="1" dirty="0" err="1">
                <a:latin typeface="Courier New" pitchFamily="49" charset="0"/>
                <a:cs typeface="Courier New" pitchFamily="49" charset="0"/>
              </a:rPr>
              <a:t>DateTime</a:t>
            </a:r>
            <a:r>
              <a:rPr lang="en-IN" sz="1793" b="1" dirty="0">
                <a:latin typeface="Courier New" pitchFamily="49" charset="0"/>
                <a:cs typeface="Courier New" pitchFamily="49" charset="0"/>
              </a:rPr>
              <a:t>? </a:t>
            </a:r>
            <a:r>
              <a:rPr lang="en-IN" sz="1793" b="1" dirty="0" err="1">
                <a:latin typeface="Courier New" pitchFamily="49" charset="0"/>
                <a:cs typeface="Courier New" pitchFamily="49" charset="0"/>
              </a:rPr>
              <a:t>dt</a:t>
            </a:r>
            <a:r>
              <a:rPr lang="en-IN" sz="1793" b="1" dirty="0">
                <a:latin typeface="Courier New" pitchFamily="49" charset="0"/>
                <a:cs typeface="Courier New" pitchFamily="49" charset="0"/>
              </a:rPr>
              <a:t> = null;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            	</a:t>
            </a:r>
            <a:r>
              <a:rPr lang="en-IN" sz="1793" b="1" dirty="0" err="1">
                <a:latin typeface="Courier New" pitchFamily="49" charset="0"/>
                <a:cs typeface="Courier New" pitchFamily="49" charset="0"/>
              </a:rPr>
              <a:t>dt</a:t>
            </a:r>
            <a:r>
              <a:rPr lang="en-IN" sz="1793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IN" sz="1793" b="1" dirty="0" err="1">
                <a:latin typeface="Courier New" pitchFamily="49" charset="0"/>
                <a:cs typeface="Courier New" pitchFamily="49" charset="0"/>
              </a:rPr>
              <a:t>DateTime.Now</a:t>
            </a:r>
            <a:r>
              <a:rPr lang="en-IN" sz="1793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		object o = </a:t>
            </a:r>
            <a:r>
              <a:rPr lang="en-IN" sz="1793" b="1" dirty="0" err="1">
                <a:latin typeface="Courier New" pitchFamily="49" charset="0"/>
                <a:cs typeface="Courier New" pitchFamily="49" charset="0"/>
              </a:rPr>
              <a:t>dt</a:t>
            </a:r>
            <a:r>
              <a:rPr lang="en-IN" sz="1793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            // Unboxing to a </a:t>
            </a:r>
            <a:r>
              <a:rPr lang="en-IN" sz="1793" b="1" dirty="0" err="1">
                <a:latin typeface="Courier New" pitchFamily="49" charset="0"/>
                <a:cs typeface="Courier New" pitchFamily="49" charset="0"/>
              </a:rPr>
              <a:t>nullable</a:t>
            </a:r>
            <a:endParaRPr lang="en-IN" sz="1793" b="1" dirty="0">
              <a:latin typeface="Courier New" pitchFamily="49" charset="0"/>
              <a:cs typeface="Courier New" pitchFamily="49" charset="0"/>
            </a:endParaRP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1793" b="1" dirty="0">
                <a:latin typeface="Courier New" pitchFamily="49" charset="0"/>
                <a:cs typeface="Courier New" pitchFamily="49" charset="0"/>
              </a:rPr>
              <a:t>DateTime? dt2 = o as DateTime?;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		if (dt2 != null){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	       </a:t>
            </a:r>
            <a:r>
              <a:rPr lang="en-IN" sz="1793" b="1" dirty="0" err="1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latin typeface="Courier New" pitchFamily="49" charset="0"/>
                <a:cs typeface="Courier New" pitchFamily="49" charset="0"/>
              </a:rPr>
              <a:t>(dt2.Value.ToString());}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IN" sz="1793" b="1" dirty="0" err="1"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en-IN" sz="1793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    }</a:t>
            </a:r>
            <a:endParaRPr lang="en-US" sz="1793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43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Null coalescing operator ?? will return the value of the contained T type if it has some value otherwise it will return the default </a:t>
            </a:r>
            <a:r>
              <a:rPr lang="en-US" dirty="0" smtClean="0"/>
              <a:t>value.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Nullable</a:t>
            </a:r>
            <a:r>
              <a:rPr lang="en-IN" dirty="0"/>
              <a:t> Types</a:t>
            </a:r>
          </a:p>
        </p:txBody>
      </p:sp>
    </p:spTree>
    <p:extLst>
      <p:ext uri="{BB962C8B-B14F-4D97-AF65-F5344CB8AC3E}">
        <p14:creationId xmlns:p14="http://schemas.microsoft.com/office/powerpoint/2010/main" val="123387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Nullable</a:t>
            </a:r>
            <a:r>
              <a:rPr lang="en-IN" dirty="0"/>
              <a:t>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3448" y="1851195"/>
            <a:ext cx="9025004" cy="36508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Using System;</a:t>
            </a:r>
          </a:p>
          <a:p>
            <a:r>
              <a:rPr lang="en-IN" sz="1793" dirty="0"/>
              <a:t> </a:t>
            </a:r>
            <a:r>
              <a:rPr lang="en-IN" sz="1793" b="1" dirty="0">
                <a:latin typeface="Courier New" pitchFamily="49" charset="0"/>
                <a:cs typeface="Courier New" pitchFamily="49" charset="0"/>
              </a:rPr>
              <a:t>class Program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        static void Main(string[] </a:t>
            </a:r>
            <a:r>
              <a:rPr lang="en-IN" sz="1793" b="1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IN" sz="1793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 lvl="3"/>
            <a:r>
              <a:rPr lang="en-IN" sz="1793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793" b="1" dirty="0">
                <a:latin typeface="Courier New" pitchFamily="49" charset="0"/>
                <a:cs typeface="Courier New" pitchFamily="49" charset="0"/>
              </a:rPr>
              <a:t>? j = null; </a:t>
            </a:r>
            <a:r>
              <a:rPr lang="en-IN" sz="1793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793" b="1" dirty="0">
                <a:latin typeface="Courier New" pitchFamily="49" charset="0"/>
                <a:cs typeface="Courier New" pitchFamily="49" charset="0"/>
              </a:rPr>
              <a:t>? k = 54;</a:t>
            </a:r>
          </a:p>
          <a:p>
            <a:pPr lvl="3"/>
            <a:r>
              <a:rPr lang="en-IN" sz="1793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793" b="1" dirty="0">
                <a:latin typeface="Courier New" pitchFamily="49" charset="0"/>
                <a:cs typeface="Courier New" pitchFamily="49" charset="0"/>
              </a:rPr>
              <a:t> result1 = j ?? 0;int result2 = k ?? 0;</a:t>
            </a:r>
          </a:p>
          <a:p>
            <a:pPr lvl="3"/>
            <a:r>
              <a:rPr lang="en-US" sz="1793" b="1" dirty="0">
                <a:latin typeface="Courier New" pitchFamily="49" charset="0"/>
                <a:cs typeface="Courier New" pitchFamily="49" charset="0"/>
              </a:rPr>
              <a:t>// this will print 0 and 54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("result1 = {0}, result2 = {1}", result1, result2);</a:t>
            </a:r>
          </a:p>
          <a:p>
            <a:pPr lvl="3"/>
            <a:r>
              <a:rPr lang="en-IN" sz="1793" b="1" dirty="0" err="1"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en-IN" sz="1793" b="1" dirty="0">
                <a:latin typeface="Courier New" pitchFamily="49" charset="0"/>
                <a:cs typeface="Courier New" pitchFamily="49" charset="0"/>
              </a:rPr>
              <a:t>();   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 	}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IN" sz="1793" b="1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1793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874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Single </a:t>
            </a:r>
            <a:r>
              <a:rPr lang="it-IT" dirty="0" smtClean="0"/>
              <a:t>Dimensional </a:t>
            </a:r>
            <a:r>
              <a:rPr lang="it-IT" dirty="0"/>
              <a:t>arrays</a:t>
            </a:r>
            <a:endParaRPr lang="it-IT" dirty="0" smtClean="0"/>
          </a:p>
          <a:p>
            <a:r>
              <a:rPr lang="it-IT" dirty="0" smtClean="0"/>
              <a:t>Multi-Dimensional </a:t>
            </a:r>
            <a:r>
              <a:rPr lang="it-IT" dirty="0"/>
              <a:t>arrays</a:t>
            </a:r>
            <a:r>
              <a:rPr lang="it-IT" dirty="0" smtClean="0"/>
              <a:t> </a:t>
            </a:r>
          </a:p>
          <a:p>
            <a:r>
              <a:rPr lang="it-IT" dirty="0" smtClean="0"/>
              <a:t>Jagged</a:t>
            </a:r>
            <a:r>
              <a:rPr lang="it-IT" dirty="0"/>
              <a:t> arrays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Types of arrays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488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Sort </a:t>
            </a:r>
            <a:r>
              <a:rPr lang="en-IN" dirty="0" err="1" smtClean="0"/>
              <a:t>Int</a:t>
            </a:r>
            <a:r>
              <a:rPr lang="en-IN" dirty="0" smtClean="0"/>
              <a:t> Array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219141" y="2066348"/>
            <a:ext cx="9968873" cy="38164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Using System;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Class ODLExample1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public static void Main()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intArray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[5] { 34,23,41,89,77 };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Array.Sort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intArray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       // write array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foreach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in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intArray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 	</a:t>
            </a:r>
            <a:r>
              <a:rPr lang="en-US" sz="1594" b="1" dirty="0">
                <a:latin typeface="Courier New" pitchFamily="49" charset="0"/>
                <a:cs typeface="Courier New" pitchFamily="49" charset="0"/>
              </a:rPr>
              <a:t>{</a:t>
            </a:r>
            <a:endParaRPr lang="en-US" sz="1793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Console.Write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+ " ");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}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   	}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335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Sort String Array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219141" y="2066349"/>
            <a:ext cx="9968873" cy="40647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Using System;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Class ODLExample1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public static void Main()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 string[]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stringArray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= new string[5] { "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Csharp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", "ASP.net", "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EntityFramework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", "ADO.net", "WCF" };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Array.Sort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stringArray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       // write array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foreach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(string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in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stringArray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Console.Write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+ " ");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}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   	}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7047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Statement</a:t>
            </a:r>
          </a:p>
          <a:p>
            <a:pPr lvl="1"/>
            <a:r>
              <a:rPr lang="en-US" dirty="0"/>
              <a:t>Simple If   Statement</a:t>
            </a:r>
          </a:p>
          <a:p>
            <a:pPr lvl="1"/>
            <a:r>
              <a:rPr lang="en-US" dirty="0"/>
              <a:t>If – else  Statement</a:t>
            </a:r>
          </a:p>
          <a:p>
            <a:pPr lvl="1"/>
            <a:r>
              <a:rPr lang="en-US" dirty="0"/>
              <a:t>Else – If  Statement</a:t>
            </a:r>
          </a:p>
          <a:p>
            <a:r>
              <a:rPr lang="en-US" dirty="0" smtClean="0"/>
              <a:t>Switch </a:t>
            </a:r>
            <a:r>
              <a:rPr lang="en-US" dirty="0"/>
              <a:t>Statement</a:t>
            </a:r>
          </a:p>
          <a:p>
            <a:r>
              <a:rPr lang="en-US" dirty="0"/>
              <a:t>While Loop</a:t>
            </a:r>
          </a:p>
          <a:p>
            <a:r>
              <a:rPr lang="en-US" dirty="0"/>
              <a:t>Do…While Loop</a:t>
            </a:r>
          </a:p>
          <a:p>
            <a:r>
              <a:rPr lang="en-US" dirty="0"/>
              <a:t>For Loop</a:t>
            </a:r>
          </a:p>
          <a:p>
            <a:r>
              <a:rPr lang="en-US" dirty="0" err="1"/>
              <a:t>Foreach</a:t>
            </a:r>
            <a:r>
              <a:rPr lang="en-US" dirty="0"/>
              <a:t> Loop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</a:t>
            </a:r>
            <a:r>
              <a:rPr lang="en-US" dirty="0" smtClean="0"/>
              <a:t>Statements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872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Syntax:</a:t>
            </a:r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– else  Statement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003986" y="2711816"/>
            <a:ext cx="3349536" cy="257492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if {condition}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statements;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else {condition}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statements;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sz="1793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08968" y="2232049"/>
            <a:ext cx="6096001" cy="38164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Using System;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Sampleif</a:t>
            </a:r>
            <a:endParaRPr lang="en-US" sz="1793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public static void Main()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int a = 12;</a:t>
            </a:r>
          </a:p>
          <a:p>
            <a:pPr>
              <a:lnSpc>
                <a:spcPct val="90000"/>
              </a:lnSpc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b = 10;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793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if(a&gt;b){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(“a is greater”);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else {</a:t>
            </a:r>
          </a:p>
          <a:p>
            <a:pPr>
              <a:lnSpc>
                <a:spcPct val="90000"/>
              </a:lnSpc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(“b is greater”);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793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}	}  }</a:t>
            </a:r>
          </a:p>
        </p:txBody>
      </p:sp>
    </p:spTree>
    <p:extLst>
      <p:ext uri="{BB962C8B-B14F-4D97-AF65-F5344CB8AC3E}">
        <p14:creationId xmlns:p14="http://schemas.microsoft.com/office/powerpoint/2010/main" val="122531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:</a:t>
            </a:r>
          </a:p>
          <a:p>
            <a:pPr lvl="1"/>
            <a:r>
              <a:rPr lang="en-US" dirty="0"/>
              <a:t>Leaves the switch block.</a:t>
            </a:r>
          </a:p>
          <a:p>
            <a:r>
              <a:rPr lang="en-US" dirty="0" err="1"/>
              <a:t>Goto</a:t>
            </a:r>
            <a:r>
              <a:rPr lang="en-US" dirty="0"/>
              <a:t> :</a:t>
            </a:r>
          </a:p>
          <a:p>
            <a:pPr lvl="1"/>
            <a:r>
              <a:rPr lang="en-US" dirty="0"/>
              <a:t>Leaves the switch block and jumps directly to the label of the form.</a:t>
            </a:r>
          </a:p>
          <a:p>
            <a:r>
              <a:rPr lang="en-US" dirty="0"/>
              <a:t>Default :</a:t>
            </a:r>
          </a:p>
          <a:p>
            <a:pPr lvl="1"/>
            <a:r>
              <a:rPr lang="en-US" dirty="0"/>
              <a:t>If none of the choices match , then the </a:t>
            </a:r>
            <a:r>
              <a:rPr lang="en-US" b="1" i="1" dirty="0"/>
              <a:t>default </a:t>
            </a:r>
            <a:r>
              <a:rPr lang="en-US" dirty="0"/>
              <a:t>choice statements are executed.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200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</a:t>
            </a:r>
            <a:endParaRPr lang="en-IN" dirty="0"/>
          </a:p>
        </p:txBody>
      </p:sp>
      <p:pic>
        <p:nvPicPr>
          <p:cNvPr id="4" name="Picture 6" descr="sample switch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375266" y="1832072"/>
            <a:ext cx="6786565" cy="4333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239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</a:t>
            </a:r>
            <a:endParaRPr lang="en-IN" dirty="0"/>
          </a:p>
        </p:txBody>
      </p:sp>
      <p:pic>
        <p:nvPicPr>
          <p:cNvPr id="4" name="Picture 5" descr="sample switch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479816" y="2039989"/>
            <a:ext cx="7232377" cy="39180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6973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2" y="1806050"/>
            <a:ext cx="10515601" cy="4333845"/>
          </a:xfrm>
        </p:spPr>
        <p:txBody>
          <a:bodyPr/>
          <a:lstStyle/>
          <a:p>
            <a:r>
              <a:rPr lang="en-US" dirty="0"/>
              <a:t>While loop checks the condition and then continues to evaluate the block of code until the condition evaluates to a Boolean value of true.</a:t>
            </a:r>
          </a:p>
          <a:p>
            <a:r>
              <a:rPr lang="en-IN" dirty="0" smtClean="0"/>
              <a:t>Syntax: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136870" y="4002749"/>
            <a:ext cx="3349536" cy="119550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while {condition}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statements;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181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similar to while loop , except it checks its condition at the end of the loop.</a:t>
            </a:r>
          </a:p>
          <a:p>
            <a:r>
              <a:rPr lang="en-US" dirty="0"/>
              <a:t>Even when the condition is initially false, the block runs once.</a:t>
            </a:r>
          </a:p>
          <a:p>
            <a:r>
              <a:rPr lang="en-IN" dirty="0" smtClean="0"/>
              <a:t>Syntax: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- While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975909" y="4764556"/>
            <a:ext cx="2819401" cy="11955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do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statements;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3660" y="3572437"/>
            <a:ext cx="6190144" cy="307152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Using System;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Sampledowhile</a:t>
            </a:r>
            <a:endParaRPr lang="en-US" sz="1793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public static void Main()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int a = 4;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do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(a);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	}While (a &lt; 3);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3114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Syntax:</a:t>
            </a:r>
          </a:p>
          <a:p>
            <a:endParaRPr lang="en-IN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780908" y="2783534"/>
            <a:ext cx="7696201" cy="11955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for ( (initialization) ; (condition) ; (iteration) )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Statement;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689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Syntax: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Each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936326" y="2888352"/>
            <a:ext cx="7772399" cy="11955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1793" b="1" dirty="0" err="1">
                <a:latin typeface="Courier New" pitchFamily="49" charset="0"/>
                <a:cs typeface="Courier New" pitchFamily="49" charset="0"/>
              </a:rPr>
              <a:t>foreach</a:t>
            </a:r>
            <a:r>
              <a:rPr lang="en-US" sz="1793" b="1" dirty="0">
                <a:latin typeface="Courier New" pitchFamily="49" charset="0"/>
                <a:cs typeface="Courier New" pitchFamily="49" charset="0"/>
              </a:rPr>
              <a:t> (data-type variable1 in collection-variable) 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	statement[s] ;</a:t>
            </a:r>
          </a:p>
          <a:p>
            <a:pPr>
              <a:buFont typeface="Wingdings" pitchFamily="2" charset="2"/>
              <a:buNone/>
            </a:pPr>
            <a:r>
              <a:rPr lang="en-US" sz="1793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873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a C# Sharp program that takes three letters as input and display them in reverse order.</a:t>
            </a:r>
          </a:p>
          <a:p>
            <a:r>
              <a:rPr lang="en-US" dirty="0" smtClean="0"/>
              <a:t>Test Case</a:t>
            </a:r>
          </a:p>
          <a:p>
            <a:pPr lvl="1"/>
            <a:r>
              <a:rPr lang="en-US" dirty="0" smtClean="0"/>
              <a:t>Enter letter: O</a:t>
            </a:r>
          </a:p>
          <a:p>
            <a:pPr lvl="1"/>
            <a:r>
              <a:rPr lang="en-US" dirty="0" smtClean="0"/>
              <a:t>Enter letter: D</a:t>
            </a:r>
          </a:p>
          <a:p>
            <a:pPr lvl="1"/>
            <a:r>
              <a:rPr lang="en-US" dirty="0" smtClean="0"/>
              <a:t>Enter letter: L</a:t>
            </a:r>
          </a:p>
          <a:p>
            <a:r>
              <a:rPr lang="en-US" dirty="0" smtClean="0"/>
              <a:t>Expected Output :</a:t>
            </a:r>
          </a:p>
          <a:p>
            <a:pPr lvl="1"/>
            <a:r>
              <a:rPr lang="en-US" dirty="0" smtClean="0"/>
              <a:t>L D O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C# Data Types: Exercise-1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21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Write a C# Sharp program that takes a number value as 2 and a width value as 6 also a number, as input and then displays a triangle of that width, using that number.</a:t>
            </a:r>
          </a:p>
          <a:p>
            <a:endParaRPr lang="en-IN" dirty="0" smtClean="0"/>
          </a:p>
          <a:p>
            <a:r>
              <a:rPr lang="en-IN" dirty="0" smtClean="0"/>
              <a:t>Test case:</a:t>
            </a:r>
          </a:p>
          <a:p>
            <a:pPr lvl="1"/>
            <a:r>
              <a:rPr lang="en-US" dirty="0" smtClean="0"/>
              <a:t>Enter a number: 6</a:t>
            </a:r>
          </a:p>
          <a:p>
            <a:pPr lvl="1"/>
            <a:r>
              <a:rPr lang="en-US" dirty="0" smtClean="0"/>
              <a:t>Enter the desired width: 6</a:t>
            </a:r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C# Data Types: Exercise-2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74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Expected Output :</a:t>
            </a:r>
          </a:p>
          <a:p>
            <a:pPr lvl="1"/>
            <a:r>
              <a:rPr lang="en-US" dirty="0" smtClean="0"/>
              <a:t>666666 </a:t>
            </a:r>
          </a:p>
          <a:p>
            <a:pPr lvl="1"/>
            <a:r>
              <a:rPr lang="en-US" dirty="0" smtClean="0"/>
              <a:t>66666 </a:t>
            </a:r>
          </a:p>
          <a:p>
            <a:pPr lvl="1"/>
            <a:r>
              <a:rPr lang="en-US" dirty="0" smtClean="0"/>
              <a:t>6666 </a:t>
            </a:r>
          </a:p>
          <a:p>
            <a:pPr lvl="1"/>
            <a:r>
              <a:rPr lang="en-US" dirty="0" smtClean="0"/>
              <a:t>666 </a:t>
            </a:r>
          </a:p>
          <a:p>
            <a:pPr lvl="1"/>
            <a:r>
              <a:rPr lang="en-US" dirty="0" smtClean="0"/>
              <a:t>66 </a:t>
            </a:r>
          </a:p>
          <a:p>
            <a:pPr lvl="1"/>
            <a:r>
              <a:rPr lang="en-US" dirty="0" smtClean="0"/>
              <a:t>6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Contd.,</a:t>
            </a:r>
          </a:p>
        </p:txBody>
      </p:sp>
    </p:spTree>
    <p:extLst>
      <p:ext uri="{BB962C8B-B14F-4D97-AF65-F5344CB8AC3E}">
        <p14:creationId xmlns:p14="http://schemas.microsoft.com/office/powerpoint/2010/main" val="161313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Write a C# Sharp program that takes two numbers as input and returns true or false when both numbers are even or odd.</a:t>
            </a:r>
          </a:p>
          <a:p>
            <a:endParaRPr lang="en-IN" dirty="0" smtClean="0"/>
          </a:p>
          <a:p>
            <a:r>
              <a:rPr lang="en-IN" dirty="0" smtClean="0"/>
              <a:t>Test Case:</a:t>
            </a:r>
          </a:p>
          <a:p>
            <a:pPr lvl="1"/>
            <a:r>
              <a:rPr lang="en-US" dirty="0" smtClean="0"/>
              <a:t>Input First number: 4 </a:t>
            </a:r>
          </a:p>
          <a:p>
            <a:pPr lvl="1"/>
            <a:r>
              <a:rPr lang="en-US" dirty="0" smtClean="0"/>
              <a:t>Input Second number: 6 </a:t>
            </a:r>
          </a:p>
          <a:p>
            <a:r>
              <a:rPr lang="en-US" dirty="0" smtClean="0"/>
              <a:t>Expected Output :</a:t>
            </a:r>
          </a:p>
          <a:p>
            <a:pPr lvl="1"/>
            <a:r>
              <a:rPr lang="en-US" dirty="0" smtClean="0"/>
              <a:t>There're numbers </a:t>
            </a:r>
            <a:r>
              <a:rPr lang="en-US" dirty="0" err="1" smtClean="0"/>
              <a:t>bothEven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C# Data Types: Exercise-3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35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934</Words>
  <Application>Microsoft Office PowerPoint</Application>
  <PresentationFormat>Widescreen</PresentationFormat>
  <Paragraphs>273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Courier New</vt:lpstr>
      <vt:lpstr>Wingdings</vt:lpstr>
      <vt:lpstr>Office Theme</vt:lpstr>
      <vt:lpstr>Day-2</vt:lpstr>
      <vt:lpstr>Objective</vt:lpstr>
      <vt:lpstr>Objective</vt:lpstr>
      <vt:lpstr>Data Types in C#</vt:lpstr>
      <vt:lpstr>Data Types in C#</vt:lpstr>
      <vt:lpstr>Data Types in C#</vt:lpstr>
      <vt:lpstr>Value Types and Reference Types</vt:lpstr>
      <vt:lpstr>Value Types</vt:lpstr>
      <vt:lpstr>Reference Types</vt:lpstr>
      <vt:lpstr>Implicit Conversions</vt:lpstr>
      <vt:lpstr>Explicit Conversions</vt:lpstr>
      <vt:lpstr>Type Casting and Type Conversion</vt:lpstr>
      <vt:lpstr>Nullable Types</vt:lpstr>
      <vt:lpstr>Nullable Types</vt:lpstr>
      <vt:lpstr>Nullable Types</vt:lpstr>
      <vt:lpstr>Nullable Types</vt:lpstr>
      <vt:lpstr>Types of arrays</vt:lpstr>
      <vt:lpstr>Sort Int Array</vt:lpstr>
      <vt:lpstr>Sort String Array</vt:lpstr>
      <vt:lpstr>Control Statements</vt:lpstr>
      <vt:lpstr>If – else  Statement</vt:lpstr>
      <vt:lpstr>Switch Statement</vt:lpstr>
      <vt:lpstr>Switch Statement</vt:lpstr>
      <vt:lpstr>Switch Statement</vt:lpstr>
      <vt:lpstr>While Loop</vt:lpstr>
      <vt:lpstr>Do - While</vt:lpstr>
      <vt:lpstr>For Loop</vt:lpstr>
      <vt:lpstr>For Each</vt:lpstr>
      <vt:lpstr>C# Data Types: Exercise-1</vt:lpstr>
      <vt:lpstr>C# Data Types: Exercise-2</vt:lpstr>
      <vt:lpstr>Contd.,</vt:lpstr>
      <vt:lpstr>C# Data Types: Exercise-3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Day-2</dc:title>
  <dc:creator>Windows User</dc:creator>
  <cp:lastModifiedBy>Microsoft account</cp:lastModifiedBy>
  <cp:revision>3</cp:revision>
  <dcterms:created xsi:type="dcterms:W3CDTF">2021-09-29T14:21:58Z</dcterms:created>
  <dcterms:modified xsi:type="dcterms:W3CDTF">2026-02-18T02:16:11Z</dcterms:modified>
</cp:coreProperties>
</file>