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92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4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3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9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5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3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0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3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AC7E0-9B9F-4E84-B83C-7A5D7983686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CFB44-200E-4412-AC77-C63CFF9B6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3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 smtClean="0"/>
              <a:t>Day-3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OOP </a:t>
            </a:r>
            <a:r>
              <a:rPr lang="en-US" dirty="0"/>
              <a:t>with C#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65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basic concepts of object oriented programming as follows: </a:t>
            </a:r>
            <a:endParaRPr lang="en-US" dirty="0" smtClean="0"/>
          </a:p>
          <a:p>
            <a:pPr lvl="1"/>
            <a:r>
              <a:rPr lang="en-IN" dirty="0" smtClean="0"/>
              <a:t>Class</a:t>
            </a:r>
            <a:endParaRPr lang="en-IN" dirty="0"/>
          </a:p>
          <a:p>
            <a:pPr lvl="1"/>
            <a:r>
              <a:rPr lang="en-IN" dirty="0" smtClean="0"/>
              <a:t>Object</a:t>
            </a:r>
            <a:endParaRPr lang="en-IN" dirty="0"/>
          </a:p>
          <a:p>
            <a:pPr lvl="1"/>
            <a:r>
              <a:rPr lang="en-IN" dirty="0" smtClean="0"/>
              <a:t>Data </a:t>
            </a:r>
            <a:r>
              <a:rPr lang="en-IN" dirty="0"/>
              <a:t>abstraction </a:t>
            </a:r>
          </a:p>
          <a:p>
            <a:pPr lvl="1"/>
            <a:r>
              <a:rPr lang="en-IN" dirty="0" smtClean="0"/>
              <a:t>Data </a:t>
            </a:r>
            <a:r>
              <a:rPr lang="en-IN" dirty="0"/>
              <a:t>encapsulation </a:t>
            </a:r>
          </a:p>
          <a:p>
            <a:pPr lvl="1"/>
            <a:r>
              <a:rPr lang="en-IN" dirty="0" smtClean="0"/>
              <a:t>Inheritance</a:t>
            </a:r>
            <a:r>
              <a:rPr lang="en-IN" dirty="0"/>
              <a:t> </a:t>
            </a:r>
          </a:p>
          <a:p>
            <a:pPr lvl="1"/>
            <a:r>
              <a:rPr lang="en-IN" dirty="0" smtClean="0"/>
              <a:t>Polymorphism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OOPs Concepts</a:t>
            </a:r>
          </a:p>
        </p:txBody>
      </p:sp>
    </p:spTree>
    <p:extLst>
      <p:ext uri="{BB962C8B-B14F-4D97-AF65-F5344CB8AC3E}">
        <p14:creationId xmlns:p14="http://schemas.microsoft.com/office/powerpoint/2010/main" val="167558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is a set of objects with similar properties (attributes), common </a:t>
            </a:r>
            <a:r>
              <a:rPr lang="en-US" dirty="0" smtClean="0"/>
              <a:t>behavior </a:t>
            </a:r>
            <a:r>
              <a:rPr lang="en-US" dirty="0"/>
              <a:t>(operations</a:t>
            </a:r>
            <a:r>
              <a:rPr lang="en-US" dirty="0" smtClean="0"/>
              <a:t>), and </a:t>
            </a:r>
            <a:r>
              <a:rPr lang="en-US" dirty="0"/>
              <a:t>common link to other </a:t>
            </a:r>
            <a:r>
              <a:rPr lang="en-US" dirty="0" smtClean="0"/>
              <a:t>objects.</a:t>
            </a:r>
          </a:p>
          <a:p>
            <a:r>
              <a:rPr lang="en-US" dirty="0"/>
              <a:t>The complete set of data and code of an object can be made a </a:t>
            </a:r>
            <a:r>
              <a:rPr lang="en-US" dirty="0" smtClean="0"/>
              <a:t> user </a:t>
            </a:r>
            <a:r>
              <a:rPr lang="en-US" dirty="0"/>
              <a:t>defined data type with the help of class. </a:t>
            </a:r>
            <a:endParaRPr lang="en-US" dirty="0" smtClean="0"/>
          </a:p>
          <a:p>
            <a:r>
              <a:rPr lang="en-US" dirty="0"/>
              <a:t>The objects are variable of type class. A class is a collection of objects of similar type</a:t>
            </a:r>
            <a:r>
              <a:rPr lang="en-US" dirty="0" smtClean="0"/>
              <a:t>.</a:t>
            </a:r>
          </a:p>
          <a:p>
            <a:r>
              <a:rPr lang="en-US" dirty="0"/>
              <a:t>Classes </a:t>
            </a:r>
            <a:r>
              <a:rPr lang="en-US" dirty="0" smtClean="0"/>
              <a:t>are </a:t>
            </a:r>
            <a:r>
              <a:rPr lang="en-US" dirty="0"/>
              <a:t>user defined data types and work like the build in type of the programming language.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259397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 </a:t>
            </a:r>
            <a:r>
              <a:rPr lang="en-US" dirty="0" smtClean="0"/>
              <a:t>the </a:t>
            </a:r>
            <a:r>
              <a:rPr lang="en-US" dirty="0"/>
              <a:t>class has been defined, we can make any number of objects belonging to that class</a:t>
            </a:r>
            <a:r>
              <a:rPr lang="en-US" dirty="0" smtClean="0"/>
              <a:t>.</a:t>
            </a:r>
          </a:p>
          <a:p>
            <a:r>
              <a:rPr lang="en-US" dirty="0"/>
              <a:t>Each </a:t>
            </a:r>
            <a:r>
              <a:rPr lang="en-US" dirty="0" smtClean="0"/>
              <a:t>object </a:t>
            </a:r>
            <a:r>
              <a:rPr lang="en-US" dirty="0"/>
              <a:t>is related with the data of type class with which they are formed. </a:t>
            </a:r>
          </a:p>
          <a:p>
            <a:r>
              <a:rPr lang="en-US" dirty="0"/>
              <a:t>The important thing about the class is to identify the properties and procedures and applicability </a:t>
            </a:r>
            <a:r>
              <a:rPr lang="en-US" dirty="0" smtClean="0"/>
              <a:t>to </a:t>
            </a:r>
            <a:r>
              <a:rPr lang="en-US" dirty="0"/>
              <a:t>its instances. 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280782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are important runtime entities in object oriented method.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may characterize a </a:t>
            </a:r>
            <a:r>
              <a:rPr lang="en-US" dirty="0" smtClean="0"/>
              <a:t>location</a:t>
            </a:r>
            <a:r>
              <a:rPr lang="en-US" dirty="0"/>
              <a:t>, a bank account, and a table of data or any entry that the program must handle. </a:t>
            </a:r>
          </a:p>
          <a:p>
            <a:r>
              <a:rPr lang="en-US" dirty="0"/>
              <a:t>Each object holds data and code to operate the data</a:t>
            </a:r>
            <a:r>
              <a:rPr lang="en-US" dirty="0" smtClean="0"/>
              <a:t>.</a:t>
            </a:r>
          </a:p>
          <a:p>
            <a:r>
              <a:rPr lang="en-US" dirty="0"/>
              <a:t>Object can interact without having to </a:t>
            </a:r>
            <a:r>
              <a:rPr lang="en-US" dirty="0" smtClean="0"/>
              <a:t>identify </a:t>
            </a:r>
            <a:r>
              <a:rPr lang="en-US" dirty="0"/>
              <a:t>the details of each other‘s data or code.</a:t>
            </a:r>
          </a:p>
          <a:p>
            <a:r>
              <a:rPr lang="en-US" dirty="0"/>
              <a:t>It is sufficient to identify the type of message received and the type of reply returned by the objects. 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36222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38203" y="1832071"/>
            <a:ext cx="5065779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public void Addition()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a = 10;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b = 20;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sum = a + b;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Console.WriteLine("Sum ="+sum);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095056" y="1848802"/>
            <a:ext cx="5238206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Demo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static void Main()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obj1 = new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obj1.Addition();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5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79476" indent="-379476"/>
            <a:r>
              <a:rPr lang="en-US" dirty="0"/>
              <a:t>Constructors and destructors are special member functions of classes that are used to construct and destroy class objects</a:t>
            </a:r>
            <a:r>
              <a:rPr lang="en-US" dirty="0" smtClean="0"/>
              <a:t>.</a:t>
            </a:r>
          </a:p>
          <a:p>
            <a:pPr marL="379476" indent="-379476"/>
            <a:r>
              <a:rPr lang="en-US" dirty="0" smtClean="0"/>
              <a:t>A </a:t>
            </a:r>
            <a:r>
              <a:rPr lang="en-US" dirty="0"/>
              <a:t>constructor initializes an object when it is created. It has the same name as its class and  is syntactically similar to a method. However, constructors have no explicit return type. </a:t>
            </a:r>
          </a:p>
          <a:p>
            <a:pPr marL="379476" indent="-379476"/>
            <a:r>
              <a:rPr lang="en-US" dirty="0"/>
              <a:t>The general form of a constructor is shown here: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 and </a:t>
            </a:r>
            <a:r>
              <a:rPr lang="en-IN" dirty="0" smtClean="0"/>
              <a:t>Destructor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900818" y="4970413"/>
            <a:ext cx="6452986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access class-name(param-list)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	// constructor code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929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3 types </a:t>
            </a:r>
            <a:r>
              <a:rPr lang="en-US" dirty="0" smtClean="0"/>
              <a:t>of </a:t>
            </a:r>
            <a:r>
              <a:rPr lang="en-IN" dirty="0" smtClean="0"/>
              <a:t>constructor</a:t>
            </a:r>
          </a:p>
          <a:p>
            <a:pPr lvl="1"/>
            <a:r>
              <a:rPr lang="en-IN" dirty="0" smtClean="0"/>
              <a:t>Static </a:t>
            </a:r>
            <a:r>
              <a:rPr lang="en-IN" dirty="0"/>
              <a:t>Constructor</a:t>
            </a:r>
          </a:p>
          <a:p>
            <a:pPr lvl="1"/>
            <a:r>
              <a:rPr lang="en-US" dirty="0" smtClean="0"/>
              <a:t>Default </a:t>
            </a:r>
            <a:r>
              <a:rPr lang="en-US" dirty="0"/>
              <a:t>constructor - takes no parameters.</a:t>
            </a:r>
          </a:p>
          <a:p>
            <a:pPr lvl="1"/>
            <a:r>
              <a:rPr lang="en-IN" dirty="0" smtClean="0"/>
              <a:t>Overloaded </a:t>
            </a:r>
            <a:r>
              <a:rPr lang="en-IN" dirty="0"/>
              <a:t>constructor - takes parameters.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</p:spTree>
    <p:extLst>
      <p:ext uri="{BB962C8B-B14F-4D97-AF65-F5344CB8AC3E}">
        <p14:creationId xmlns:p14="http://schemas.microsoft.com/office/powerpoint/2010/main" val="94385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static constructor is first called when the runtime first accesses the class. </a:t>
            </a:r>
            <a:endParaRPr lang="en-US" dirty="0" smtClean="0"/>
          </a:p>
          <a:p>
            <a:r>
              <a:rPr lang="en-US" dirty="0" smtClean="0"/>
              <a:t>Static variables are </a:t>
            </a:r>
            <a:r>
              <a:rPr lang="en-US" dirty="0"/>
              <a:t>accessible at all times, so the runtime must initialize it on its first access.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</p:spTree>
    <p:extLst>
      <p:ext uri="{BB962C8B-B14F-4D97-AF65-F5344CB8AC3E}">
        <p14:creationId xmlns:p14="http://schemas.microsoft.com/office/powerpoint/2010/main" val="117099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875625" y="1922912"/>
            <a:ext cx="5316391" cy="38395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 { get { return number; }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360298" y="1922912"/>
            <a:ext cx="4885508" cy="383950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void Main(string[]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Number = " +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.Number);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2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838205" y="1832071"/>
            <a:ext cx="4885508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 { get { return number; } 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559739" y="1832071"/>
            <a:ext cx="4794069" cy="433384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void Main(string[]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Number = " +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num.Number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56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838204" y="1832072"/>
            <a:ext cx="5113763" cy="433384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using System;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163934" indent="-227686" algn="just">
              <a:spcBef>
                <a:spcPts val="323"/>
              </a:spcBef>
              <a:buClr>
                <a:schemeClr val="accent1"/>
              </a:buClr>
              <a:buSzPct val="85000"/>
            </a:pPr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endParaRPr lang="en-US" sz="1793" b="1" noProof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793" b="1" noProof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number;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Number { get { return number; } </a:t>
            </a:r>
          </a:p>
          <a:p>
            <a:r>
              <a:rPr lang="en-US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Random();</a:t>
            </a:r>
          </a:p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seed)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Random r = new Random(seed);</a:t>
            </a:r>
          </a:p>
          <a:p>
            <a:endParaRPr lang="en-IN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167718" y="1832071"/>
            <a:ext cx="5448880" cy="43338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lvl="1"/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 =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r.Next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class Program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static void Main(string[]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Number = " +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num.Number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num1=new </a:t>
            </a:r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ODLExercise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(500);</a:t>
            </a:r>
          </a:p>
          <a:p>
            <a:pPr lvl="1"/>
            <a:r>
              <a:rPr lang="en-IN" sz="1793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("Static Speed = " +num1.Number);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IN" sz="1793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793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46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Constructors and destructors do not have return types nor can they return values</a:t>
            </a:r>
            <a:r>
              <a:rPr lang="en-US" dirty="0" smtClean="0"/>
              <a:t>.</a:t>
            </a:r>
          </a:p>
          <a:p>
            <a:r>
              <a:rPr lang="en-US" dirty="0"/>
              <a:t>References and pointers cannot be used on constructors and destructors because their addresses cannot be taken</a:t>
            </a:r>
            <a:r>
              <a:rPr lang="en-US" dirty="0" smtClean="0"/>
              <a:t>.</a:t>
            </a:r>
          </a:p>
          <a:p>
            <a:r>
              <a:rPr lang="en-US" dirty="0"/>
              <a:t>Constructors cannot be declared with the keyword virtual</a:t>
            </a:r>
            <a:r>
              <a:rPr lang="en-US" dirty="0" smtClean="0"/>
              <a:t>.</a:t>
            </a:r>
          </a:p>
          <a:p>
            <a:r>
              <a:rPr lang="en-US" dirty="0"/>
              <a:t>Constructors and destructors cannot be declared </a:t>
            </a:r>
            <a:r>
              <a:rPr lang="en-US" dirty="0" err="1"/>
              <a:t>const</a:t>
            </a:r>
            <a:r>
              <a:rPr lang="en-US" dirty="0"/>
              <a:t>, or volatile</a:t>
            </a:r>
            <a:r>
              <a:rPr lang="en-US" dirty="0" smtClean="0"/>
              <a:t>.</a:t>
            </a:r>
          </a:p>
          <a:p>
            <a:r>
              <a:rPr lang="en-US" dirty="0"/>
              <a:t>The general form of a destructors</a:t>
            </a:r>
            <a:r>
              <a:rPr lang="en-US" dirty="0" smtClean="0"/>
              <a:t> </a:t>
            </a:r>
            <a:r>
              <a:rPr lang="en-US" dirty="0"/>
              <a:t>is shown here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</a:t>
            </a:r>
            <a:r>
              <a:rPr lang="en-IN" dirty="0"/>
              <a:t>Destructor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243496" y="4935944"/>
            <a:ext cx="3021151" cy="9196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~ class-name()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79476" indent="-379476"/>
            <a:r>
              <a:rPr lang="en-US" sz="1793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2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“</a:t>
            </a:r>
            <a:r>
              <a:rPr lang="en-US" dirty="0" err="1" smtClean="0"/>
              <a:t>enum</a:t>
            </a:r>
            <a:r>
              <a:rPr lang="en-US" dirty="0" smtClean="0"/>
              <a:t>” </a:t>
            </a:r>
            <a:r>
              <a:rPr lang="en-US" dirty="0"/>
              <a:t>keyword is used to declare an enumeration, a distinct type that consists of a set of named constants </a:t>
            </a:r>
            <a:r>
              <a:rPr lang="en-US" dirty="0" smtClean="0"/>
              <a:t>called </a:t>
            </a:r>
            <a:r>
              <a:rPr lang="en-US" dirty="0"/>
              <a:t>the enumerator list</a:t>
            </a:r>
            <a:r>
              <a:rPr lang="en-US" dirty="0" smtClean="0"/>
              <a:t>.</a:t>
            </a:r>
          </a:p>
          <a:p>
            <a:r>
              <a:rPr lang="en-US" dirty="0"/>
              <a:t>The enumerator is an object that can return each item in a collection, one by </a:t>
            </a:r>
            <a:r>
              <a:rPr lang="en-US" dirty="0" err="1"/>
              <a:t>one,in</a:t>
            </a:r>
            <a:r>
              <a:rPr lang="en-US" dirty="0"/>
              <a:t> order, as they’re </a:t>
            </a:r>
            <a:r>
              <a:rPr lang="en-US" dirty="0" smtClean="0"/>
              <a:t>requested.</a:t>
            </a:r>
            <a:r>
              <a:rPr lang="en-US" dirty="0"/>
              <a:t> </a:t>
            </a:r>
            <a:r>
              <a:rPr lang="en-US" dirty="0" smtClean="0"/>
              <a:t>For Example: </a:t>
            </a:r>
            <a:r>
              <a:rPr lang="en-US" dirty="0"/>
              <a:t> 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6475" y="4935089"/>
            <a:ext cx="6232488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b="1" dirty="0" err="1"/>
              <a:t>enum</a:t>
            </a:r>
            <a:r>
              <a:rPr lang="en-US" sz="1793" dirty="0"/>
              <a:t> Day </a:t>
            </a:r>
          </a:p>
          <a:p>
            <a:r>
              <a:rPr lang="en-US" sz="1793" dirty="0"/>
              <a:t>{ </a:t>
            </a:r>
          </a:p>
          <a:p>
            <a:r>
              <a:rPr lang="en-US" sz="1793" dirty="0"/>
              <a:t>Sunday, Monday, Tuesday, Wednesday, Thursday, Friday, Saturday</a:t>
            </a:r>
          </a:p>
          <a:p>
            <a:r>
              <a:rPr lang="en-US" sz="1793" dirty="0"/>
              <a:t>};  </a:t>
            </a:r>
            <a:endParaRPr lang="en-IN" sz="1793" dirty="0"/>
          </a:p>
        </p:txBody>
      </p:sp>
    </p:spTree>
    <p:extLst>
      <p:ext uri="{BB962C8B-B14F-4D97-AF65-F5344CB8AC3E}">
        <p14:creationId xmlns:p14="http://schemas.microsoft.com/office/powerpoint/2010/main" val="309034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enumerator “knows” the order of the items and keeps track of where it is in the sequence. It then returns the current item when it is requested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</p:spTree>
    <p:extLst>
      <p:ext uri="{BB962C8B-B14F-4D97-AF65-F5344CB8AC3E}">
        <p14:creationId xmlns:p14="http://schemas.microsoft.com/office/powerpoint/2010/main" val="406907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</a:t>
            </a:r>
            <a:r>
              <a:rPr lang="en-US" dirty="0" err="1"/>
              <a:t>enums</a:t>
            </a:r>
            <a:r>
              <a:rPr lang="en-US" dirty="0"/>
              <a:t> are of type </a:t>
            </a:r>
            <a:r>
              <a:rPr lang="en-US" dirty="0" err="1"/>
              <a:t>System.Enum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Enum</a:t>
            </a:r>
            <a:r>
              <a:rPr lang="en-US" dirty="0" smtClean="0"/>
              <a:t> </a:t>
            </a:r>
            <a:r>
              <a:rPr lang="en-US" dirty="0"/>
              <a:t>types are limited to long, </a:t>
            </a:r>
            <a:r>
              <a:rPr lang="en-US" dirty="0" err="1"/>
              <a:t>int</a:t>
            </a:r>
            <a:r>
              <a:rPr lang="en-US" dirty="0"/>
              <a:t>, short and byte only. </a:t>
            </a:r>
            <a:endParaRPr lang="en-US" dirty="0" smtClean="0"/>
          </a:p>
          <a:p>
            <a:r>
              <a:rPr lang="en-US" dirty="0" smtClean="0"/>
              <a:t>By </a:t>
            </a:r>
            <a:r>
              <a:rPr lang="en-US" dirty="0"/>
              <a:t>default, the value of an </a:t>
            </a:r>
            <a:r>
              <a:rPr lang="en-US" dirty="0" err="1"/>
              <a:t>enum</a:t>
            </a:r>
            <a:r>
              <a:rPr lang="en-US" dirty="0"/>
              <a:t> member is </a:t>
            </a:r>
            <a:r>
              <a:rPr lang="en-US" dirty="0" err="1"/>
              <a:t>int</a:t>
            </a:r>
            <a:r>
              <a:rPr lang="en-US" dirty="0"/>
              <a:t> and starts with 0 in an increment of 1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</p:spTree>
    <p:extLst>
      <p:ext uri="{BB962C8B-B14F-4D97-AF65-F5344CB8AC3E}">
        <p14:creationId xmlns:p14="http://schemas.microsoft.com/office/powerpoint/2010/main" val="402866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726" y="1851194"/>
            <a:ext cx="4656440" cy="4231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967867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290860" y="1832068"/>
          <a:ext cx="9968873" cy="4111648"/>
        </p:xfrm>
        <a:graphic>
          <a:graphicData uri="http://schemas.openxmlformats.org/drawingml/2006/table">
            <a:tbl>
              <a:tblPr/>
              <a:tblGrid>
                <a:gridCol w="25101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4587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093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baseline="0" dirty="0" err="1" smtClean="0">
                          <a:solidFill>
                            <a:srgbClr val="FFFFFF"/>
                          </a:solidFill>
                          <a:effectLst/>
                        </a:rPr>
                        <a:t>Enum</a:t>
                      </a:r>
                      <a:r>
                        <a:rPr lang="en-IN" sz="1800" b="1" baseline="0" dirty="0" smtClean="0">
                          <a:solidFill>
                            <a:srgbClr val="FFFFFF"/>
                          </a:solidFill>
                          <a:effectLst/>
                        </a:rPr>
                        <a:t> method</a:t>
                      </a:r>
                      <a:endParaRPr lang="en-IN" sz="1800" b="1" baseline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7717" marR="67717" marT="33858" marB="33858"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baseline="0" dirty="0" smtClean="0">
                          <a:solidFill>
                            <a:srgbClr val="FFFFFF"/>
                          </a:solidFill>
                          <a:effectLst/>
                        </a:rPr>
                        <a:t>Description</a:t>
                      </a:r>
                      <a:endParaRPr lang="en-IN" sz="1800" b="1" baseline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7717" marR="67717" marT="33858" marB="33858" anchor="b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A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Format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Converts the specified value of enum type to the specified string format.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GetName</a:t>
                      </a:r>
                      <a:endParaRPr lang="en-IN" sz="1800" b="1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Returns the name of the constant of the specified value of specified enum.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GetNames</a:t>
                      </a:r>
                      <a:endParaRPr lang="en-IN" sz="1800" b="1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Returns an array of string name of all the constant of specified enum.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3601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GetValues</a:t>
                      </a:r>
                      <a:endParaRPr lang="en-IN" sz="1800" b="1" dirty="0">
                        <a:solidFill>
                          <a:srgbClr val="414141"/>
                        </a:solidFill>
                        <a:effectLst/>
                      </a:endParaRP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Returns an array of the values of all the constants of specified enum.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78053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object Parse(type, string)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414141"/>
                          </a:solidFill>
                          <a:effectLst/>
                        </a:rPr>
                        <a:t>Converts the string representation of the name or numeric value of one or more enumerated constants to an equivalent enumerated object.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37155">
                <a:tc>
                  <a:txBody>
                    <a:bodyPr/>
                    <a:lstStyle/>
                    <a:p>
                      <a:pPr fontAlgn="t"/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bool </a:t>
                      </a:r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TryParse</a:t>
                      </a:r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(string, out </a:t>
                      </a:r>
                      <a:r>
                        <a:rPr lang="en-IN" sz="1800" b="1" dirty="0" err="1">
                          <a:solidFill>
                            <a:srgbClr val="414141"/>
                          </a:solidFill>
                          <a:effectLst/>
                        </a:rPr>
                        <a:t>TEnum</a:t>
                      </a:r>
                      <a:r>
                        <a:rPr lang="en-IN" sz="1800" b="1" dirty="0">
                          <a:solidFill>
                            <a:srgbClr val="414141"/>
                          </a:solidFill>
                          <a:effectLst/>
                        </a:rPr>
                        <a:t>)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rgbClr val="414141"/>
                          </a:solidFill>
                          <a:effectLst/>
                        </a:rPr>
                        <a:t>Converts the string representation of the name or numeric value of one or more enumerated constants to an equivalent enumerated object. The return value indicates whether the conversion succeeded.</a:t>
                      </a:r>
                    </a:p>
                  </a:txBody>
                  <a:tcPr marL="67717" marR="67717" marT="33858" marB="33858">
                    <a:lnL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Enumeration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02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Enumeration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70" y="1879354"/>
            <a:ext cx="4589985" cy="43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19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means getting some thing (properties) as heredity. To get that, we need a hierarchical structure. And that is provided by OOP using Inheritance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properties (variables) and methods are accessible to the sub class, but keep in mind that only the public ones. 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private methods or variables are not accessible from the child class.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412247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the methods are accessible can be called without creating the object of that super class. </a:t>
            </a:r>
            <a:endParaRPr lang="en-IN" dirty="0"/>
          </a:p>
          <a:p>
            <a:r>
              <a:rPr lang="en-US" dirty="0"/>
              <a:t>The reason behind OOP programming is to promote the reusability of code and to reduce complexity in code and it is possible by using inheritance.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412339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23" y="1994630"/>
            <a:ext cx="10015489" cy="408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73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</a:t>
            </a:r>
            <a:r>
              <a:rPr lang="en-IN" dirty="0" smtClean="0"/>
              <a:t>are</a:t>
            </a:r>
          </a:p>
          <a:p>
            <a:pPr lvl="1"/>
            <a:r>
              <a:rPr lang="en-US" dirty="0" smtClean="0"/>
              <a:t>Single Inheritance</a:t>
            </a:r>
          </a:p>
          <a:p>
            <a:pPr lvl="1"/>
            <a:r>
              <a:rPr lang="en-US" dirty="0" smtClean="0"/>
              <a:t>Multi Level Inheritance</a:t>
            </a:r>
          </a:p>
          <a:p>
            <a:pPr lvl="1"/>
            <a:r>
              <a:rPr lang="en-US" dirty="0" smtClean="0"/>
              <a:t>Multiple </a:t>
            </a:r>
            <a:r>
              <a:rPr lang="en-US" dirty="0"/>
              <a:t>Inheritance</a:t>
            </a:r>
          </a:p>
          <a:p>
            <a:pPr lvl="1"/>
            <a:r>
              <a:rPr lang="en-US" dirty="0" smtClean="0"/>
              <a:t>Hierarchical </a:t>
            </a:r>
            <a:r>
              <a:rPr lang="en-US" dirty="0"/>
              <a:t>Inheritance</a:t>
            </a:r>
          </a:p>
          <a:p>
            <a:pPr lvl="1"/>
            <a:r>
              <a:rPr lang="en-US" dirty="0" smtClean="0"/>
              <a:t>Hybrid </a:t>
            </a:r>
            <a:r>
              <a:rPr lang="en-US" dirty="0"/>
              <a:t>Inheritance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142310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528" lvl="1" indent="-341528"/>
            <a:r>
              <a:rPr lang="en-US" dirty="0" smtClean="0"/>
              <a:t>Single </a:t>
            </a:r>
            <a:r>
              <a:rPr lang="en-US" dirty="0"/>
              <a:t>Inheritance</a:t>
            </a:r>
          </a:p>
          <a:p>
            <a:pPr lvl="1"/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5379" y="1827061"/>
            <a:ext cx="6093628" cy="423024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BaseClass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</a:t>
            </a:r>
            <a:r>
              <a:rPr lang="en-US" sz="1793" dirty="0" err="1"/>
              <a:t>SubClass</a:t>
            </a:r>
            <a:r>
              <a:rPr lang="en-US" sz="1793" dirty="0"/>
              <a:t> : </a:t>
            </a:r>
            <a:r>
              <a:rPr lang="en-US" sz="1793" dirty="0" err="1"/>
              <a:t>BaseClass</a:t>
            </a:r>
            <a:r>
              <a:rPr lang="en-US" sz="1793" dirty="0"/>
              <a:t>                  &gt; Derived</a:t>
            </a:r>
          </a:p>
          <a:p>
            <a:r>
              <a:rPr lang="en-US" sz="1793" dirty="0"/>
              <a:t>  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SubClass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pic>
        <p:nvPicPr>
          <p:cNvPr id="7170" name="Picture 2" descr="Imag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889" y="3142126"/>
            <a:ext cx="2789092" cy="272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70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528" lvl="1" indent="-341528"/>
            <a:r>
              <a:rPr lang="en-US" dirty="0"/>
              <a:t>Multi Level </a:t>
            </a:r>
            <a:r>
              <a:rPr lang="en-US" dirty="0" smtClean="0"/>
              <a:t>Inheritance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1583" y="4151972"/>
            <a:ext cx="4659258" cy="202315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SubClass</a:t>
            </a:r>
            <a:r>
              <a:rPr lang="en-US" sz="1793" dirty="0"/>
              <a:t> 2: SubClass1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SubClass2()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4831" y="2496660"/>
            <a:ext cx="4016237" cy="367847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BaseClass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SubClass1 : </a:t>
            </a:r>
            <a:r>
              <a:rPr lang="en-US" sz="1793" dirty="0" err="1"/>
              <a:t>BaseClass</a:t>
            </a:r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SubClass1()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pic>
        <p:nvPicPr>
          <p:cNvPr id="6146" name="Picture 2" descr="Imag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665" y="1349163"/>
            <a:ext cx="2789092" cy="267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7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528" lvl="1" indent="-341528"/>
            <a:r>
              <a:rPr lang="en-US" dirty="0"/>
              <a:t>Multiple Inheritance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1583" y="4151972"/>
            <a:ext cx="4659258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Subclass : interface1, interface2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5873" y="2864507"/>
            <a:ext cx="4016237" cy="2574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interface interface1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</a:t>
            </a:r>
          </a:p>
          <a:p>
            <a:r>
              <a:rPr lang="en-IN" sz="1793" dirty="0"/>
              <a:t>interface interface2 </a:t>
            </a:r>
          </a:p>
          <a:p>
            <a:r>
              <a:rPr lang="en-IN" sz="1793" dirty="0"/>
              <a:t>{</a:t>
            </a:r>
          </a:p>
          <a:p>
            <a:endParaRPr lang="en-IN" sz="1793" dirty="0"/>
          </a:p>
          <a:p>
            <a:r>
              <a:rPr lang="en-IN" sz="1793" dirty="0"/>
              <a:t>} </a:t>
            </a:r>
          </a:p>
          <a:p>
            <a:endParaRPr lang="en-IN" sz="1793" dirty="0"/>
          </a:p>
        </p:txBody>
      </p:sp>
      <p:pic>
        <p:nvPicPr>
          <p:cNvPr id="4098" name="Picture 2" descr="Imag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059" y="1707756"/>
            <a:ext cx="3474149" cy="211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79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Inheritance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54592" y="4074467"/>
            <a:ext cx="4659258" cy="202315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SubClass2 :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SubClass2()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1301" y="2353223"/>
            <a:ext cx="4016237" cy="423024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</a:t>
            </a:r>
            <a:r>
              <a:rPr lang="en-US" sz="1793" dirty="0" err="1"/>
              <a:t>BaseClass</a:t>
            </a:r>
            <a:r>
              <a:rPr lang="en-US" sz="1793" dirty="0"/>
              <a:t>() </a:t>
            </a:r>
          </a:p>
          <a:p>
            <a:pPr lvl="1"/>
            <a:r>
              <a:rPr lang="en-US" sz="1793" dirty="0"/>
              <a:t>{                                                                 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pPr lvl="1"/>
            <a:r>
              <a:rPr lang="en-US" sz="1793" dirty="0"/>
              <a:t>// Default Constructor                                                    </a:t>
            </a:r>
          </a:p>
          <a:p>
            <a:pPr lvl="1"/>
            <a:r>
              <a:rPr lang="en-US" sz="1793" dirty="0"/>
              <a:t>}                                                                      </a:t>
            </a:r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SubClass1 : </a:t>
            </a:r>
            <a:r>
              <a:rPr lang="en-US" sz="1793" dirty="0" err="1"/>
              <a:t>BaseClass</a:t>
            </a:r>
            <a:r>
              <a:rPr lang="en-US" sz="1793" dirty="0"/>
              <a:t> </a:t>
            </a:r>
          </a:p>
          <a:p>
            <a:r>
              <a:rPr lang="en-US" sz="1793" dirty="0"/>
              <a:t>{ </a:t>
            </a:r>
          </a:p>
          <a:p>
            <a:pPr lvl="1"/>
            <a:r>
              <a:rPr lang="en-US" sz="1793" dirty="0"/>
              <a:t>public SubClass1()                                                   </a:t>
            </a:r>
          </a:p>
          <a:p>
            <a:pPr lvl="1"/>
            <a:r>
              <a:rPr lang="en-US" sz="1793" dirty="0"/>
              <a:t>{ </a:t>
            </a:r>
          </a:p>
          <a:p>
            <a:pPr lvl="1"/>
            <a:r>
              <a:rPr lang="en-US" sz="1793" dirty="0"/>
              <a:t>// Default Constructor </a:t>
            </a:r>
          </a:p>
          <a:p>
            <a:pPr lvl="1"/>
            <a:r>
              <a:rPr lang="en-US" sz="1793" dirty="0"/>
              <a:t>} </a:t>
            </a:r>
          </a:p>
          <a:p>
            <a:r>
              <a:rPr lang="en-US" sz="1793" dirty="0"/>
              <a:t>} </a:t>
            </a:r>
            <a:endParaRPr lang="en-IN" sz="1793" dirty="0"/>
          </a:p>
        </p:txBody>
      </p:sp>
      <p:pic>
        <p:nvPicPr>
          <p:cNvPr id="5122" name="Picture 2" descr="Imag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239" y="1636037"/>
            <a:ext cx="4202611" cy="206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75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Inheritance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54592" y="4074467"/>
            <a:ext cx="4659258" cy="11955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DerSubClass2 : Class2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  <a:endParaRPr lang="en-IN" sz="1793" dirty="0"/>
          </a:p>
        </p:txBody>
      </p:sp>
      <p:sp>
        <p:nvSpPr>
          <p:cNvPr id="5" name="Rectangle 4"/>
          <p:cNvSpPr/>
          <p:nvPr/>
        </p:nvSpPr>
        <p:spPr>
          <a:xfrm>
            <a:off x="2341301" y="2353222"/>
            <a:ext cx="4016237" cy="340258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793" dirty="0"/>
              <a:t>public class Class1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</a:p>
          <a:p>
            <a:r>
              <a:rPr lang="en-US" sz="1793" dirty="0"/>
              <a:t>public class Class2 : Class1 </a:t>
            </a:r>
          </a:p>
          <a:p>
            <a:r>
              <a:rPr lang="en-US" sz="1793" dirty="0"/>
              <a:t>{ </a:t>
            </a:r>
          </a:p>
          <a:p>
            <a:endParaRPr lang="en-US" sz="1793" dirty="0"/>
          </a:p>
          <a:p>
            <a:r>
              <a:rPr lang="en-US" sz="1793" dirty="0"/>
              <a:t>}</a:t>
            </a:r>
          </a:p>
          <a:p>
            <a:r>
              <a:rPr lang="en-US" sz="1793" dirty="0"/>
              <a:t>public class DerSubClass1 : Class2 </a:t>
            </a:r>
          </a:p>
          <a:p>
            <a:r>
              <a:rPr lang="en-US" sz="1793" dirty="0"/>
              <a:t>{</a:t>
            </a:r>
          </a:p>
          <a:p>
            <a:endParaRPr lang="en-US" sz="1793" dirty="0"/>
          </a:p>
          <a:p>
            <a:r>
              <a:rPr lang="en-US" sz="1793" dirty="0"/>
              <a:t>} </a:t>
            </a:r>
            <a:endParaRPr lang="en-IN" sz="1793" dirty="0"/>
          </a:p>
        </p:txBody>
      </p:sp>
    </p:spTree>
    <p:extLst>
      <p:ext uri="{BB962C8B-B14F-4D97-AF65-F5344CB8AC3E}">
        <p14:creationId xmlns:p14="http://schemas.microsoft.com/office/powerpoint/2010/main" val="10719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we </a:t>
            </a:r>
            <a:r>
              <a:rPr lang="en-US" dirty="0"/>
              <a:t>got a bunch of very similar forms in </a:t>
            </a:r>
            <a:r>
              <a:rPr lang="en-US" dirty="0" smtClean="0"/>
              <a:t>the windows </a:t>
            </a:r>
            <a:r>
              <a:rPr lang="en-US" dirty="0"/>
              <a:t>application, so </a:t>
            </a:r>
            <a:r>
              <a:rPr lang="en-US" dirty="0" smtClean="0"/>
              <a:t>here trying </a:t>
            </a:r>
            <a:r>
              <a:rPr lang="en-US" dirty="0"/>
              <a:t>to use one as a master form and inherit from it for the other forms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567" y="3458746"/>
            <a:ext cx="7673881" cy="27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153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373" y="1922912"/>
            <a:ext cx="8660301" cy="4274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05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8" y="1851193"/>
            <a:ext cx="10195270" cy="4208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29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890" y="1922911"/>
            <a:ext cx="8830591" cy="408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23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8" y="2424941"/>
            <a:ext cx="10473226" cy="3453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69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126" y="1564319"/>
            <a:ext cx="4876168" cy="4658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709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C#'s access modifiers</a:t>
            </a:r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86" y="1848523"/>
            <a:ext cx="10349817" cy="431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63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1133</Words>
  <Application>Microsoft Office PowerPoint</Application>
  <PresentationFormat>Widescreen</PresentationFormat>
  <Paragraphs>286</Paragraphs>
  <Slides>35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Office Theme</vt:lpstr>
      <vt:lpstr>Day-3</vt:lpstr>
      <vt:lpstr>OOPs Concepts</vt:lpstr>
      <vt:lpstr>Class</vt:lpstr>
      <vt:lpstr>Class</vt:lpstr>
      <vt:lpstr>Object</vt:lpstr>
      <vt:lpstr>Object</vt:lpstr>
      <vt:lpstr>Constructor and Destructor</vt:lpstr>
      <vt:lpstr>Constructor and Destructor</vt:lpstr>
      <vt:lpstr>Constructor and Destructor</vt:lpstr>
      <vt:lpstr>Constructor and Destructor</vt:lpstr>
      <vt:lpstr>Constructor and Destructor</vt:lpstr>
      <vt:lpstr>Constructor and Destructor</vt:lpstr>
      <vt:lpstr>Constructor and Destructor</vt:lpstr>
      <vt:lpstr>Enumeration</vt:lpstr>
      <vt:lpstr>Enumeration</vt:lpstr>
      <vt:lpstr>Enumeration</vt:lpstr>
      <vt:lpstr>Enumeration</vt:lpstr>
      <vt:lpstr>Enumeration</vt:lpstr>
      <vt:lpstr>Enumeration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Inheritance</vt:lpstr>
      <vt:lpstr>C#'s access modifiers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Day-2</dc:title>
  <dc:creator>Windows User</dc:creator>
  <cp:lastModifiedBy>Microsoft account</cp:lastModifiedBy>
  <cp:revision>3</cp:revision>
  <dcterms:created xsi:type="dcterms:W3CDTF">2021-09-29T14:21:58Z</dcterms:created>
  <dcterms:modified xsi:type="dcterms:W3CDTF">2026-02-18T02:15:31Z</dcterms:modified>
</cp:coreProperties>
</file>