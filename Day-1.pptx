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2" r:id="rId2"/>
  </p:sldMasterIdLst>
  <p:notesMasterIdLst>
    <p:notesMasterId r:id="rId53"/>
  </p:notesMasterIdLst>
  <p:sldIdLst>
    <p:sldId id="256" r:id="rId3"/>
    <p:sldId id="257" r:id="rId4"/>
    <p:sldId id="258" r:id="rId5"/>
    <p:sldId id="259" r:id="rId6"/>
    <p:sldId id="260" r:id="rId7"/>
    <p:sldId id="494" r:id="rId8"/>
    <p:sldId id="493" r:id="rId9"/>
    <p:sldId id="567" r:id="rId10"/>
    <p:sldId id="261" r:id="rId11"/>
    <p:sldId id="566" r:id="rId12"/>
    <p:sldId id="569" r:id="rId13"/>
    <p:sldId id="570" r:id="rId14"/>
    <p:sldId id="571" r:id="rId15"/>
    <p:sldId id="572" r:id="rId16"/>
    <p:sldId id="573" r:id="rId17"/>
    <p:sldId id="574" r:id="rId18"/>
    <p:sldId id="575" r:id="rId19"/>
    <p:sldId id="576" r:id="rId20"/>
    <p:sldId id="577" r:id="rId21"/>
    <p:sldId id="582" r:id="rId22"/>
    <p:sldId id="549" r:id="rId23"/>
    <p:sldId id="550" r:id="rId24"/>
    <p:sldId id="568" r:id="rId25"/>
    <p:sldId id="1085" r:id="rId26"/>
    <p:sldId id="263" r:id="rId27"/>
    <p:sldId id="262" r:id="rId28"/>
    <p:sldId id="264" r:id="rId29"/>
    <p:sldId id="585" r:id="rId30"/>
    <p:sldId id="584" r:id="rId31"/>
    <p:sldId id="265" r:id="rId32"/>
    <p:sldId id="266" r:id="rId33"/>
    <p:sldId id="495" r:id="rId34"/>
    <p:sldId id="1158" r:id="rId35"/>
    <p:sldId id="1159" r:id="rId36"/>
    <p:sldId id="1160" r:id="rId37"/>
    <p:sldId id="1161" r:id="rId38"/>
    <p:sldId id="1157" r:id="rId39"/>
    <p:sldId id="581" r:id="rId40"/>
    <p:sldId id="583" r:id="rId41"/>
    <p:sldId id="586" r:id="rId42"/>
    <p:sldId id="587" r:id="rId43"/>
    <p:sldId id="588" r:id="rId44"/>
    <p:sldId id="589" r:id="rId45"/>
    <p:sldId id="590" r:id="rId46"/>
    <p:sldId id="591" r:id="rId47"/>
    <p:sldId id="592" r:id="rId48"/>
    <p:sldId id="593" r:id="rId49"/>
    <p:sldId id="594" r:id="rId50"/>
    <p:sldId id="595" r:id="rId51"/>
    <p:sldId id="596" r:id="rId52"/>
  </p:sldIdLst>
  <p:sldSz cx="12241213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FF6699"/>
    <a:srgbClr val="99FF66"/>
    <a:srgbClr val="CCFFFF"/>
    <a:srgbClr val="CC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38" autoAdjust="0"/>
    <p:restoredTop sz="94660"/>
  </p:normalViewPr>
  <p:slideViewPr>
    <p:cSldViewPr>
      <p:cViewPr varScale="1">
        <p:scale>
          <a:sx n="83" d="100"/>
          <a:sy n="83" d="100"/>
        </p:scale>
        <p:origin x="413" y="34"/>
      </p:cViewPr>
      <p:guideLst>
        <p:guide orient="horz" pos="2160"/>
        <p:guide pos="38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D1820-96F0-4A6B-A7D3-30B21612FAF7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6475" y="514350"/>
            <a:ext cx="45910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3813F-56AE-41F8-8DCF-C237438407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7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61" y="274638"/>
            <a:ext cx="11017092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062" y="1412776"/>
            <a:ext cx="5406535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2262AB"/>
              </a:buClr>
              <a:defRPr sz="2800">
                <a:solidFill>
                  <a:schemeClr val="tx1"/>
                </a:solidFill>
              </a:defRPr>
            </a:lvl1pPr>
            <a:lvl2pPr>
              <a:buClr>
                <a:srgbClr val="2262AB"/>
              </a:buClr>
              <a:defRPr sz="2400">
                <a:solidFill>
                  <a:schemeClr val="tx1"/>
                </a:solidFill>
              </a:defRPr>
            </a:lvl2pPr>
            <a:lvl3pPr>
              <a:buClr>
                <a:srgbClr val="2262AB"/>
              </a:buClr>
              <a:defRPr sz="2000">
                <a:solidFill>
                  <a:schemeClr val="tx1"/>
                </a:solidFill>
              </a:defRPr>
            </a:lvl3pPr>
            <a:lvl4pPr>
              <a:buClr>
                <a:srgbClr val="2262AB"/>
              </a:buClr>
              <a:defRPr sz="1800">
                <a:solidFill>
                  <a:schemeClr val="tx1"/>
                </a:solidFill>
              </a:defRPr>
            </a:lvl4pPr>
            <a:lvl5pPr>
              <a:buClr>
                <a:srgbClr val="2262AB"/>
              </a:buCl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2618" y="1412776"/>
            <a:ext cx="5406535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2262AB"/>
              </a:buClr>
              <a:defRPr sz="2800"/>
            </a:lvl1pPr>
            <a:lvl2pPr>
              <a:buClr>
                <a:srgbClr val="2262AB"/>
              </a:buClr>
              <a:defRPr sz="2400"/>
            </a:lvl2pPr>
            <a:lvl3pPr>
              <a:buClr>
                <a:srgbClr val="2262AB"/>
              </a:buClr>
              <a:defRPr sz="2000"/>
            </a:lvl3pPr>
            <a:lvl4pPr>
              <a:buClr>
                <a:srgbClr val="2262AB"/>
              </a:buClr>
              <a:defRPr sz="1800"/>
            </a:lvl4pPr>
            <a:lvl5pPr>
              <a:buClr>
                <a:srgbClr val="2262AB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26963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12061" y="274638"/>
            <a:ext cx="11017092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953573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61" y="1600205"/>
            <a:ext cx="11017092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2262AB"/>
              </a:buClr>
              <a:defRPr/>
            </a:lvl1pPr>
            <a:lvl2pPr>
              <a:buClr>
                <a:srgbClr val="2262AB"/>
              </a:buClr>
              <a:defRPr/>
            </a:lvl2pPr>
            <a:lvl3pPr>
              <a:buClr>
                <a:srgbClr val="2262AB"/>
              </a:buClr>
              <a:defRPr/>
            </a:lvl3pPr>
            <a:lvl4pPr>
              <a:buClr>
                <a:srgbClr val="2262AB"/>
              </a:buClr>
              <a:defRPr/>
            </a:lvl4pPr>
            <a:lvl5pPr>
              <a:buClr>
                <a:srgbClr val="2262AB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133468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4349402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8092" y="2130430"/>
            <a:ext cx="10405031" cy="14700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36182" y="3886200"/>
            <a:ext cx="856885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86050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824" y="2277820"/>
            <a:ext cx="8968269" cy="4535561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611132" y="1307182"/>
            <a:ext cx="5798670" cy="42100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rgbClr val="2262AB"/>
              </a:buClr>
              <a:defRPr/>
            </a:lvl1pPr>
          </a:lstStyle>
          <a:p>
            <a:pPr lvl="0"/>
            <a:r>
              <a:rPr lang="en-US" sz="1800" smtClean="0">
                <a:solidFill>
                  <a:schemeClr val="tx1">
                    <a:lumMod val="95000"/>
                    <a:lumOff val="5000"/>
                  </a:schemeClr>
                </a:solidFill>
                <a:ea typeface="Verdana" pitchFamily="34" charset="0"/>
              </a:rPr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133468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161224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0154" y="1122364"/>
            <a:ext cx="918091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0154" y="3602038"/>
            <a:ext cx="918091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Gill Sans MT (Body)"/>
                <a:ea typeface="Gill Sans MT (Body)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1587" y="6356360"/>
            <a:ext cx="2754273" cy="365125"/>
          </a:xfrm>
          <a:prstGeom prst="rect">
            <a:avLst/>
          </a:prstGeom>
        </p:spPr>
        <p:txBody>
          <a:bodyPr/>
          <a:lstStyle/>
          <a:p>
            <a:fld id="{9DB00720-4A9B-478B-931F-72731166AD3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4902" y="6356360"/>
            <a:ext cx="413141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45359" y="6356360"/>
            <a:ext cx="2754273" cy="365125"/>
          </a:xfrm>
          <a:prstGeom prst="rect">
            <a:avLst/>
          </a:prstGeom>
        </p:spPr>
        <p:txBody>
          <a:bodyPr/>
          <a:lstStyle/>
          <a:p>
            <a:fld id="{72377F1F-3C0D-4B8F-83A4-F258057EC6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282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585" y="1825625"/>
            <a:ext cx="10558047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 MT (Body)"/>
                <a:ea typeface="Gill Sans MT (Body)"/>
              </a:defRPr>
            </a:lvl1pPr>
            <a:lvl2pPr>
              <a:defRPr>
                <a:latin typeface="Gill Sans MT (Body)"/>
                <a:ea typeface="Gill Sans MT (Body)"/>
              </a:defRPr>
            </a:lvl2pPr>
            <a:lvl3pPr>
              <a:defRPr>
                <a:latin typeface="Gill Sans MT (Body)"/>
                <a:ea typeface="Gill Sans MT (Body)"/>
              </a:defRPr>
            </a:lvl3pPr>
            <a:lvl4pPr>
              <a:defRPr>
                <a:latin typeface="Gill Sans MT (Body)"/>
                <a:ea typeface="Gill Sans MT (Body)"/>
              </a:defRPr>
            </a:lvl4pPr>
            <a:lvl5pPr>
              <a:defRPr>
                <a:latin typeface="Gill Sans MT (Body)"/>
                <a:ea typeface="Gill Sans MT (Body)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1587" y="6356360"/>
            <a:ext cx="2754273" cy="365125"/>
          </a:xfrm>
          <a:prstGeom prst="rect">
            <a:avLst/>
          </a:prstGeom>
        </p:spPr>
        <p:txBody>
          <a:bodyPr/>
          <a:lstStyle/>
          <a:p>
            <a:fld id="{9DB00720-4A9B-478B-931F-72731166AD3F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4902" y="6356360"/>
            <a:ext cx="413141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45359" y="6356360"/>
            <a:ext cx="2754273" cy="365125"/>
          </a:xfrm>
          <a:prstGeom prst="rect">
            <a:avLst/>
          </a:prstGeom>
        </p:spPr>
        <p:txBody>
          <a:bodyPr/>
          <a:lstStyle/>
          <a:p>
            <a:fld id="{72377F1F-3C0D-4B8F-83A4-F258057EC62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41585" y="576785"/>
            <a:ext cx="10558047" cy="111391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590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133468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57868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61" y="1600206"/>
            <a:ext cx="11017092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2262AB"/>
              </a:buClr>
              <a:defRPr/>
            </a:lvl1pPr>
            <a:lvl2pPr>
              <a:buClr>
                <a:srgbClr val="2262AB"/>
              </a:buClr>
              <a:defRPr/>
            </a:lvl2pPr>
            <a:lvl3pPr>
              <a:buClr>
                <a:srgbClr val="2262AB"/>
              </a:buClr>
              <a:defRPr/>
            </a:lvl3pPr>
            <a:lvl4pPr>
              <a:buClr>
                <a:srgbClr val="2262AB"/>
              </a:buClr>
              <a:defRPr/>
            </a:lvl4pPr>
            <a:lvl5pPr>
              <a:buClr>
                <a:srgbClr val="2262AB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133468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500951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064" y="1412776"/>
            <a:ext cx="5406535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2262AB"/>
              </a:buClr>
              <a:defRPr sz="2800">
                <a:solidFill>
                  <a:schemeClr val="tx1"/>
                </a:solidFill>
              </a:defRPr>
            </a:lvl1pPr>
            <a:lvl2pPr>
              <a:buClr>
                <a:srgbClr val="2262AB"/>
              </a:buClr>
              <a:defRPr sz="2400">
                <a:solidFill>
                  <a:schemeClr val="tx1"/>
                </a:solidFill>
              </a:defRPr>
            </a:lvl2pPr>
            <a:lvl3pPr>
              <a:buClr>
                <a:srgbClr val="2262AB"/>
              </a:buClr>
              <a:defRPr sz="2000">
                <a:solidFill>
                  <a:schemeClr val="tx1"/>
                </a:solidFill>
              </a:defRPr>
            </a:lvl3pPr>
            <a:lvl4pPr>
              <a:buClr>
                <a:srgbClr val="2262AB"/>
              </a:buClr>
              <a:defRPr sz="1800">
                <a:solidFill>
                  <a:schemeClr val="tx1"/>
                </a:solidFill>
              </a:defRPr>
            </a:lvl4pPr>
            <a:lvl5pPr>
              <a:buClr>
                <a:srgbClr val="2262AB"/>
              </a:buCl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2618" y="1412776"/>
            <a:ext cx="5406535" cy="4525963"/>
          </a:xfrm>
          <a:prstGeom prst="rect">
            <a:avLst/>
          </a:prstGeom>
        </p:spPr>
        <p:txBody>
          <a:bodyPr/>
          <a:lstStyle>
            <a:lvl1pPr>
              <a:buClr>
                <a:srgbClr val="2262AB"/>
              </a:buClr>
              <a:defRPr sz="2800"/>
            </a:lvl1pPr>
            <a:lvl2pPr>
              <a:buClr>
                <a:srgbClr val="2262AB"/>
              </a:buClr>
              <a:defRPr sz="2400"/>
            </a:lvl2pPr>
            <a:lvl3pPr>
              <a:buClr>
                <a:srgbClr val="2262AB"/>
              </a:buClr>
              <a:defRPr sz="2000"/>
            </a:lvl3pPr>
            <a:lvl4pPr>
              <a:buClr>
                <a:srgbClr val="2262AB"/>
              </a:buClr>
              <a:defRPr sz="1800"/>
            </a:lvl4pPr>
            <a:lvl5pPr>
              <a:buClr>
                <a:srgbClr val="2262AB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326265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834105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" y="0"/>
            <a:ext cx="12232737" cy="685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72869" y="6356359"/>
            <a:ext cx="285628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2262AB"/>
                </a:solidFill>
              </a:defRPr>
            </a:lvl1pPr>
          </a:lstStyle>
          <a:p>
            <a:fld id="{CEAA626A-FA03-4F6F-820B-94204E4F17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133468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022686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1" r="757"/>
          <a:stretch/>
        </p:blipFill>
        <p:spPr>
          <a:xfrm>
            <a:off x="-4289" y="-50912"/>
            <a:ext cx="12245502" cy="69362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092" y="2130434"/>
            <a:ext cx="10405031" cy="1470025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6182" y="3886200"/>
            <a:ext cx="856885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2869" y="6356359"/>
            <a:ext cx="285628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2262AB"/>
                </a:solidFill>
              </a:defRPr>
            </a:lvl1pPr>
          </a:lstStyle>
          <a:p>
            <a:fld id="{CEAA626A-FA03-4F6F-820B-94204E4F17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676042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72869" y="6356359"/>
            <a:ext cx="285628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2262AB"/>
                </a:solidFill>
              </a:defRPr>
            </a:lvl1pPr>
          </a:lstStyle>
          <a:p>
            <a:fld id="{CEAA626A-FA03-4F6F-820B-94204E4F17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326265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8157058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72869" y="6356359"/>
            <a:ext cx="285628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2262AB"/>
                </a:solidFill>
              </a:defRPr>
            </a:lvl1pPr>
          </a:lstStyle>
          <a:p>
            <a:fld id="{CEAA626A-FA03-4F6F-820B-94204E4F17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336715" y="116632"/>
            <a:ext cx="7326265" cy="1143000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2262AB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0736" y="269032"/>
            <a:ext cx="7326265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815705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72869" y="6356359"/>
            <a:ext cx="285628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2262AB"/>
                </a:solidFill>
              </a:defRPr>
            </a:lvl1pPr>
          </a:lstStyle>
          <a:p>
            <a:fld id="{CEAA626A-FA03-4F6F-820B-94204E4F17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336715" y="116632"/>
            <a:ext cx="7326265" cy="1143000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2262AB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40736" y="269032"/>
            <a:ext cx="7326265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8157058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72869" y="6356359"/>
            <a:ext cx="285628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2262AB"/>
                </a:solidFill>
              </a:defRPr>
            </a:lvl1pPr>
          </a:lstStyle>
          <a:p>
            <a:fld id="{CEAA626A-FA03-4F6F-820B-94204E4F173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336715" y="116632"/>
            <a:ext cx="7326265" cy="1143000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2262AB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40736" y="269032"/>
            <a:ext cx="7326265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0226861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15" y="116632"/>
            <a:ext cx="7326265" cy="1143000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262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72869" y="6356359"/>
            <a:ext cx="285628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2262AB"/>
                </a:solidFill>
              </a:defRPr>
            </a:lvl1pPr>
          </a:lstStyle>
          <a:p>
            <a:fld id="{CEAA626A-FA03-4F6F-820B-94204E4F173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841017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33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8" t="90515" r="26113"/>
          <a:stretch/>
        </p:blipFill>
        <p:spPr>
          <a:xfrm>
            <a:off x="0" y="6453336"/>
            <a:ext cx="12241213" cy="4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5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</p:sldLayoutIdLst>
  <p:transition spd="slow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29000">
              <a:schemeClr val="bg1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8" t="90515" r="26113"/>
          <a:stretch/>
        </p:blipFill>
        <p:spPr>
          <a:xfrm>
            <a:off x="0" y="6453336"/>
            <a:ext cx="12241213" cy="4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5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</p:sldLayoutIdLst>
  <p:transition spd="slow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Day-1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Introduction to .NET Framework&amp; C# And</a:t>
            </a:r>
          </a:p>
          <a:p>
            <a:r>
              <a:rPr lang="en-US" dirty="0" smtClean="0"/>
              <a:t>Windows Forms Applications &amp; Forms Designer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42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500" dirty="0"/>
              <a:t>After completing this unit you will be able to:</a:t>
            </a:r>
            <a:endParaRPr lang="en-IN" sz="3500" dirty="0"/>
          </a:p>
          <a:p>
            <a:pPr lvl="1"/>
            <a:r>
              <a:rPr lang="en-US" dirty="0" smtClean="0"/>
              <a:t>What </a:t>
            </a:r>
            <a:r>
              <a:rPr lang="en-US" dirty="0"/>
              <a:t>is .NET Platform?</a:t>
            </a:r>
          </a:p>
          <a:p>
            <a:pPr lvl="1"/>
            <a:r>
              <a:rPr lang="en-US" dirty="0"/>
              <a:t>What is .NET Framework</a:t>
            </a:r>
          </a:p>
          <a:p>
            <a:pPr lvl="1"/>
            <a:r>
              <a:rPr lang="en-US" dirty="0"/>
              <a:t>.NET Framework, Languages, and Tools</a:t>
            </a:r>
          </a:p>
          <a:p>
            <a:pPr lvl="1"/>
            <a:r>
              <a:rPr lang="en-US" dirty="0"/>
              <a:t>.NET Framework Major Components</a:t>
            </a:r>
          </a:p>
          <a:p>
            <a:pPr lvl="1"/>
            <a:r>
              <a:rPr lang="en-US" dirty="0"/>
              <a:t>Common Language Runtime (CLR)</a:t>
            </a:r>
          </a:p>
          <a:p>
            <a:pPr lvl="1"/>
            <a:r>
              <a:rPr lang="en-US" dirty="0"/>
              <a:t>Compilation and Execution in .NET</a:t>
            </a:r>
          </a:p>
          <a:p>
            <a:pPr lvl="1"/>
            <a:r>
              <a:rPr lang="en-US" dirty="0"/>
              <a:t>Understand the .NET Framework 4.5 stack</a:t>
            </a:r>
          </a:p>
          <a:p>
            <a:pPr lvl="1"/>
            <a:r>
              <a:rPr lang="en-US" dirty="0"/>
              <a:t>Know the new productivity enhancements in VS2019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Objective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36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Introduction to </a:t>
            </a:r>
            <a:r>
              <a:rPr lang="en-US" dirty="0" err="1"/>
              <a:t>Winforms</a:t>
            </a:r>
            <a:endParaRPr lang="en-US" dirty="0"/>
          </a:p>
          <a:p>
            <a:pPr lvl="1"/>
            <a:r>
              <a:rPr lang="en-US" dirty="0"/>
              <a:t>Basic Concepts of GUI Programming</a:t>
            </a:r>
          </a:p>
          <a:p>
            <a:pPr lvl="1"/>
            <a:r>
              <a:rPr lang="en-US" dirty="0"/>
              <a:t>Components and Controls for Windows Forms</a:t>
            </a:r>
          </a:p>
          <a:p>
            <a:pPr lvl="1"/>
            <a:r>
              <a:rPr lang="en-US" dirty="0"/>
              <a:t>Layout of Controls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78980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and the .NET platform were first introduced to the world in 2002 and were intended </a:t>
            </a:r>
            <a:r>
              <a:rPr lang="en-US" dirty="0" smtClean="0"/>
              <a:t>to offer </a:t>
            </a:r>
            <a:r>
              <a:rPr lang="en-US" dirty="0"/>
              <a:t>a much more powerful, more flexible, and simpler </a:t>
            </a:r>
            <a:r>
              <a:rPr lang="en-US" dirty="0" smtClean="0"/>
              <a:t>programming </a:t>
            </a:r>
            <a:r>
              <a:rPr lang="en-US" dirty="0"/>
              <a:t>model than COM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What is .NET Platform</a:t>
            </a:r>
            <a:r>
              <a:rPr lang="en-US" dirty="0" smtClean="0"/>
              <a:t>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533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.NET Framework</a:t>
            </a:r>
          </a:p>
        </p:txBody>
      </p:sp>
      <p:pic>
        <p:nvPicPr>
          <p:cNvPr id="6" name="Object 3"/>
          <p:cNvPicPr>
            <a:picLocks noChangeArrowheads="1"/>
          </p:cNvPicPr>
          <p:nvPr/>
        </p:nvPicPr>
        <p:blipFill>
          <a:blip r:embed="rId2"/>
          <a:srcRect r="-1881" b="-201"/>
          <a:stretch>
            <a:fillRect/>
          </a:stretch>
        </p:blipFill>
        <p:spPr>
          <a:xfrm>
            <a:off x="1565199" y="1844824"/>
            <a:ext cx="9444334" cy="43924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664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Components of Framework</a:t>
            </a:r>
          </a:p>
        </p:txBody>
      </p:sp>
      <p:pic>
        <p:nvPicPr>
          <p:cNvPr id="2050" name="Picture 2" descr="Image result for NET Framework 4.7 sta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198" y="1853419"/>
            <a:ext cx="9110818" cy="3807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464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.NET Framework 4.8</a:t>
            </a:r>
          </a:p>
          <a:p>
            <a:r>
              <a:rPr lang="en-IN" dirty="0"/>
              <a:t>.NET Framework 4.7.2</a:t>
            </a:r>
          </a:p>
          <a:p>
            <a:r>
              <a:rPr lang="en-IN" dirty="0"/>
              <a:t>.NET Framework 4.7.1</a:t>
            </a:r>
          </a:p>
          <a:p>
            <a:r>
              <a:rPr lang="en-IN" dirty="0"/>
              <a:t>.NET Framework 4.7</a:t>
            </a:r>
          </a:p>
          <a:p>
            <a:r>
              <a:rPr lang="en-IN" dirty="0"/>
              <a:t>.NET Framework 4.6.2</a:t>
            </a:r>
          </a:p>
          <a:p>
            <a:r>
              <a:rPr lang="en-IN" dirty="0"/>
              <a:t>.NET Framework 4.6.1</a:t>
            </a:r>
          </a:p>
          <a:p>
            <a:r>
              <a:rPr lang="en-IN" dirty="0"/>
              <a:t>.NET 2015 and .NET Framework 4.6</a:t>
            </a:r>
          </a:p>
          <a:p>
            <a:r>
              <a:rPr lang="en-IN" dirty="0"/>
              <a:t>.NET Framework 4.5.2</a:t>
            </a:r>
          </a:p>
          <a:p>
            <a:r>
              <a:rPr lang="en-IN" dirty="0"/>
              <a:t>.NET Framework 4.5.1</a:t>
            </a:r>
          </a:p>
          <a:p>
            <a:r>
              <a:rPr lang="en-IN" dirty="0"/>
              <a:t>.NET Framework </a:t>
            </a:r>
            <a:r>
              <a:rPr lang="en-IN" dirty="0" smtClean="0"/>
              <a:t>4.5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Versions </a:t>
            </a:r>
            <a:r>
              <a:rPr lang="en-US" dirty="0"/>
              <a:t>of the .NET Framework: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16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Versions of the .NET Framework: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222" y="1844824"/>
            <a:ext cx="6945213" cy="4244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803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C#.NET</a:t>
            </a:r>
          </a:p>
          <a:p>
            <a:r>
              <a:rPr lang="en-IN" dirty="0"/>
              <a:t>VB.NET</a:t>
            </a:r>
          </a:p>
          <a:p>
            <a:r>
              <a:rPr lang="en-IN" dirty="0"/>
              <a:t>C++.NET</a:t>
            </a:r>
          </a:p>
          <a:p>
            <a:r>
              <a:rPr lang="en-IN" dirty="0"/>
              <a:t>J#.NET</a:t>
            </a:r>
          </a:p>
          <a:p>
            <a:r>
              <a:rPr lang="en-IN" dirty="0"/>
              <a:t>F#.</a:t>
            </a:r>
            <a:r>
              <a:rPr lang="en-IN" dirty="0" smtClean="0"/>
              <a:t>NET</a:t>
            </a:r>
          </a:p>
          <a:p>
            <a:r>
              <a:rPr lang="en-IN" dirty="0" smtClean="0"/>
              <a:t>JSCRIPT.NET</a:t>
            </a:r>
          </a:p>
          <a:p>
            <a:r>
              <a:rPr lang="en-IN" dirty="0" smtClean="0"/>
              <a:t>WINDOWS POWERSHELL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.NET Framework, Languages, and 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89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510" y="548680"/>
            <a:ext cx="3096344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48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502" y="623888"/>
            <a:ext cx="3589783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5472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494" y="623888"/>
            <a:ext cx="3949823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426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487" y="605377"/>
            <a:ext cx="2952328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2060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494" y="1196752"/>
            <a:ext cx="5760849" cy="5206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3130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286" y="1484784"/>
            <a:ext cx="8064896" cy="47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69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414" y="2053820"/>
            <a:ext cx="4824536" cy="394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5075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342" y="1840256"/>
            <a:ext cx="4536504" cy="4353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8555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126" y="2000250"/>
            <a:ext cx="8460307" cy="3084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2598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859"/>
          <a:stretch/>
        </p:blipFill>
        <p:spPr bwMode="auto">
          <a:xfrm>
            <a:off x="2088158" y="2000250"/>
            <a:ext cx="8856984" cy="3805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881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254" y="1340768"/>
            <a:ext cx="7243118" cy="4848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5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213340"/>
              </p:ext>
            </p:extLst>
          </p:nvPr>
        </p:nvGraphicFramePr>
        <p:xfrm>
          <a:off x="2304182" y="1412776"/>
          <a:ext cx="7736217" cy="487499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5549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29528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en-IN" sz="13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en-IN" sz="13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en-IN" sz="13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en-IN" sz="13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952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4.5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Visual Studio 2012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8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952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4.5.1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Visual Studio 2013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8.1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4.5.2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N/A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N/A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2952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4.6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Visual Studio 2015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10 v1507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2952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4.6.1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Visual Studio 2015 Update 1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10 v1511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4.6.2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N/A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10 v1607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2952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4.7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Visual Studio 2017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10 v1703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29528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4.7.1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Visual Studio 2017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10 v1709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91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4.7.2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4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>
                          <a:effectLst/>
                        </a:rPr>
                        <a:t>Visual Studio 2017</a:t>
                      </a:r>
                      <a:endParaRPr lang="en-IN" sz="1800" kern="120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N" sz="1800" kern="1200" dirty="0">
                          <a:effectLst/>
                        </a:rPr>
                        <a:t>10v 1803</a:t>
                      </a:r>
                      <a:endParaRPr lang="en-IN" sz="1800" kern="1200" dirty="0">
                        <a:solidFill>
                          <a:srgbClr val="41414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557" marR="57557" marT="57557" marB="57557"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</a:t>
            </a:r>
            <a:r>
              <a:rPr lang="en-US" dirty="0" smtClean="0"/>
              <a:t>Framework Versions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92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700808"/>
            <a:ext cx="6770687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723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</a:t>
            </a:r>
            <a:r>
              <a:rPr lang="en-US" dirty="0" smtClean="0"/>
              <a:t>Framework – Visual Studio</a:t>
            </a: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269" y="1582688"/>
            <a:ext cx="7294563" cy="4573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732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Framework – Visual Studio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174" y="1772816"/>
            <a:ext cx="7142163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171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82168" indent="-381000"/>
            <a:r>
              <a:rPr lang="en-US" dirty="0"/>
              <a:t>CLR is the heart of .NET Framework.</a:t>
            </a:r>
          </a:p>
          <a:p>
            <a:pPr marL="582168" indent="-381000"/>
            <a:r>
              <a:rPr lang="en-US" dirty="0"/>
              <a:t>Execution environment for code written in .NET Framework.</a:t>
            </a:r>
          </a:p>
          <a:p>
            <a:pPr marL="582168" indent="-381000"/>
            <a:r>
              <a:rPr lang="en-US" dirty="0"/>
              <a:t>The CLR works with every language available for the .NET Framework. </a:t>
            </a:r>
          </a:p>
          <a:p>
            <a:pPr marL="582168" indent="-381000"/>
            <a:r>
              <a:rPr lang="en-US" dirty="0"/>
              <a:t>But CLR is not a common compiler for all .NET compatible languages.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Common Language Runtime (CLR)</a:t>
            </a:r>
          </a:p>
        </p:txBody>
      </p:sp>
    </p:spTree>
    <p:extLst>
      <p:ext uri="{BB962C8B-B14F-4D97-AF65-F5344CB8AC3E}">
        <p14:creationId xmlns:p14="http://schemas.microsoft.com/office/powerpoint/2010/main" val="125989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.NET Framework Major Components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26" y="1844827"/>
            <a:ext cx="10377404" cy="4288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658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Compilation and Execution in .NET</a:t>
            </a: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126" y="1804409"/>
            <a:ext cx="8712968" cy="440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491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MSIL stands for Microsoft Intermediate </a:t>
            </a:r>
            <a:r>
              <a:rPr lang="en-US" dirty="0" smtClean="0"/>
              <a:t>Language During </a:t>
            </a:r>
            <a:r>
              <a:rPr lang="en-US" dirty="0"/>
              <a:t>the compile time, the source code is converted into Microsoft Intermediate Language (MSIL) by </a:t>
            </a:r>
            <a:r>
              <a:rPr lang="en-US" dirty="0" smtClean="0"/>
              <a:t>compiler.</a:t>
            </a:r>
            <a:endParaRPr lang="en-US" dirty="0"/>
          </a:p>
          <a:p>
            <a:pPr fontAlgn="base"/>
            <a:r>
              <a:rPr lang="en-US" dirty="0"/>
              <a:t>MSIL is a CPU-independent set of instructions that can be efficiently converted to the native </a:t>
            </a:r>
            <a:r>
              <a:rPr lang="en-US" dirty="0" smtClean="0"/>
              <a:t>code.</a:t>
            </a:r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 and Execution in .NET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01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is used to create platform-specific, optimized versions of .NET Framework applications that have faster performance than applications that have to be compiled by the just-in-time compiler before they can be run.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Compilation and Execution in .NET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08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 the .NET Framework 4.5 stack</a:t>
            </a:r>
            <a:endParaRPr lang="en-IN" dirty="0"/>
          </a:p>
        </p:txBody>
      </p:sp>
      <p:pic>
        <p:nvPicPr>
          <p:cNvPr id="1026" name="Picture 2" descr="Image result for NET Framework 4.7 sta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819" y="1772816"/>
            <a:ext cx="7664657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05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There are 3 flavors of CLR available</a:t>
            </a:r>
          </a:p>
          <a:p>
            <a:pPr lvl="1"/>
            <a:r>
              <a:rPr lang="en-US" dirty="0"/>
              <a:t>.NET Framework CLR</a:t>
            </a:r>
          </a:p>
          <a:p>
            <a:pPr lvl="1"/>
            <a:r>
              <a:rPr lang="en-US" dirty="0"/>
              <a:t>.NET </a:t>
            </a:r>
            <a:r>
              <a:rPr lang="en-US" dirty="0" err="1"/>
              <a:t>CoreCLR</a:t>
            </a:r>
            <a:endParaRPr lang="en-US" dirty="0"/>
          </a:p>
          <a:p>
            <a:pPr lvl="1"/>
            <a:r>
              <a:rPr lang="en-US" dirty="0"/>
              <a:t>.NET Mono CLR </a:t>
            </a:r>
          </a:p>
          <a:p>
            <a:r>
              <a:rPr lang="en-US" dirty="0" smtClean="0"/>
              <a:t>.</a:t>
            </a:r>
            <a:r>
              <a:rPr lang="en-US" dirty="0"/>
              <a:t>NET Framework 4.8 introduces new features in the following areas:</a:t>
            </a:r>
          </a:p>
          <a:p>
            <a:pPr lvl="1"/>
            <a:r>
              <a:rPr lang="en-US" dirty="0" smtClean="0"/>
              <a:t>Base </a:t>
            </a:r>
            <a:r>
              <a:rPr lang="en-US" dirty="0"/>
              <a:t>classes</a:t>
            </a:r>
          </a:p>
          <a:p>
            <a:pPr lvl="1"/>
            <a:r>
              <a:rPr lang="en-US" dirty="0"/>
              <a:t>Windows Communication Foundation (WCF</a:t>
            </a:r>
            <a:r>
              <a:rPr lang="en-US" dirty="0" smtClean="0"/>
              <a:t>) – Web services</a:t>
            </a:r>
            <a:endParaRPr lang="en-US" dirty="0"/>
          </a:p>
          <a:p>
            <a:pPr lvl="1"/>
            <a:r>
              <a:rPr lang="en-US" dirty="0"/>
              <a:t>Windows Presentation Foundation (WPF)</a:t>
            </a:r>
          </a:p>
          <a:p>
            <a:pPr lvl="1"/>
            <a:r>
              <a:rPr lang="en-US" dirty="0"/>
              <a:t>Common language runtime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Know the new productivity enhancements in VS2019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25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actually is .NET Core?</a:t>
            </a:r>
          </a:p>
        </p:txBody>
      </p:sp>
      <p:pic>
        <p:nvPicPr>
          <p:cNvPr id="3074" name="Picture 2" descr="https://msdnshared.blob.core.windows.net/media/MSDNBlogsFS/prod.evol.blogs.msdn.com/CommunityServer.Blogs.Components.WeblogFiles/00/00/01/71/65/6138.ne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642" y="1700809"/>
            <a:ext cx="9506067" cy="445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72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OOP (Object-Oriented Programming)</a:t>
            </a:r>
            <a:r>
              <a:rPr lang="en-US" dirty="0"/>
              <a:t> is a programming paradigm based on </a:t>
            </a:r>
            <a:r>
              <a:rPr lang="en-US" b="1" dirty="0"/>
              <a:t>objects and classes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Oop</a:t>
            </a:r>
            <a:r>
              <a:rPr lang="en-IN" dirty="0" smtClean="0"/>
              <a:t> Fundamentals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79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Encapsulation: </a:t>
            </a:r>
            <a:r>
              <a:rPr lang="en-US" dirty="0" smtClean="0"/>
              <a:t>Encapsulation </a:t>
            </a:r>
            <a:r>
              <a:rPr lang="en-US" dirty="0"/>
              <a:t>means </a:t>
            </a:r>
            <a:r>
              <a:rPr lang="en-US" b="1" dirty="0"/>
              <a:t>binding data and methods together into a single unit (class)</a:t>
            </a:r>
            <a:r>
              <a:rPr lang="en-US" dirty="0"/>
              <a:t> and restricting direct access to data.</a:t>
            </a:r>
          </a:p>
          <a:p>
            <a:r>
              <a:rPr lang="en-US" b="1" dirty="0" smtClean="0"/>
              <a:t>Inheritance: </a:t>
            </a:r>
            <a:r>
              <a:rPr lang="en-US" dirty="0" smtClean="0"/>
              <a:t>Inheritance </a:t>
            </a:r>
            <a:r>
              <a:rPr lang="en-US" dirty="0"/>
              <a:t>allows one class to acquire properties and methods of another class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 Pillars Overview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02248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Polymorphism: </a:t>
            </a:r>
            <a:r>
              <a:rPr lang="en-US" dirty="0"/>
              <a:t>Polymorphism means </a:t>
            </a:r>
            <a:r>
              <a:rPr lang="en-US" b="1" dirty="0"/>
              <a:t>one method behaving differently in different situations</a:t>
            </a:r>
            <a:r>
              <a:rPr lang="en-US" dirty="0"/>
              <a:t>.</a:t>
            </a:r>
          </a:p>
          <a:p>
            <a:r>
              <a:rPr lang="en-US" dirty="0"/>
              <a:t>There are two types:</a:t>
            </a:r>
          </a:p>
          <a:p>
            <a:pPr lvl="1"/>
            <a:r>
              <a:rPr lang="en-US" dirty="0"/>
              <a:t>Method Overloading (Compile-time)</a:t>
            </a:r>
          </a:p>
          <a:p>
            <a:pPr lvl="1"/>
            <a:r>
              <a:rPr lang="en-US" dirty="0"/>
              <a:t>Method Overriding (Run-time)</a:t>
            </a:r>
          </a:p>
          <a:p>
            <a:pPr lvl="1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073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simple C# program structure: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Structure of a C# Program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248398" y="2636912"/>
            <a:ext cx="6118225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using System;</a:t>
            </a:r>
          </a:p>
          <a:p>
            <a:endParaRPr lang="en-IN" dirty="0"/>
          </a:p>
          <a:p>
            <a:r>
              <a:rPr lang="en-IN" dirty="0"/>
              <a:t>namespace </a:t>
            </a:r>
            <a:r>
              <a:rPr lang="en-IN" dirty="0" err="1"/>
              <a:t>MyApplication</a:t>
            </a:r>
            <a:endParaRPr lang="en-IN" dirty="0"/>
          </a:p>
          <a:p>
            <a:r>
              <a:rPr lang="en-IN" dirty="0"/>
              <a:t>{</a:t>
            </a:r>
          </a:p>
          <a:p>
            <a:r>
              <a:rPr lang="en-IN" dirty="0"/>
              <a:t>    class Program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static void Main(string[] </a:t>
            </a:r>
            <a:r>
              <a:rPr lang="en-IN" dirty="0" err="1"/>
              <a:t>args</a:t>
            </a:r>
            <a:r>
              <a:rPr lang="en-IN" dirty="0"/>
              <a:t>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</a:t>
            </a:r>
            <a:r>
              <a:rPr lang="en-IN" dirty="0" err="1"/>
              <a:t>Console.WriteLine</a:t>
            </a:r>
            <a:r>
              <a:rPr lang="en-IN" dirty="0"/>
              <a:t>("Hello World");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5901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console application that obtains four </a:t>
            </a:r>
            <a:r>
              <a:rPr lang="en-US" dirty="0" err="1"/>
              <a:t>int</a:t>
            </a:r>
            <a:r>
              <a:rPr lang="en-US" dirty="0"/>
              <a:t> values from the user and displays the product.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Hint: you may recall that the </a:t>
            </a:r>
            <a:r>
              <a:rPr lang="en-US" dirty="0" err="1"/>
              <a:t>Convert.ToDouble</a:t>
            </a:r>
            <a:r>
              <a:rPr lang="en-US" dirty="0"/>
              <a:t>() command was used to convert the input from the console to a double; the equivalent command to convert from a string to an </a:t>
            </a:r>
            <a:r>
              <a:rPr lang="en-US" dirty="0" err="1"/>
              <a:t>int</a:t>
            </a:r>
            <a:r>
              <a:rPr lang="en-US" dirty="0"/>
              <a:t> is Convert.ToInt32().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96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Test Your Knowledge</a:t>
            </a:r>
            <a:endParaRPr lang="en-IN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30" y="1916832"/>
            <a:ext cx="10047009" cy="4164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36030" y="5085184"/>
            <a:ext cx="2304256" cy="2880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C. 1, 2, 3, 4</a:t>
            </a:r>
          </a:p>
        </p:txBody>
      </p:sp>
    </p:spTree>
    <p:extLst>
      <p:ext uri="{BB962C8B-B14F-4D97-AF65-F5344CB8AC3E}">
        <p14:creationId xmlns:p14="http://schemas.microsoft.com/office/powerpoint/2010/main" val="105128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22" y="2352674"/>
            <a:ext cx="10441160" cy="2948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64022" y="4653136"/>
            <a:ext cx="10441160" cy="6480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D. Managed code(MC) written to target the services of the Common Language Runtime (CLR).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9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22" y="2509838"/>
            <a:ext cx="10441160" cy="2287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64022" y="3653495"/>
            <a:ext cx="3240360" cy="4235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B.   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88160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22" y="2447924"/>
            <a:ext cx="10441160" cy="2493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64022" y="3068960"/>
            <a:ext cx="2088232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A.   CLR</a:t>
            </a:r>
          </a:p>
        </p:txBody>
      </p:sp>
    </p:spTree>
    <p:extLst>
      <p:ext uri="{BB962C8B-B14F-4D97-AF65-F5344CB8AC3E}">
        <p14:creationId xmlns:p14="http://schemas.microsoft.com/office/powerpoint/2010/main" val="3796505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39" y="2438400"/>
            <a:ext cx="10153127" cy="2718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08039" y="4581128"/>
            <a:ext cx="2160239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D.   Many</a:t>
            </a:r>
          </a:p>
        </p:txBody>
      </p:sp>
    </p:spTree>
    <p:extLst>
      <p:ext uri="{BB962C8B-B14F-4D97-AF65-F5344CB8AC3E}">
        <p14:creationId xmlns:p14="http://schemas.microsoft.com/office/powerpoint/2010/main" val="385743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2409824"/>
            <a:ext cx="10133013" cy="2603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54100" y="3711499"/>
            <a:ext cx="2762250" cy="437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B.	Directive</a:t>
            </a:r>
          </a:p>
        </p:txBody>
      </p:sp>
    </p:spTree>
    <p:extLst>
      <p:ext uri="{BB962C8B-B14F-4D97-AF65-F5344CB8AC3E}">
        <p14:creationId xmlns:p14="http://schemas.microsoft.com/office/powerpoint/2010/main" val="292816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30" y="2314574"/>
            <a:ext cx="10441160" cy="2698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36030" y="4221088"/>
            <a:ext cx="2232248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D.	Java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20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22" y="2324100"/>
            <a:ext cx="10369152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64022" y="3933056"/>
            <a:ext cx="10009112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D.	</a:t>
            </a:r>
            <a:r>
              <a:rPr lang="en-US" dirty="0" err="1"/>
              <a:t>.Net</a:t>
            </a:r>
            <a:r>
              <a:rPr lang="en-US" dirty="0"/>
              <a:t> provides cross language interoperability using code access security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99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39" y="2395538"/>
            <a:ext cx="10153128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08039" y="3645024"/>
            <a:ext cx="9073007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C.	Defines Standard Rules For Defining </a:t>
            </a:r>
            <a:r>
              <a:rPr lang="en-US" dirty="0" err="1"/>
              <a:t>.Net</a:t>
            </a:r>
            <a:r>
              <a:rPr lang="en-US" dirty="0"/>
              <a:t> Compliant Languages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66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30" y="2357438"/>
            <a:ext cx="10513168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36030" y="3573016"/>
            <a:ext cx="1008112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C.	You can be certain when an object will be reclaimed by garbage collector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28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31" y="2328863"/>
            <a:ext cx="10369152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36031" y="2996952"/>
            <a:ext cx="2736303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A.	ILDASM.exe</a:t>
            </a:r>
          </a:p>
        </p:txBody>
      </p:sp>
    </p:spTree>
    <p:extLst>
      <p:ext uri="{BB962C8B-B14F-4D97-AF65-F5344CB8AC3E}">
        <p14:creationId xmlns:p14="http://schemas.microsoft.com/office/powerpoint/2010/main" val="180608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5" y="2290763"/>
            <a:ext cx="10533063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854075" y="4005064"/>
            <a:ext cx="3898379" cy="5621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D.	All of the above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7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Your Knowledge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031" y="2286000"/>
            <a:ext cx="1044116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36031" y="2780928"/>
            <a:ext cx="5616623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A.	Defines rules concerning data types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95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3. Refactoring code using OOPs and C#.NET</Template>
  <TotalTime>37155</TotalTime>
  <Words>808</Words>
  <Application>Microsoft Office PowerPoint</Application>
  <PresentationFormat>Custom</PresentationFormat>
  <Paragraphs>171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Gill Sans MT (Body)</vt:lpstr>
      <vt:lpstr>Verdana</vt:lpstr>
      <vt:lpstr>2_Office Theme</vt:lpstr>
      <vt:lpstr>1_Office Theme</vt:lpstr>
      <vt:lpstr>Day-1</vt:lpstr>
      <vt:lpstr>Objective</vt:lpstr>
      <vt:lpstr>Objective</vt:lpstr>
      <vt:lpstr>What is .NET Platform?</vt:lpstr>
      <vt:lpstr>What is .NET Framework</vt:lpstr>
      <vt:lpstr>Components of Framework</vt:lpstr>
      <vt:lpstr>Versions of the .NET Framework:</vt:lpstr>
      <vt:lpstr>Versions of the .NET Framework:</vt:lpstr>
      <vt:lpstr>.NET Framework, Languages, and Tools</vt:lpstr>
      <vt:lpstr>.NET Framework</vt:lpstr>
      <vt:lpstr>.NET Framework</vt:lpstr>
      <vt:lpstr>.NET Framework</vt:lpstr>
      <vt:lpstr>.NET Framework</vt:lpstr>
      <vt:lpstr>.NET Framework</vt:lpstr>
      <vt:lpstr>.NET Framework</vt:lpstr>
      <vt:lpstr>.NET Framework</vt:lpstr>
      <vt:lpstr>.NET Framework</vt:lpstr>
      <vt:lpstr>.NET Framework</vt:lpstr>
      <vt:lpstr>.NET Framework</vt:lpstr>
      <vt:lpstr>.NET Framework</vt:lpstr>
      <vt:lpstr>.NET Framework Versions</vt:lpstr>
      <vt:lpstr>.NET Framework</vt:lpstr>
      <vt:lpstr>.NET Framework – Visual Studio</vt:lpstr>
      <vt:lpstr>.NET Framework – Visual Studio</vt:lpstr>
      <vt:lpstr>Common Language Runtime (CLR)</vt:lpstr>
      <vt:lpstr>.NET Framework Major Components</vt:lpstr>
      <vt:lpstr>Compilation and Execution in .NET</vt:lpstr>
      <vt:lpstr>Compilation and Execution in .NET</vt:lpstr>
      <vt:lpstr>Compilation and Execution in .NET</vt:lpstr>
      <vt:lpstr>Understand the .NET Framework 4.5 stack</vt:lpstr>
      <vt:lpstr>Know the new productivity enhancements in VS2019</vt:lpstr>
      <vt:lpstr>What actually is .NET Core?</vt:lpstr>
      <vt:lpstr>Oop Fundamentals</vt:lpstr>
      <vt:lpstr>OOP Pillars Overview</vt:lpstr>
      <vt:lpstr>Cont.,</vt:lpstr>
      <vt:lpstr>Basic Structure of a C# Program</vt:lpstr>
      <vt:lpstr>Exercises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  <vt:lpstr>Test Your Knowledge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Benhar Charles</dc:creator>
  <cp:lastModifiedBy>Microsoft account</cp:lastModifiedBy>
  <cp:revision>339</cp:revision>
  <dcterms:created xsi:type="dcterms:W3CDTF">2019-11-09T10:07:34Z</dcterms:created>
  <dcterms:modified xsi:type="dcterms:W3CDTF">2026-02-17T04:21:05Z</dcterms:modified>
</cp:coreProperties>
</file>