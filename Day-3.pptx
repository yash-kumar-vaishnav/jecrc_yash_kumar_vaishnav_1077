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9" r:id="rId3"/>
    <p:sldId id="290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7" r:id="rId15"/>
    <p:sldId id="308" r:id="rId16"/>
    <p:sldId id="309" r:id="rId17"/>
    <p:sldId id="310" r:id="rId18"/>
    <p:sldId id="311" r:id="rId19"/>
    <p:sldId id="312" r:id="rId20"/>
    <p:sldId id="313" r:id="rId21"/>
    <p:sldId id="314" r:id="rId22"/>
    <p:sldId id="315" r:id="rId23"/>
    <p:sldId id="316" r:id="rId24"/>
    <p:sldId id="317" r:id="rId25"/>
    <p:sldId id="318" r:id="rId26"/>
    <p:sldId id="319" r:id="rId27"/>
    <p:sldId id="320" r:id="rId28"/>
    <p:sldId id="321" r:id="rId29"/>
    <p:sldId id="322" r:id="rId30"/>
    <p:sldId id="323" r:id="rId31"/>
    <p:sldId id="324" r:id="rId32"/>
    <p:sldId id="325" r:id="rId33"/>
    <p:sldId id="326" r:id="rId34"/>
    <p:sldId id="327" r:id="rId35"/>
    <p:sldId id="328" r:id="rId36"/>
    <p:sldId id="329" r:id="rId37"/>
    <p:sldId id="330" r:id="rId38"/>
    <p:sldId id="331" r:id="rId39"/>
    <p:sldId id="332" r:id="rId40"/>
    <p:sldId id="333" r:id="rId41"/>
    <p:sldId id="334" r:id="rId42"/>
    <p:sldId id="335" r:id="rId43"/>
    <p:sldId id="336" r:id="rId44"/>
    <p:sldId id="337" r:id="rId45"/>
    <p:sldId id="338" r:id="rId46"/>
    <p:sldId id="339" r:id="rId47"/>
    <p:sldId id="340" r:id="rId48"/>
    <p:sldId id="341" r:id="rId49"/>
    <p:sldId id="342" r:id="rId50"/>
    <p:sldId id="343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45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C7E0-9B9F-4E84-B83C-7A5D7983686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CFB44-200E-4412-AC77-C63CFF9B6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992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C7E0-9B9F-4E84-B83C-7A5D7983686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CFB44-200E-4412-AC77-C63CFF9B6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06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C7E0-9B9F-4E84-B83C-7A5D7983686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CFB44-200E-4412-AC77-C63CFF9B6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647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C7E0-9B9F-4E84-B83C-7A5D7983686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CFB44-200E-4412-AC77-C63CFF9B6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30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C7E0-9B9F-4E84-B83C-7A5D7983686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CFB44-200E-4412-AC77-C63CFF9B6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799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C7E0-9B9F-4E84-B83C-7A5D7983686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CFB44-200E-4412-AC77-C63CFF9B6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81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C7E0-9B9F-4E84-B83C-7A5D7983686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CFB44-200E-4412-AC77-C63CFF9B6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952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C7E0-9B9F-4E84-B83C-7A5D7983686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CFB44-200E-4412-AC77-C63CFF9B6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530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C7E0-9B9F-4E84-B83C-7A5D7983686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CFB44-200E-4412-AC77-C63CFF9B6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34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C7E0-9B9F-4E84-B83C-7A5D7983686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CFB44-200E-4412-AC77-C63CFF9B6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006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C7E0-9B9F-4E84-B83C-7A5D7983686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CFB44-200E-4412-AC77-C63CFF9B6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633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6AC7E0-9B9F-4E84-B83C-7A5D7983686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CFB44-200E-4412-AC77-C63CFF9B6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832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dirty="0" smtClean="0"/>
              <a:t>Day-3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OOP </a:t>
            </a:r>
            <a:r>
              <a:rPr lang="en-US" dirty="0"/>
              <a:t>with C#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9654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some basic concepts of object oriented programming as follows: </a:t>
            </a:r>
            <a:endParaRPr lang="en-US" dirty="0" smtClean="0"/>
          </a:p>
          <a:p>
            <a:pPr lvl="1"/>
            <a:r>
              <a:rPr lang="en-IN" dirty="0" smtClean="0"/>
              <a:t>Class</a:t>
            </a:r>
            <a:endParaRPr lang="en-IN" dirty="0"/>
          </a:p>
          <a:p>
            <a:pPr lvl="1"/>
            <a:r>
              <a:rPr lang="en-IN" dirty="0" smtClean="0"/>
              <a:t>Object</a:t>
            </a:r>
            <a:endParaRPr lang="en-IN" dirty="0"/>
          </a:p>
          <a:p>
            <a:pPr lvl="1"/>
            <a:r>
              <a:rPr lang="en-IN" dirty="0" smtClean="0"/>
              <a:t>Data </a:t>
            </a:r>
            <a:r>
              <a:rPr lang="en-IN" dirty="0"/>
              <a:t>abstraction </a:t>
            </a:r>
          </a:p>
          <a:p>
            <a:pPr lvl="1"/>
            <a:r>
              <a:rPr lang="en-IN" dirty="0" smtClean="0"/>
              <a:t>Data </a:t>
            </a:r>
            <a:r>
              <a:rPr lang="en-IN" dirty="0"/>
              <a:t>encapsulation </a:t>
            </a:r>
          </a:p>
          <a:p>
            <a:pPr lvl="1"/>
            <a:r>
              <a:rPr lang="en-IN" dirty="0" smtClean="0"/>
              <a:t>Inheritance</a:t>
            </a:r>
            <a:r>
              <a:rPr lang="en-IN" dirty="0"/>
              <a:t> </a:t>
            </a:r>
          </a:p>
          <a:p>
            <a:pPr lvl="1"/>
            <a:r>
              <a:rPr lang="en-IN" dirty="0" smtClean="0"/>
              <a:t>Polymorphism</a:t>
            </a:r>
            <a:endParaRPr lang="en-IN" dirty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OOPs Concepts</a:t>
            </a:r>
          </a:p>
        </p:txBody>
      </p:sp>
    </p:spTree>
    <p:extLst>
      <p:ext uri="{BB962C8B-B14F-4D97-AF65-F5344CB8AC3E}">
        <p14:creationId xmlns:p14="http://schemas.microsoft.com/office/powerpoint/2010/main" val="1675587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class is a set of objects with similar properties (attributes), common </a:t>
            </a:r>
            <a:r>
              <a:rPr lang="en-US" dirty="0" smtClean="0"/>
              <a:t>behavior </a:t>
            </a:r>
            <a:r>
              <a:rPr lang="en-US" dirty="0"/>
              <a:t>(operations</a:t>
            </a:r>
            <a:r>
              <a:rPr lang="en-US" dirty="0" smtClean="0"/>
              <a:t>), and </a:t>
            </a:r>
            <a:r>
              <a:rPr lang="en-US" dirty="0"/>
              <a:t>common link to other </a:t>
            </a:r>
            <a:r>
              <a:rPr lang="en-US" dirty="0" smtClean="0"/>
              <a:t>objects.</a:t>
            </a:r>
          </a:p>
          <a:p>
            <a:r>
              <a:rPr lang="en-US" dirty="0"/>
              <a:t>The complete set of data and code of an object can be made a </a:t>
            </a:r>
            <a:r>
              <a:rPr lang="en-US" dirty="0" smtClean="0"/>
              <a:t> user </a:t>
            </a:r>
            <a:r>
              <a:rPr lang="en-US" dirty="0"/>
              <a:t>defined data type with the help of class. </a:t>
            </a:r>
            <a:endParaRPr lang="en-US" dirty="0" smtClean="0"/>
          </a:p>
          <a:p>
            <a:r>
              <a:rPr lang="en-US" dirty="0"/>
              <a:t>The objects are variable of type class. A class is a collection of objects of similar type</a:t>
            </a:r>
            <a:r>
              <a:rPr lang="en-US" dirty="0" smtClean="0"/>
              <a:t>.</a:t>
            </a:r>
          </a:p>
          <a:p>
            <a:r>
              <a:rPr lang="en-US" dirty="0"/>
              <a:t>Classes </a:t>
            </a:r>
            <a:r>
              <a:rPr lang="en-US" dirty="0" smtClean="0"/>
              <a:t>are </a:t>
            </a:r>
            <a:r>
              <a:rPr lang="en-US" dirty="0"/>
              <a:t>user defined data types and work like the build in type of the programming language.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</a:t>
            </a:r>
          </a:p>
        </p:txBody>
      </p:sp>
    </p:spTree>
    <p:extLst>
      <p:ext uri="{BB962C8B-B14F-4D97-AF65-F5344CB8AC3E}">
        <p14:creationId xmlns:p14="http://schemas.microsoft.com/office/powerpoint/2010/main" val="2593978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 </a:t>
            </a:r>
            <a:r>
              <a:rPr lang="en-US" dirty="0" smtClean="0"/>
              <a:t>the </a:t>
            </a:r>
            <a:r>
              <a:rPr lang="en-US" dirty="0"/>
              <a:t>class has been defined, we can make any number of objects belonging to that class</a:t>
            </a:r>
            <a:r>
              <a:rPr lang="en-US" dirty="0" smtClean="0"/>
              <a:t>.</a:t>
            </a:r>
          </a:p>
          <a:p>
            <a:r>
              <a:rPr lang="en-US" dirty="0"/>
              <a:t>Each </a:t>
            </a:r>
            <a:r>
              <a:rPr lang="en-US" dirty="0" smtClean="0"/>
              <a:t>object </a:t>
            </a:r>
            <a:r>
              <a:rPr lang="en-US" dirty="0"/>
              <a:t>is related with the data of type class with which they are formed. </a:t>
            </a:r>
          </a:p>
          <a:p>
            <a:r>
              <a:rPr lang="en-US" dirty="0"/>
              <a:t>The important thing about the class is to identify the properties and procedures and applicability </a:t>
            </a:r>
            <a:r>
              <a:rPr lang="en-US" dirty="0" smtClean="0"/>
              <a:t>to </a:t>
            </a:r>
            <a:r>
              <a:rPr lang="en-US" dirty="0"/>
              <a:t>its instances. 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</a:t>
            </a:r>
          </a:p>
        </p:txBody>
      </p:sp>
    </p:spTree>
    <p:extLst>
      <p:ext uri="{BB962C8B-B14F-4D97-AF65-F5344CB8AC3E}">
        <p14:creationId xmlns:p14="http://schemas.microsoft.com/office/powerpoint/2010/main" val="2807827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Objects are important runtime entities in object oriented method. </a:t>
            </a:r>
            <a:endParaRPr lang="en-US" dirty="0" smtClean="0"/>
          </a:p>
          <a:p>
            <a:r>
              <a:rPr lang="en-US" dirty="0" smtClean="0"/>
              <a:t>They </a:t>
            </a:r>
            <a:r>
              <a:rPr lang="en-US" dirty="0"/>
              <a:t>may characterize a </a:t>
            </a:r>
            <a:r>
              <a:rPr lang="en-US" dirty="0" smtClean="0"/>
              <a:t>location</a:t>
            </a:r>
            <a:r>
              <a:rPr lang="en-US" dirty="0"/>
              <a:t>, a bank account, and a table of data or any entry that the program must handle. </a:t>
            </a:r>
          </a:p>
          <a:p>
            <a:r>
              <a:rPr lang="en-US" dirty="0"/>
              <a:t>Each object holds data and code to operate the data</a:t>
            </a:r>
            <a:r>
              <a:rPr lang="en-US" dirty="0" smtClean="0"/>
              <a:t>.</a:t>
            </a:r>
          </a:p>
          <a:p>
            <a:r>
              <a:rPr lang="en-US" dirty="0"/>
              <a:t>Object can interact without having to </a:t>
            </a:r>
            <a:r>
              <a:rPr lang="en-US" dirty="0" smtClean="0"/>
              <a:t>identify </a:t>
            </a:r>
            <a:r>
              <a:rPr lang="en-US" dirty="0"/>
              <a:t>the details of each other‘s data or code.</a:t>
            </a:r>
          </a:p>
          <a:p>
            <a:r>
              <a:rPr lang="en-US" dirty="0"/>
              <a:t>It is sufficient to identify the type of message received and the type of reply returned by the objects. 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</a:t>
            </a:r>
          </a:p>
        </p:txBody>
      </p:sp>
    </p:spTree>
    <p:extLst>
      <p:ext uri="{BB962C8B-B14F-4D97-AF65-F5344CB8AC3E}">
        <p14:creationId xmlns:p14="http://schemas.microsoft.com/office/powerpoint/2010/main" val="1362229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</a:t>
            </a: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838203" y="1832071"/>
            <a:ext cx="5065779" cy="433384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>
            <a:noAutofit/>
          </a:bodyPr>
          <a:lstStyle/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using System;</a:t>
            </a:r>
            <a:endParaRPr lang="en-US" sz="1793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endParaRPr lang="en-US" sz="1793" b="1" noProof="1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public void Addition()</a:t>
            </a: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 a = 10;</a:t>
            </a: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 b = 20;</a:t>
            </a: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 sum = a + b;</a:t>
            </a: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Console.WriteLine("Sum ="+sum);</a:t>
            </a: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sz="1793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6095056" y="1848802"/>
            <a:ext cx="5238206" cy="433384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>
            <a:noAutofit/>
          </a:bodyPr>
          <a:lstStyle/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class Demo</a:t>
            </a: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static void Main()</a:t>
            </a: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obj1 = new </a:t>
            </a:r>
            <a:r>
              <a:rPr lang="en-US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obj1.Addition();</a:t>
            </a: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sz="1793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850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79476" indent="-379476"/>
            <a:r>
              <a:rPr lang="en-US" dirty="0"/>
              <a:t>Constructors and destructors are special member functions of classes that are used to construct and destroy class objects</a:t>
            </a:r>
            <a:r>
              <a:rPr lang="en-US" dirty="0" smtClean="0"/>
              <a:t>.</a:t>
            </a:r>
          </a:p>
          <a:p>
            <a:pPr marL="379476" indent="-379476"/>
            <a:r>
              <a:rPr lang="en-US" dirty="0" smtClean="0"/>
              <a:t>A </a:t>
            </a:r>
            <a:r>
              <a:rPr lang="en-US" dirty="0"/>
              <a:t>constructor initializes an object when it is created. It has the same name as its class and  is syntactically similar to a method. However, constructors have no explicit return type. </a:t>
            </a:r>
          </a:p>
          <a:p>
            <a:pPr marL="379476" indent="-379476"/>
            <a:r>
              <a:rPr lang="en-US" dirty="0"/>
              <a:t>The general form of a constructor is shown here: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Constructor and </a:t>
            </a:r>
            <a:r>
              <a:rPr lang="en-IN" dirty="0" smtClean="0"/>
              <a:t>Destructor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900818" y="4970413"/>
            <a:ext cx="6452986" cy="119550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79476" indent="-379476"/>
            <a:r>
              <a:rPr lang="en-US" sz="1793" b="1" dirty="0">
                <a:latin typeface="Courier New" pitchFamily="49" charset="0"/>
                <a:cs typeface="Courier New" pitchFamily="49" charset="0"/>
              </a:rPr>
              <a:t>access class-name(param-list)</a:t>
            </a:r>
          </a:p>
          <a:p>
            <a:pPr marL="379476" indent="-379476"/>
            <a:r>
              <a:rPr lang="en-US" sz="1793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379476" indent="-379476"/>
            <a:r>
              <a:rPr lang="en-US" sz="1793" b="1" dirty="0">
                <a:latin typeface="Courier New" pitchFamily="49" charset="0"/>
                <a:cs typeface="Courier New" pitchFamily="49" charset="0"/>
              </a:rPr>
              <a:t>	// constructor code</a:t>
            </a:r>
          </a:p>
          <a:p>
            <a:pPr marL="379476" indent="-379476"/>
            <a:r>
              <a:rPr lang="en-US" sz="1793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79298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3 types </a:t>
            </a:r>
            <a:r>
              <a:rPr lang="en-US" dirty="0" smtClean="0"/>
              <a:t>of </a:t>
            </a:r>
            <a:r>
              <a:rPr lang="en-IN" dirty="0" smtClean="0"/>
              <a:t>constructor</a:t>
            </a:r>
          </a:p>
          <a:p>
            <a:pPr lvl="1"/>
            <a:r>
              <a:rPr lang="en-IN" dirty="0" smtClean="0"/>
              <a:t>Static </a:t>
            </a:r>
            <a:r>
              <a:rPr lang="en-IN" dirty="0"/>
              <a:t>Constructor</a:t>
            </a:r>
          </a:p>
          <a:p>
            <a:pPr lvl="1"/>
            <a:r>
              <a:rPr lang="en-US" dirty="0" smtClean="0"/>
              <a:t>Default </a:t>
            </a:r>
            <a:r>
              <a:rPr lang="en-US" dirty="0"/>
              <a:t>constructor - takes no parameters.</a:t>
            </a:r>
          </a:p>
          <a:p>
            <a:pPr lvl="1"/>
            <a:r>
              <a:rPr lang="en-IN" dirty="0" smtClean="0"/>
              <a:t>Overloaded </a:t>
            </a:r>
            <a:r>
              <a:rPr lang="en-IN" dirty="0"/>
              <a:t>constructor - takes parameters.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 and </a:t>
            </a:r>
            <a:r>
              <a:rPr lang="en-IN" dirty="0"/>
              <a:t>Destructor</a:t>
            </a:r>
          </a:p>
        </p:txBody>
      </p:sp>
    </p:spTree>
    <p:extLst>
      <p:ext uri="{BB962C8B-B14F-4D97-AF65-F5344CB8AC3E}">
        <p14:creationId xmlns:p14="http://schemas.microsoft.com/office/powerpoint/2010/main" val="943851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static constructor is first called when the runtime first accesses the class. </a:t>
            </a:r>
            <a:endParaRPr lang="en-US" dirty="0" smtClean="0"/>
          </a:p>
          <a:p>
            <a:r>
              <a:rPr lang="en-US" dirty="0" smtClean="0"/>
              <a:t>Static variables are </a:t>
            </a:r>
            <a:r>
              <a:rPr lang="en-US" dirty="0"/>
              <a:t>accessible at all times, so the runtime must initialize it on its first access.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 and </a:t>
            </a:r>
            <a:r>
              <a:rPr lang="en-IN" dirty="0"/>
              <a:t>Destructor</a:t>
            </a:r>
          </a:p>
        </p:txBody>
      </p:sp>
    </p:spTree>
    <p:extLst>
      <p:ext uri="{BB962C8B-B14F-4D97-AF65-F5344CB8AC3E}">
        <p14:creationId xmlns:p14="http://schemas.microsoft.com/office/powerpoint/2010/main" val="1170993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 and </a:t>
            </a:r>
            <a:r>
              <a:rPr lang="en-IN" dirty="0"/>
              <a:t>Destructor</a:t>
            </a: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875625" y="1922912"/>
            <a:ext cx="5316391" cy="383950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>
            <a:noAutofit/>
          </a:bodyPr>
          <a:lstStyle/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using System;</a:t>
            </a:r>
            <a:endParaRPr lang="en-US" sz="1793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endParaRPr lang="en-US" sz="1793" b="1" noProof="1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private static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number;</a:t>
            </a:r>
          </a:p>
          <a:p>
            <a:r>
              <a:rPr lang="en-US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public static </a:t>
            </a:r>
            <a:r>
              <a:rPr lang="en-US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Number { get { return number; } }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static </a:t>
            </a:r>
            <a:r>
              <a:rPr lang="en-US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(){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Random r = new Random();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number =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r.Next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6360298" y="1922912"/>
            <a:ext cx="4885508" cy="383950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>
            <a:noAutofit/>
          </a:bodyPr>
          <a:lstStyle/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class Program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static void Main(string[]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("Static Number = " + </a:t>
            </a:r>
            <a:r>
              <a:rPr lang="en-US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.Number);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sz="1793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626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 and </a:t>
            </a:r>
            <a:r>
              <a:rPr lang="en-IN" dirty="0"/>
              <a:t>Destructor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838205" y="1832071"/>
            <a:ext cx="4885508" cy="433384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>
            <a:noAutofit/>
          </a:bodyPr>
          <a:lstStyle/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using System;</a:t>
            </a:r>
            <a:endParaRPr lang="en-US" sz="1793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endParaRPr lang="en-US" sz="1793" b="1" noProof="1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private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number;</a:t>
            </a:r>
          </a:p>
          <a:p>
            <a:r>
              <a:rPr lang="en-US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Number { get { return number; } </a:t>
            </a:r>
          </a:p>
          <a:p>
            <a:r>
              <a:rPr lang="en-US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Random r = new Random();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number =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r.Next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6559739" y="1832071"/>
            <a:ext cx="4794069" cy="433384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>
            <a:noAutofit/>
          </a:bodyPr>
          <a:lstStyle/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class Program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static void Main(string[]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=new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("Static Number = " +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num.Number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sz="1793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567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 and </a:t>
            </a:r>
            <a:r>
              <a:rPr lang="en-IN" dirty="0"/>
              <a:t>Destructor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838204" y="1832072"/>
            <a:ext cx="5113763" cy="433384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>
            <a:noAutofit/>
          </a:bodyPr>
          <a:lstStyle/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using System;</a:t>
            </a:r>
            <a:endParaRPr lang="en-US" sz="1793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endParaRPr lang="en-US" sz="1793" b="1" noProof="1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private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number;</a:t>
            </a:r>
          </a:p>
          <a:p>
            <a:r>
              <a:rPr lang="en-US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Number { get { return number; } </a:t>
            </a:r>
          </a:p>
          <a:p>
            <a:r>
              <a:rPr lang="en-US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pPr lvl="1"/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Random r = new Random();</a:t>
            </a:r>
          </a:p>
          <a:p>
            <a:pPr lvl="1"/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number =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r.Next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seed)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1"/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Random r = new Random(seed);</a:t>
            </a:r>
          </a:p>
          <a:p>
            <a:endParaRPr lang="en-IN" sz="1793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6167718" y="1832071"/>
            <a:ext cx="5448880" cy="433384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>
            <a:noAutofit/>
          </a:bodyPr>
          <a:lstStyle/>
          <a:p>
            <a:pPr lvl="1"/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number =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r.Next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class Program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static void Main(string[]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1"/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=new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lvl="1"/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("Static Number = " +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num.Number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/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num1=new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(500);</a:t>
            </a:r>
          </a:p>
          <a:p>
            <a:pPr lvl="1"/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("Static Speed = " +num1.Number);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sz="1793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461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Constructors and destructors do not have return types nor can they return values</a:t>
            </a:r>
            <a:r>
              <a:rPr lang="en-US" dirty="0" smtClean="0"/>
              <a:t>.</a:t>
            </a:r>
          </a:p>
          <a:p>
            <a:r>
              <a:rPr lang="en-US" dirty="0"/>
              <a:t>References and pointers cannot be used on constructors and destructors because their addresses cannot be taken</a:t>
            </a:r>
            <a:r>
              <a:rPr lang="en-US" dirty="0" smtClean="0"/>
              <a:t>.</a:t>
            </a:r>
          </a:p>
          <a:p>
            <a:r>
              <a:rPr lang="en-US" dirty="0"/>
              <a:t>Constructors cannot be declared with the keyword virtual</a:t>
            </a:r>
            <a:r>
              <a:rPr lang="en-US" dirty="0" smtClean="0"/>
              <a:t>.</a:t>
            </a:r>
          </a:p>
          <a:p>
            <a:r>
              <a:rPr lang="en-US" dirty="0"/>
              <a:t>Constructors and destructors cannot be declared </a:t>
            </a:r>
            <a:r>
              <a:rPr lang="en-US" dirty="0" err="1"/>
              <a:t>const</a:t>
            </a:r>
            <a:r>
              <a:rPr lang="en-US" dirty="0"/>
              <a:t>, or volatile</a:t>
            </a:r>
            <a:r>
              <a:rPr lang="en-US" dirty="0" smtClean="0"/>
              <a:t>.</a:t>
            </a:r>
          </a:p>
          <a:p>
            <a:r>
              <a:rPr lang="en-US" dirty="0"/>
              <a:t>The general form of a destructors</a:t>
            </a:r>
            <a:r>
              <a:rPr lang="en-US" dirty="0" smtClean="0"/>
              <a:t> </a:t>
            </a:r>
            <a:r>
              <a:rPr lang="en-US" dirty="0"/>
              <a:t>is shown here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 and </a:t>
            </a:r>
            <a:r>
              <a:rPr lang="en-IN" dirty="0"/>
              <a:t>Destructor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243496" y="4935944"/>
            <a:ext cx="3021151" cy="91961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79476" indent="-379476"/>
            <a:r>
              <a:rPr lang="en-US" sz="1793" b="1" dirty="0">
                <a:latin typeface="Courier New" pitchFamily="49" charset="0"/>
                <a:cs typeface="Courier New" pitchFamily="49" charset="0"/>
              </a:rPr>
              <a:t>~ class-name()</a:t>
            </a:r>
          </a:p>
          <a:p>
            <a:pPr marL="379476" indent="-379476"/>
            <a:r>
              <a:rPr lang="en-US" sz="1793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379476" indent="-379476"/>
            <a:r>
              <a:rPr lang="en-US" sz="1793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94322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smtClean="0"/>
              <a:t>“</a:t>
            </a:r>
            <a:r>
              <a:rPr lang="en-US" dirty="0" err="1" smtClean="0"/>
              <a:t>enum</a:t>
            </a:r>
            <a:r>
              <a:rPr lang="en-US" dirty="0" smtClean="0"/>
              <a:t>” </a:t>
            </a:r>
            <a:r>
              <a:rPr lang="en-US" dirty="0"/>
              <a:t>keyword is used to declare an enumeration, a distinct type that consists of a set of named constants </a:t>
            </a:r>
            <a:r>
              <a:rPr lang="en-US" dirty="0" smtClean="0"/>
              <a:t>called </a:t>
            </a:r>
            <a:r>
              <a:rPr lang="en-US" dirty="0"/>
              <a:t>the enumerator list</a:t>
            </a:r>
            <a:r>
              <a:rPr lang="en-US" dirty="0" smtClean="0"/>
              <a:t>.</a:t>
            </a:r>
          </a:p>
          <a:p>
            <a:r>
              <a:rPr lang="en-US" dirty="0"/>
              <a:t>The enumerator is an object that can return each item in a collection, one by </a:t>
            </a:r>
            <a:r>
              <a:rPr lang="en-US" dirty="0" err="1"/>
              <a:t>one,in</a:t>
            </a:r>
            <a:r>
              <a:rPr lang="en-US" dirty="0"/>
              <a:t> order, as they’re </a:t>
            </a:r>
            <a:r>
              <a:rPr lang="en-US" dirty="0" smtClean="0"/>
              <a:t>requested.</a:t>
            </a:r>
            <a:r>
              <a:rPr lang="en-US" dirty="0"/>
              <a:t> </a:t>
            </a:r>
            <a:r>
              <a:rPr lang="en-US" dirty="0" smtClean="0"/>
              <a:t>For Example: </a:t>
            </a:r>
            <a:r>
              <a:rPr lang="en-US" dirty="0"/>
              <a:t> </a:t>
            </a:r>
            <a:endParaRPr lang="en-US" dirty="0" smtClean="0"/>
          </a:p>
          <a:p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Enumeration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446475" y="4935089"/>
            <a:ext cx="6232488" cy="119550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793" b="1" dirty="0" err="1"/>
              <a:t>enum</a:t>
            </a:r>
            <a:r>
              <a:rPr lang="en-US" sz="1793" dirty="0"/>
              <a:t> Day </a:t>
            </a:r>
          </a:p>
          <a:p>
            <a:r>
              <a:rPr lang="en-US" sz="1793" dirty="0"/>
              <a:t>{ </a:t>
            </a:r>
          </a:p>
          <a:p>
            <a:r>
              <a:rPr lang="en-US" sz="1793" dirty="0"/>
              <a:t>Sunday, Monday, Tuesday, Wednesday, Thursday, Friday, Saturday</a:t>
            </a:r>
          </a:p>
          <a:p>
            <a:r>
              <a:rPr lang="en-US" sz="1793" dirty="0"/>
              <a:t>};  </a:t>
            </a:r>
            <a:endParaRPr lang="en-IN" sz="1793" dirty="0"/>
          </a:p>
        </p:txBody>
      </p:sp>
    </p:spTree>
    <p:extLst>
      <p:ext uri="{BB962C8B-B14F-4D97-AF65-F5344CB8AC3E}">
        <p14:creationId xmlns:p14="http://schemas.microsoft.com/office/powerpoint/2010/main" val="3090346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enumerator “knows” the order of the items and keeps track of where it is in the sequence. It then returns the current item when it is requested</a:t>
            </a:r>
            <a:r>
              <a:rPr lang="en-US" dirty="0" smtClean="0"/>
              <a:t>.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Enumeration</a:t>
            </a:r>
          </a:p>
        </p:txBody>
      </p:sp>
    </p:spTree>
    <p:extLst>
      <p:ext uri="{BB962C8B-B14F-4D97-AF65-F5344CB8AC3E}">
        <p14:creationId xmlns:p14="http://schemas.microsoft.com/office/powerpoint/2010/main" val="4069076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</a:t>
            </a:r>
            <a:r>
              <a:rPr lang="en-US" dirty="0" err="1"/>
              <a:t>enums</a:t>
            </a:r>
            <a:r>
              <a:rPr lang="en-US" dirty="0"/>
              <a:t> are of type </a:t>
            </a:r>
            <a:r>
              <a:rPr lang="en-US" dirty="0" err="1"/>
              <a:t>System.Enum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err="1" smtClean="0"/>
              <a:t>Enum</a:t>
            </a:r>
            <a:r>
              <a:rPr lang="en-US" dirty="0" smtClean="0"/>
              <a:t> </a:t>
            </a:r>
            <a:r>
              <a:rPr lang="en-US" dirty="0"/>
              <a:t>types are limited to long, </a:t>
            </a:r>
            <a:r>
              <a:rPr lang="en-US" dirty="0" err="1"/>
              <a:t>int</a:t>
            </a:r>
            <a:r>
              <a:rPr lang="en-US" dirty="0"/>
              <a:t>, short and byte only. </a:t>
            </a:r>
            <a:endParaRPr lang="en-US" dirty="0" smtClean="0"/>
          </a:p>
          <a:p>
            <a:r>
              <a:rPr lang="en-US" dirty="0" smtClean="0"/>
              <a:t>By </a:t>
            </a:r>
            <a:r>
              <a:rPr lang="en-US" dirty="0"/>
              <a:t>default, the value of an </a:t>
            </a:r>
            <a:r>
              <a:rPr lang="en-US" dirty="0" err="1"/>
              <a:t>enum</a:t>
            </a:r>
            <a:r>
              <a:rPr lang="en-US" dirty="0"/>
              <a:t> member is </a:t>
            </a:r>
            <a:r>
              <a:rPr lang="en-US" dirty="0" err="1"/>
              <a:t>int</a:t>
            </a:r>
            <a:r>
              <a:rPr lang="en-US" dirty="0"/>
              <a:t> and starts with 0 in an increment of 1</a:t>
            </a:r>
            <a:r>
              <a:rPr lang="en-US" dirty="0" smtClean="0"/>
              <a:t>.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Enumeration</a:t>
            </a:r>
          </a:p>
        </p:txBody>
      </p:sp>
    </p:spTree>
    <p:extLst>
      <p:ext uri="{BB962C8B-B14F-4D97-AF65-F5344CB8AC3E}">
        <p14:creationId xmlns:p14="http://schemas.microsoft.com/office/powerpoint/2010/main" val="4028663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Enumeration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2726" y="1851194"/>
            <a:ext cx="4656440" cy="4231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967867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1290860" y="1832068"/>
          <a:ext cx="9968873" cy="4111648"/>
        </p:xfrm>
        <a:graphic>
          <a:graphicData uri="http://schemas.openxmlformats.org/drawingml/2006/table">
            <a:tbl>
              <a:tblPr/>
              <a:tblGrid>
                <a:gridCol w="251014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45872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40934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1" baseline="0" dirty="0" err="1" smtClean="0">
                          <a:solidFill>
                            <a:srgbClr val="FFFFFF"/>
                          </a:solidFill>
                          <a:effectLst/>
                        </a:rPr>
                        <a:t>Enum</a:t>
                      </a:r>
                      <a:r>
                        <a:rPr lang="en-IN" sz="1800" b="1" baseline="0" dirty="0" smtClean="0">
                          <a:solidFill>
                            <a:srgbClr val="FFFFFF"/>
                          </a:solidFill>
                          <a:effectLst/>
                        </a:rPr>
                        <a:t> method</a:t>
                      </a:r>
                      <a:endParaRPr lang="en-IN" sz="1800" b="1" baseline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67717" marR="67717" marT="33858" marB="33858" anchor="b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A9E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1" baseline="0" dirty="0" smtClean="0">
                          <a:solidFill>
                            <a:srgbClr val="FFFFFF"/>
                          </a:solidFill>
                          <a:effectLst/>
                        </a:rPr>
                        <a:t>Description</a:t>
                      </a:r>
                      <a:endParaRPr lang="en-IN" sz="1800" b="1" baseline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67717" marR="67717" marT="33858" marB="33858" anchor="b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A9E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63601">
                <a:tc>
                  <a:txBody>
                    <a:bodyPr/>
                    <a:lstStyle/>
                    <a:p>
                      <a:pPr fontAlgn="t"/>
                      <a:r>
                        <a:rPr lang="en-IN" sz="1800" b="1" dirty="0">
                          <a:solidFill>
                            <a:srgbClr val="414141"/>
                          </a:solidFill>
                          <a:effectLst/>
                        </a:rPr>
                        <a:t>Format</a:t>
                      </a:r>
                    </a:p>
                  </a:txBody>
                  <a:tcPr marL="67717" marR="67717" marT="33858" marB="33858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solidFill>
                            <a:srgbClr val="414141"/>
                          </a:solidFill>
                          <a:effectLst/>
                        </a:rPr>
                        <a:t>Converts the specified value of enum type to the specified string format.</a:t>
                      </a:r>
                    </a:p>
                  </a:txBody>
                  <a:tcPr marL="67717" marR="67717" marT="33858" marB="33858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63601">
                <a:tc>
                  <a:txBody>
                    <a:bodyPr/>
                    <a:lstStyle/>
                    <a:p>
                      <a:pPr fontAlgn="t"/>
                      <a:r>
                        <a:rPr lang="en-IN" sz="1800" b="1" dirty="0" err="1">
                          <a:solidFill>
                            <a:srgbClr val="414141"/>
                          </a:solidFill>
                          <a:effectLst/>
                        </a:rPr>
                        <a:t>GetName</a:t>
                      </a:r>
                      <a:endParaRPr lang="en-IN" sz="1800" b="1" dirty="0">
                        <a:solidFill>
                          <a:srgbClr val="414141"/>
                        </a:solidFill>
                        <a:effectLst/>
                      </a:endParaRPr>
                    </a:p>
                  </a:txBody>
                  <a:tcPr marL="67717" marR="67717" marT="33858" marB="33858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solidFill>
                            <a:srgbClr val="414141"/>
                          </a:solidFill>
                          <a:effectLst/>
                        </a:rPr>
                        <a:t>Returns the name of the constant of the specified value of specified enum.</a:t>
                      </a:r>
                    </a:p>
                  </a:txBody>
                  <a:tcPr marL="67717" marR="67717" marT="33858" marB="33858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63601">
                <a:tc>
                  <a:txBody>
                    <a:bodyPr/>
                    <a:lstStyle/>
                    <a:p>
                      <a:pPr fontAlgn="t"/>
                      <a:r>
                        <a:rPr lang="en-IN" sz="1800" b="1" dirty="0" err="1">
                          <a:solidFill>
                            <a:srgbClr val="414141"/>
                          </a:solidFill>
                          <a:effectLst/>
                        </a:rPr>
                        <a:t>GetNames</a:t>
                      </a:r>
                      <a:endParaRPr lang="en-IN" sz="1800" b="1" dirty="0">
                        <a:solidFill>
                          <a:srgbClr val="414141"/>
                        </a:solidFill>
                        <a:effectLst/>
                      </a:endParaRPr>
                    </a:p>
                  </a:txBody>
                  <a:tcPr marL="67717" marR="67717" marT="33858" marB="33858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solidFill>
                            <a:srgbClr val="414141"/>
                          </a:solidFill>
                          <a:effectLst/>
                        </a:rPr>
                        <a:t>Returns an array of string name of all the constant of specified enum.</a:t>
                      </a:r>
                    </a:p>
                  </a:txBody>
                  <a:tcPr marL="67717" marR="67717" marT="33858" marB="33858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63601">
                <a:tc>
                  <a:txBody>
                    <a:bodyPr/>
                    <a:lstStyle/>
                    <a:p>
                      <a:pPr fontAlgn="t"/>
                      <a:r>
                        <a:rPr lang="en-IN" sz="1800" b="1" dirty="0" err="1">
                          <a:solidFill>
                            <a:srgbClr val="414141"/>
                          </a:solidFill>
                          <a:effectLst/>
                        </a:rPr>
                        <a:t>GetValues</a:t>
                      </a:r>
                      <a:endParaRPr lang="en-IN" sz="1800" b="1" dirty="0">
                        <a:solidFill>
                          <a:srgbClr val="414141"/>
                        </a:solidFill>
                        <a:effectLst/>
                      </a:endParaRPr>
                    </a:p>
                  </a:txBody>
                  <a:tcPr marL="67717" marR="67717" marT="33858" marB="33858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solidFill>
                            <a:srgbClr val="414141"/>
                          </a:solidFill>
                          <a:effectLst/>
                        </a:rPr>
                        <a:t>Returns an array of the values of all the constants of specified enum.</a:t>
                      </a:r>
                    </a:p>
                  </a:txBody>
                  <a:tcPr marL="67717" marR="67717" marT="33858" marB="33858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778053">
                <a:tc>
                  <a:txBody>
                    <a:bodyPr/>
                    <a:lstStyle/>
                    <a:p>
                      <a:pPr fontAlgn="t"/>
                      <a:r>
                        <a:rPr lang="en-IN" sz="1800" b="1" dirty="0">
                          <a:solidFill>
                            <a:srgbClr val="414141"/>
                          </a:solidFill>
                          <a:effectLst/>
                        </a:rPr>
                        <a:t>object Parse(type, string)</a:t>
                      </a:r>
                    </a:p>
                  </a:txBody>
                  <a:tcPr marL="67717" marR="67717" marT="33858" marB="33858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solidFill>
                            <a:srgbClr val="414141"/>
                          </a:solidFill>
                          <a:effectLst/>
                        </a:rPr>
                        <a:t>Converts the string representation of the name or numeric value of one or more enumerated constants to an equivalent enumerated object.</a:t>
                      </a:r>
                    </a:p>
                  </a:txBody>
                  <a:tcPr marL="67717" marR="67717" marT="33858" marB="33858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37155">
                <a:tc>
                  <a:txBody>
                    <a:bodyPr/>
                    <a:lstStyle/>
                    <a:p>
                      <a:pPr fontAlgn="t"/>
                      <a:r>
                        <a:rPr lang="en-IN" sz="1800" b="1" dirty="0">
                          <a:solidFill>
                            <a:srgbClr val="414141"/>
                          </a:solidFill>
                          <a:effectLst/>
                        </a:rPr>
                        <a:t>bool </a:t>
                      </a:r>
                      <a:r>
                        <a:rPr lang="en-IN" sz="1800" b="1" dirty="0" err="1">
                          <a:solidFill>
                            <a:srgbClr val="414141"/>
                          </a:solidFill>
                          <a:effectLst/>
                        </a:rPr>
                        <a:t>TryParse</a:t>
                      </a:r>
                      <a:r>
                        <a:rPr lang="en-IN" sz="1800" b="1" dirty="0">
                          <a:solidFill>
                            <a:srgbClr val="414141"/>
                          </a:solidFill>
                          <a:effectLst/>
                        </a:rPr>
                        <a:t>(string, out </a:t>
                      </a:r>
                      <a:r>
                        <a:rPr lang="en-IN" sz="1800" b="1" dirty="0" err="1">
                          <a:solidFill>
                            <a:srgbClr val="414141"/>
                          </a:solidFill>
                          <a:effectLst/>
                        </a:rPr>
                        <a:t>TEnum</a:t>
                      </a:r>
                      <a:r>
                        <a:rPr lang="en-IN" sz="1800" b="1" dirty="0">
                          <a:solidFill>
                            <a:srgbClr val="414141"/>
                          </a:solidFill>
                          <a:effectLst/>
                        </a:rPr>
                        <a:t>)</a:t>
                      </a:r>
                    </a:p>
                  </a:txBody>
                  <a:tcPr marL="67717" marR="67717" marT="33858" marB="33858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solidFill>
                            <a:srgbClr val="414141"/>
                          </a:solidFill>
                          <a:effectLst/>
                        </a:rPr>
                        <a:t>Converts the string representation of the name or numeric value of one or more enumerated constants to an equivalent enumerated object. The return value indicates whether the conversion succeeded.</a:t>
                      </a:r>
                    </a:p>
                  </a:txBody>
                  <a:tcPr marL="67717" marR="67717" marT="33858" marB="33858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Enumeration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0028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Enumeration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570" y="1879354"/>
            <a:ext cx="4589985" cy="4363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2192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Inheritance means getting some thing (properties) as heredity. To get that, we need a hierarchical structure. And that is provided by OOP using Inheritance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properties (variables) and methods are accessible to the sub class, but keep in mind that only the public ones. 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private methods or variables are not accessible from the child class. 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</a:t>
            </a:r>
          </a:p>
        </p:txBody>
      </p:sp>
    </p:spTree>
    <p:extLst>
      <p:ext uri="{BB962C8B-B14F-4D97-AF65-F5344CB8AC3E}">
        <p14:creationId xmlns:p14="http://schemas.microsoft.com/office/powerpoint/2010/main" val="4122472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the methods are accessible can be called without creating the object of that super class. </a:t>
            </a:r>
            <a:endParaRPr lang="en-IN" dirty="0"/>
          </a:p>
          <a:p>
            <a:r>
              <a:rPr lang="en-US" dirty="0"/>
              <a:t>The reason behind OOP programming is to promote the reusability of code and to reduce complexity in code and it is possible by using inheritance.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</a:t>
            </a:r>
          </a:p>
        </p:txBody>
      </p:sp>
    </p:spTree>
    <p:extLst>
      <p:ext uri="{BB962C8B-B14F-4D97-AF65-F5344CB8AC3E}">
        <p14:creationId xmlns:p14="http://schemas.microsoft.com/office/powerpoint/2010/main" val="4123394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423" y="1994630"/>
            <a:ext cx="10015489" cy="4087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734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There </a:t>
            </a:r>
            <a:r>
              <a:rPr lang="en-IN" dirty="0" smtClean="0"/>
              <a:t>are</a:t>
            </a:r>
          </a:p>
          <a:p>
            <a:pPr lvl="1"/>
            <a:r>
              <a:rPr lang="en-US" dirty="0" smtClean="0"/>
              <a:t>Single Inheritance</a:t>
            </a:r>
          </a:p>
          <a:p>
            <a:pPr lvl="1"/>
            <a:r>
              <a:rPr lang="en-US" dirty="0" smtClean="0"/>
              <a:t>Multi Level Inheritance</a:t>
            </a:r>
          </a:p>
          <a:p>
            <a:pPr lvl="1"/>
            <a:r>
              <a:rPr lang="en-US" dirty="0" smtClean="0"/>
              <a:t>Multiple </a:t>
            </a:r>
            <a:r>
              <a:rPr lang="en-US" dirty="0"/>
              <a:t>Inheritance</a:t>
            </a:r>
          </a:p>
          <a:p>
            <a:pPr lvl="1"/>
            <a:r>
              <a:rPr lang="en-US" dirty="0" smtClean="0"/>
              <a:t>Hierarchical </a:t>
            </a:r>
            <a:r>
              <a:rPr lang="en-US" dirty="0"/>
              <a:t>Inheritance</a:t>
            </a:r>
          </a:p>
          <a:p>
            <a:pPr lvl="1"/>
            <a:r>
              <a:rPr lang="en-US" dirty="0" smtClean="0"/>
              <a:t>Hybrid </a:t>
            </a:r>
            <a:r>
              <a:rPr lang="en-US" dirty="0"/>
              <a:t>Inheritance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</a:t>
            </a:r>
          </a:p>
        </p:txBody>
      </p:sp>
    </p:spTree>
    <p:extLst>
      <p:ext uri="{BB962C8B-B14F-4D97-AF65-F5344CB8AC3E}">
        <p14:creationId xmlns:p14="http://schemas.microsoft.com/office/powerpoint/2010/main" val="1423102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1528" lvl="1" indent="-341528"/>
            <a:r>
              <a:rPr lang="en-US" dirty="0" smtClean="0"/>
              <a:t>Single </a:t>
            </a:r>
            <a:r>
              <a:rPr lang="en-US" dirty="0"/>
              <a:t>Inheritance</a:t>
            </a:r>
          </a:p>
          <a:p>
            <a:pPr lvl="1"/>
            <a:r>
              <a:rPr lang="en-IN" dirty="0" smtClean="0"/>
              <a:t>Example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35379" y="1827061"/>
            <a:ext cx="6093628" cy="423024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sz="1793" dirty="0"/>
              <a:t>public class </a:t>
            </a:r>
            <a:r>
              <a:rPr lang="en-US" sz="1793" dirty="0" err="1"/>
              <a:t>BaseClass</a:t>
            </a:r>
            <a:r>
              <a:rPr lang="en-US" sz="1793" dirty="0"/>
              <a:t> </a:t>
            </a:r>
          </a:p>
          <a:p>
            <a:r>
              <a:rPr lang="en-US" sz="1793" dirty="0"/>
              <a:t>{ </a:t>
            </a:r>
          </a:p>
          <a:p>
            <a:pPr lvl="1"/>
            <a:r>
              <a:rPr lang="en-US" sz="1793" dirty="0"/>
              <a:t>public </a:t>
            </a:r>
            <a:r>
              <a:rPr lang="en-US" sz="1793" dirty="0" err="1"/>
              <a:t>BaseClass</a:t>
            </a:r>
            <a:r>
              <a:rPr lang="en-US" sz="1793" dirty="0"/>
              <a:t>() </a:t>
            </a:r>
          </a:p>
          <a:p>
            <a:pPr lvl="1"/>
            <a:r>
              <a:rPr lang="en-US" sz="1793" dirty="0"/>
              <a:t>{ </a:t>
            </a:r>
          </a:p>
          <a:p>
            <a:pPr lvl="1"/>
            <a:r>
              <a:rPr lang="en-US" sz="1793" dirty="0"/>
              <a:t>// Default Constructor </a:t>
            </a:r>
          </a:p>
          <a:p>
            <a:pPr lvl="1"/>
            <a:r>
              <a:rPr lang="en-US" sz="1793" dirty="0"/>
              <a:t>} </a:t>
            </a:r>
          </a:p>
          <a:p>
            <a:r>
              <a:rPr lang="en-US" sz="1793" dirty="0"/>
              <a:t>} </a:t>
            </a:r>
          </a:p>
          <a:p>
            <a:r>
              <a:rPr lang="en-US" sz="1793" dirty="0"/>
              <a:t>public class </a:t>
            </a:r>
            <a:r>
              <a:rPr lang="en-US" sz="1793" dirty="0" err="1"/>
              <a:t>SubClass</a:t>
            </a:r>
            <a:r>
              <a:rPr lang="en-US" sz="1793" dirty="0"/>
              <a:t> : </a:t>
            </a:r>
            <a:r>
              <a:rPr lang="en-US" sz="1793" dirty="0" err="1"/>
              <a:t>BaseClass</a:t>
            </a:r>
            <a:r>
              <a:rPr lang="en-US" sz="1793" dirty="0"/>
              <a:t>                  &gt; Derived</a:t>
            </a:r>
          </a:p>
          <a:p>
            <a:r>
              <a:rPr lang="en-US" sz="1793" dirty="0"/>
              <a:t>   </a:t>
            </a:r>
          </a:p>
          <a:p>
            <a:r>
              <a:rPr lang="en-US" sz="1793" dirty="0"/>
              <a:t>{ </a:t>
            </a:r>
          </a:p>
          <a:p>
            <a:pPr lvl="1"/>
            <a:r>
              <a:rPr lang="en-US" sz="1793" dirty="0"/>
              <a:t>public </a:t>
            </a:r>
            <a:r>
              <a:rPr lang="en-US" sz="1793" dirty="0" err="1"/>
              <a:t>SubClass</a:t>
            </a:r>
            <a:r>
              <a:rPr lang="en-US" sz="1793" dirty="0"/>
              <a:t>() </a:t>
            </a:r>
          </a:p>
          <a:p>
            <a:pPr lvl="1"/>
            <a:r>
              <a:rPr lang="en-US" sz="1793" dirty="0"/>
              <a:t>{ </a:t>
            </a:r>
          </a:p>
          <a:p>
            <a:pPr lvl="1"/>
            <a:r>
              <a:rPr lang="en-US" sz="1793" dirty="0"/>
              <a:t>// Default Constructor </a:t>
            </a:r>
          </a:p>
          <a:p>
            <a:pPr lvl="1"/>
            <a:r>
              <a:rPr lang="en-US" sz="1793" dirty="0"/>
              <a:t>} </a:t>
            </a:r>
          </a:p>
          <a:p>
            <a:r>
              <a:rPr lang="en-US" sz="1793" dirty="0"/>
              <a:t>} </a:t>
            </a:r>
            <a:endParaRPr lang="en-IN" sz="1793" dirty="0"/>
          </a:p>
        </p:txBody>
      </p:sp>
      <p:pic>
        <p:nvPicPr>
          <p:cNvPr id="7170" name="Picture 2" descr="Imag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889" y="3142126"/>
            <a:ext cx="2789092" cy="2725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6706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1528" lvl="1" indent="-341528"/>
            <a:r>
              <a:rPr lang="en-US" dirty="0"/>
              <a:t>Multi Level </a:t>
            </a:r>
            <a:r>
              <a:rPr lang="en-US" dirty="0" smtClean="0"/>
              <a:t>Inheritance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681583" y="4151972"/>
            <a:ext cx="4659258" cy="202315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793" dirty="0"/>
              <a:t>public class </a:t>
            </a:r>
            <a:r>
              <a:rPr lang="en-US" sz="1793" dirty="0" err="1"/>
              <a:t>SubClass</a:t>
            </a:r>
            <a:r>
              <a:rPr lang="en-US" sz="1793" dirty="0"/>
              <a:t> 2: SubClass1 </a:t>
            </a:r>
          </a:p>
          <a:p>
            <a:r>
              <a:rPr lang="en-US" sz="1793" dirty="0"/>
              <a:t>{ </a:t>
            </a:r>
          </a:p>
          <a:p>
            <a:pPr lvl="1"/>
            <a:r>
              <a:rPr lang="en-US" sz="1793" dirty="0"/>
              <a:t>public SubClass2() </a:t>
            </a:r>
          </a:p>
          <a:p>
            <a:pPr lvl="1"/>
            <a:r>
              <a:rPr lang="en-US" sz="1793" dirty="0"/>
              <a:t>{ </a:t>
            </a:r>
          </a:p>
          <a:p>
            <a:pPr lvl="1"/>
            <a:r>
              <a:rPr lang="en-US" sz="1793" dirty="0"/>
              <a:t>// Default Constructor </a:t>
            </a:r>
          </a:p>
          <a:p>
            <a:pPr lvl="1"/>
            <a:r>
              <a:rPr lang="en-US" sz="1793" dirty="0"/>
              <a:t>} </a:t>
            </a:r>
          </a:p>
          <a:p>
            <a:r>
              <a:rPr lang="en-US" sz="1793" dirty="0"/>
              <a:t>} </a:t>
            </a:r>
            <a:endParaRPr lang="en-IN" sz="1793" dirty="0"/>
          </a:p>
        </p:txBody>
      </p:sp>
      <p:sp>
        <p:nvSpPr>
          <p:cNvPr id="5" name="Rectangle 4"/>
          <p:cNvSpPr/>
          <p:nvPr/>
        </p:nvSpPr>
        <p:spPr>
          <a:xfrm>
            <a:off x="2344831" y="2496660"/>
            <a:ext cx="4016237" cy="367847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793" dirty="0"/>
              <a:t>public class </a:t>
            </a:r>
            <a:r>
              <a:rPr lang="en-US" sz="1793" dirty="0" err="1"/>
              <a:t>BaseClass</a:t>
            </a:r>
            <a:r>
              <a:rPr lang="en-US" sz="1793" dirty="0"/>
              <a:t> </a:t>
            </a:r>
          </a:p>
          <a:p>
            <a:r>
              <a:rPr lang="en-US" sz="1793" dirty="0"/>
              <a:t>{ </a:t>
            </a:r>
          </a:p>
          <a:p>
            <a:pPr lvl="1"/>
            <a:r>
              <a:rPr lang="en-US" sz="1793" dirty="0"/>
              <a:t>public </a:t>
            </a:r>
            <a:r>
              <a:rPr lang="en-US" sz="1793" dirty="0" err="1"/>
              <a:t>BaseClass</a:t>
            </a:r>
            <a:r>
              <a:rPr lang="en-US" sz="1793" dirty="0"/>
              <a:t>() </a:t>
            </a:r>
          </a:p>
          <a:p>
            <a:pPr lvl="1"/>
            <a:r>
              <a:rPr lang="en-US" sz="1793" dirty="0"/>
              <a:t>{ </a:t>
            </a:r>
          </a:p>
          <a:p>
            <a:pPr lvl="1"/>
            <a:r>
              <a:rPr lang="en-US" sz="1793" dirty="0"/>
              <a:t>// Default Constructor </a:t>
            </a:r>
          </a:p>
          <a:p>
            <a:pPr lvl="1"/>
            <a:r>
              <a:rPr lang="en-US" sz="1793" dirty="0"/>
              <a:t>} </a:t>
            </a:r>
          </a:p>
          <a:p>
            <a:r>
              <a:rPr lang="en-US" sz="1793" dirty="0"/>
              <a:t>} </a:t>
            </a:r>
          </a:p>
          <a:p>
            <a:r>
              <a:rPr lang="en-US" sz="1793" dirty="0"/>
              <a:t>public class SubClass1 : </a:t>
            </a:r>
            <a:r>
              <a:rPr lang="en-US" sz="1793" dirty="0" err="1"/>
              <a:t>BaseClass</a:t>
            </a:r>
            <a:r>
              <a:rPr lang="en-US" sz="1793" dirty="0"/>
              <a:t>{ </a:t>
            </a:r>
          </a:p>
          <a:p>
            <a:pPr lvl="1"/>
            <a:r>
              <a:rPr lang="en-US" sz="1793" dirty="0"/>
              <a:t>public SubClass1() </a:t>
            </a:r>
          </a:p>
          <a:p>
            <a:pPr lvl="1"/>
            <a:r>
              <a:rPr lang="en-US" sz="1793" dirty="0"/>
              <a:t>{ </a:t>
            </a:r>
          </a:p>
          <a:p>
            <a:pPr lvl="1"/>
            <a:r>
              <a:rPr lang="en-US" sz="1793" dirty="0"/>
              <a:t>// Default Constructor </a:t>
            </a:r>
          </a:p>
          <a:p>
            <a:pPr lvl="1"/>
            <a:r>
              <a:rPr lang="en-US" sz="1793" dirty="0"/>
              <a:t>} </a:t>
            </a:r>
          </a:p>
          <a:p>
            <a:r>
              <a:rPr lang="en-US" sz="1793" dirty="0"/>
              <a:t>} </a:t>
            </a:r>
            <a:endParaRPr lang="en-IN" sz="1793" dirty="0"/>
          </a:p>
        </p:txBody>
      </p:sp>
      <p:pic>
        <p:nvPicPr>
          <p:cNvPr id="6146" name="Picture 2" descr="Imag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6665" y="1349163"/>
            <a:ext cx="2789092" cy="2670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8475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1528" lvl="1" indent="-341528"/>
            <a:r>
              <a:rPr lang="en-US" dirty="0"/>
              <a:t>Multiple Inheritance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681583" y="4151972"/>
            <a:ext cx="4659258" cy="119550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793" dirty="0"/>
              <a:t>public class Subclass : interface1, interface2 </a:t>
            </a:r>
          </a:p>
          <a:p>
            <a:r>
              <a:rPr lang="en-US" sz="1793" dirty="0"/>
              <a:t>{ </a:t>
            </a:r>
          </a:p>
          <a:p>
            <a:endParaRPr lang="en-US" sz="1793" dirty="0"/>
          </a:p>
          <a:p>
            <a:r>
              <a:rPr lang="en-US" sz="1793" dirty="0"/>
              <a:t>} </a:t>
            </a:r>
            <a:endParaRPr lang="en-IN" sz="1793" dirty="0"/>
          </a:p>
        </p:txBody>
      </p:sp>
      <p:sp>
        <p:nvSpPr>
          <p:cNvPr id="5" name="Rectangle 4"/>
          <p:cNvSpPr/>
          <p:nvPr/>
        </p:nvSpPr>
        <p:spPr>
          <a:xfrm>
            <a:off x="2345873" y="2864507"/>
            <a:ext cx="4016237" cy="25749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793" dirty="0"/>
              <a:t>interface interface1 </a:t>
            </a:r>
          </a:p>
          <a:p>
            <a:r>
              <a:rPr lang="en-US" sz="1793" dirty="0"/>
              <a:t>{ </a:t>
            </a:r>
          </a:p>
          <a:p>
            <a:endParaRPr lang="en-US" sz="1793" dirty="0"/>
          </a:p>
          <a:p>
            <a:r>
              <a:rPr lang="en-US" sz="1793" dirty="0"/>
              <a:t>}</a:t>
            </a:r>
          </a:p>
          <a:p>
            <a:r>
              <a:rPr lang="en-IN" sz="1793" dirty="0"/>
              <a:t>interface interface2 </a:t>
            </a:r>
          </a:p>
          <a:p>
            <a:r>
              <a:rPr lang="en-IN" sz="1793" dirty="0"/>
              <a:t>{</a:t>
            </a:r>
          </a:p>
          <a:p>
            <a:endParaRPr lang="en-IN" sz="1793" dirty="0"/>
          </a:p>
          <a:p>
            <a:r>
              <a:rPr lang="en-IN" sz="1793" dirty="0"/>
              <a:t>} </a:t>
            </a:r>
          </a:p>
          <a:p>
            <a:endParaRPr lang="en-IN" sz="1793" dirty="0"/>
          </a:p>
        </p:txBody>
      </p:sp>
      <p:pic>
        <p:nvPicPr>
          <p:cNvPr id="4098" name="Picture 2" descr="Imag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0059" y="1707756"/>
            <a:ext cx="3474149" cy="2112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5794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Hierarchical Inheritance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54592" y="4074467"/>
            <a:ext cx="4659258" cy="202315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793" dirty="0"/>
              <a:t>public class SubClass2 : </a:t>
            </a:r>
            <a:r>
              <a:rPr lang="en-US" sz="1793" dirty="0" err="1"/>
              <a:t>BaseClass</a:t>
            </a:r>
            <a:r>
              <a:rPr lang="en-US" sz="1793" dirty="0"/>
              <a:t> </a:t>
            </a:r>
          </a:p>
          <a:p>
            <a:r>
              <a:rPr lang="en-US" sz="1793" dirty="0"/>
              <a:t>{ </a:t>
            </a:r>
          </a:p>
          <a:p>
            <a:pPr lvl="1"/>
            <a:r>
              <a:rPr lang="en-US" sz="1793" dirty="0"/>
              <a:t>public SubClass2() </a:t>
            </a:r>
          </a:p>
          <a:p>
            <a:pPr lvl="1"/>
            <a:r>
              <a:rPr lang="en-US" sz="1793" dirty="0"/>
              <a:t>{ </a:t>
            </a:r>
          </a:p>
          <a:p>
            <a:pPr lvl="1"/>
            <a:r>
              <a:rPr lang="en-US" sz="1793" dirty="0"/>
              <a:t>// Default Constructor </a:t>
            </a:r>
          </a:p>
          <a:p>
            <a:pPr lvl="1"/>
            <a:r>
              <a:rPr lang="en-US" sz="1793" dirty="0"/>
              <a:t>} </a:t>
            </a:r>
          </a:p>
          <a:p>
            <a:r>
              <a:rPr lang="en-US" sz="1793" dirty="0"/>
              <a:t>} </a:t>
            </a:r>
            <a:endParaRPr lang="en-IN" sz="1793" dirty="0"/>
          </a:p>
        </p:txBody>
      </p:sp>
      <p:sp>
        <p:nvSpPr>
          <p:cNvPr id="5" name="Rectangle 4"/>
          <p:cNvSpPr/>
          <p:nvPr/>
        </p:nvSpPr>
        <p:spPr>
          <a:xfrm>
            <a:off x="2341301" y="2353223"/>
            <a:ext cx="4016237" cy="423024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793" dirty="0"/>
              <a:t>public class </a:t>
            </a:r>
            <a:r>
              <a:rPr lang="en-US" sz="1793" dirty="0" err="1"/>
              <a:t>BaseClass</a:t>
            </a:r>
            <a:r>
              <a:rPr lang="en-US" sz="1793" dirty="0"/>
              <a:t> </a:t>
            </a:r>
          </a:p>
          <a:p>
            <a:r>
              <a:rPr lang="en-US" sz="1793" dirty="0"/>
              <a:t>{ </a:t>
            </a:r>
          </a:p>
          <a:p>
            <a:pPr lvl="1"/>
            <a:r>
              <a:rPr lang="en-US" sz="1793" dirty="0"/>
              <a:t>public </a:t>
            </a:r>
            <a:r>
              <a:rPr lang="en-US" sz="1793" dirty="0" err="1"/>
              <a:t>BaseClass</a:t>
            </a:r>
            <a:r>
              <a:rPr lang="en-US" sz="1793" dirty="0"/>
              <a:t>() </a:t>
            </a:r>
          </a:p>
          <a:p>
            <a:pPr lvl="1"/>
            <a:r>
              <a:rPr lang="en-US" sz="1793" dirty="0"/>
              <a:t>{                                                                  </a:t>
            </a:r>
            <a:r>
              <a:rPr lang="en-US" sz="1793" dirty="0" err="1"/>
              <a:t>BaseClass</a:t>
            </a:r>
            <a:r>
              <a:rPr lang="en-US" sz="1793" dirty="0"/>
              <a:t> </a:t>
            </a:r>
          </a:p>
          <a:p>
            <a:pPr lvl="1"/>
            <a:r>
              <a:rPr lang="en-US" sz="1793" dirty="0"/>
              <a:t>// Default Constructor                                                    </a:t>
            </a:r>
          </a:p>
          <a:p>
            <a:pPr lvl="1"/>
            <a:r>
              <a:rPr lang="en-US" sz="1793" dirty="0"/>
              <a:t>}                                                                      </a:t>
            </a:r>
          </a:p>
          <a:p>
            <a:r>
              <a:rPr lang="en-US" sz="1793" dirty="0"/>
              <a:t>} </a:t>
            </a:r>
          </a:p>
          <a:p>
            <a:r>
              <a:rPr lang="en-US" sz="1793" dirty="0"/>
              <a:t>public class SubClass1 : </a:t>
            </a:r>
            <a:r>
              <a:rPr lang="en-US" sz="1793" dirty="0" err="1"/>
              <a:t>BaseClass</a:t>
            </a:r>
            <a:r>
              <a:rPr lang="en-US" sz="1793" dirty="0"/>
              <a:t> </a:t>
            </a:r>
          </a:p>
          <a:p>
            <a:r>
              <a:rPr lang="en-US" sz="1793" dirty="0"/>
              <a:t>{ </a:t>
            </a:r>
          </a:p>
          <a:p>
            <a:pPr lvl="1"/>
            <a:r>
              <a:rPr lang="en-US" sz="1793" dirty="0"/>
              <a:t>public SubClass1()                                                   </a:t>
            </a:r>
          </a:p>
          <a:p>
            <a:pPr lvl="1"/>
            <a:r>
              <a:rPr lang="en-US" sz="1793" dirty="0"/>
              <a:t>{ </a:t>
            </a:r>
          </a:p>
          <a:p>
            <a:pPr lvl="1"/>
            <a:r>
              <a:rPr lang="en-US" sz="1793" dirty="0"/>
              <a:t>// Default Constructor </a:t>
            </a:r>
          </a:p>
          <a:p>
            <a:pPr lvl="1"/>
            <a:r>
              <a:rPr lang="en-US" sz="1793" dirty="0"/>
              <a:t>} </a:t>
            </a:r>
          </a:p>
          <a:p>
            <a:r>
              <a:rPr lang="en-US" sz="1793" dirty="0"/>
              <a:t>} </a:t>
            </a:r>
            <a:endParaRPr lang="en-IN" sz="1793" dirty="0"/>
          </a:p>
        </p:txBody>
      </p:sp>
      <p:pic>
        <p:nvPicPr>
          <p:cNvPr id="5122" name="Picture 2" descr="Imag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239" y="1636037"/>
            <a:ext cx="4202611" cy="2068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8759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Hybrid Inheritance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54592" y="4074467"/>
            <a:ext cx="4659258" cy="119550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793" dirty="0"/>
              <a:t>public class DerSubClass2 : Class2</a:t>
            </a:r>
          </a:p>
          <a:p>
            <a:r>
              <a:rPr lang="en-US" sz="1793" dirty="0"/>
              <a:t>{ </a:t>
            </a:r>
          </a:p>
          <a:p>
            <a:endParaRPr lang="en-US" sz="1793" dirty="0"/>
          </a:p>
          <a:p>
            <a:r>
              <a:rPr lang="en-US" sz="1793" dirty="0"/>
              <a:t>} </a:t>
            </a:r>
            <a:endParaRPr lang="en-IN" sz="1793" dirty="0"/>
          </a:p>
        </p:txBody>
      </p:sp>
      <p:sp>
        <p:nvSpPr>
          <p:cNvPr id="5" name="Rectangle 4"/>
          <p:cNvSpPr/>
          <p:nvPr/>
        </p:nvSpPr>
        <p:spPr>
          <a:xfrm>
            <a:off x="2341301" y="2353222"/>
            <a:ext cx="4016237" cy="340258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793" dirty="0"/>
              <a:t>public class Class1 </a:t>
            </a:r>
          </a:p>
          <a:p>
            <a:r>
              <a:rPr lang="en-US" sz="1793" dirty="0"/>
              <a:t>{ </a:t>
            </a:r>
          </a:p>
          <a:p>
            <a:endParaRPr lang="en-US" sz="1793" dirty="0"/>
          </a:p>
          <a:p>
            <a:r>
              <a:rPr lang="en-US" sz="1793" dirty="0"/>
              <a:t>} </a:t>
            </a:r>
          </a:p>
          <a:p>
            <a:r>
              <a:rPr lang="en-US" sz="1793" dirty="0"/>
              <a:t>public class Class2 : Class1 </a:t>
            </a:r>
          </a:p>
          <a:p>
            <a:r>
              <a:rPr lang="en-US" sz="1793" dirty="0"/>
              <a:t>{ </a:t>
            </a:r>
          </a:p>
          <a:p>
            <a:endParaRPr lang="en-US" sz="1793" dirty="0"/>
          </a:p>
          <a:p>
            <a:r>
              <a:rPr lang="en-US" sz="1793" dirty="0"/>
              <a:t>}</a:t>
            </a:r>
          </a:p>
          <a:p>
            <a:r>
              <a:rPr lang="en-US" sz="1793" dirty="0"/>
              <a:t>public class DerSubClass1 : Class2 </a:t>
            </a:r>
          </a:p>
          <a:p>
            <a:r>
              <a:rPr lang="en-US" sz="1793" dirty="0"/>
              <a:t>{</a:t>
            </a:r>
          </a:p>
          <a:p>
            <a:endParaRPr lang="en-US" sz="1793" dirty="0"/>
          </a:p>
          <a:p>
            <a:r>
              <a:rPr lang="en-US" sz="1793" dirty="0"/>
              <a:t>} </a:t>
            </a:r>
            <a:endParaRPr lang="en-IN" sz="1793" dirty="0"/>
          </a:p>
        </p:txBody>
      </p:sp>
    </p:spTree>
    <p:extLst>
      <p:ext uri="{BB962C8B-B14F-4D97-AF65-F5344CB8AC3E}">
        <p14:creationId xmlns:p14="http://schemas.microsoft.com/office/powerpoint/2010/main" val="1071906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Here we </a:t>
            </a:r>
            <a:r>
              <a:rPr lang="en-US" dirty="0"/>
              <a:t>got a bunch of very similar forms in </a:t>
            </a:r>
            <a:r>
              <a:rPr lang="en-US" dirty="0" smtClean="0"/>
              <a:t>the windows </a:t>
            </a:r>
            <a:r>
              <a:rPr lang="en-US" dirty="0"/>
              <a:t>application, so </a:t>
            </a:r>
            <a:r>
              <a:rPr lang="en-US" dirty="0" smtClean="0"/>
              <a:t>here trying </a:t>
            </a:r>
            <a:r>
              <a:rPr lang="en-US" dirty="0"/>
              <a:t>to use one as a master form and inherit from it for the other forms</a:t>
            </a:r>
            <a:r>
              <a:rPr lang="en-US" dirty="0" smtClean="0"/>
              <a:t>.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567" y="3458746"/>
            <a:ext cx="7673881" cy="276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1534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373" y="1922912"/>
            <a:ext cx="8660301" cy="4274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5050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268" y="1851193"/>
            <a:ext cx="10195270" cy="4208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297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890" y="1922911"/>
            <a:ext cx="8830591" cy="4087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233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268" y="2424941"/>
            <a:ext cx="10473226" cy="3453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2699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126" y="1564319"/>
            <a:ext cx="4876168" cy="4658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7096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C#'s access modifiers</a:t>
            </a:r>
          </a:p>
        </p:txBody>
      </p:sp>
      <p:pic>
        <p:nvPicPr>
          <p:cNvPr id="1026" name="Picture 2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986" y="1848523"/>
            <a:ext cx="10349817" cy="4317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0630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Poly</a:t>
            </a:r>
            <a:r>
              <a:rPr lang="en-US" dirty="0"/>
              <a:t> means ―</a:t>
            </a:r>
            <a:r>
              <a:rPr lang="en-US" dirty="0" smtClean="0"/>
              <a:t>many </a:t>
            </a:r>
            <a:r>
              <a:rPr lang="en-US" dirty="0"/>
              <a:t>and </a:t>
            </a:r>
            <a:r>
              <a:rPr lang="en-US" b="1" dirty="0"/>
              <a:t>morph</a:t>
            </a:r>
            <a:r>
              <a:rPr lang="en-US" dirty="0"/>
              <a:t> means ―</a:t>
            </a:r>
            <a:r>
              <a:rPr lang="en-US" dirty="0" smtClean="0"/>
              <a:t>form).</a:t>
            </a:r>
          </a:p>
          <a:p>
            <a:r>
              <a:rPr lang="en-US" dirty="0" smtClean="0"/>
              <a:t>Polymorphism </a:t>
            </a:r>
            <a:r>
              <a:rPr lang="en-US" dirty="0"/>
              <a:t>means the ability to take more </a:t>
            </a:r>
            <a:r>
              <a:rPr lang="en-US" dirty="0" smtClean="0"/>
              <a:t>than </a:t>
            </a:r>
            <a:r>
              <a:rPr lang="en-US" dirty="0"/>
              <a:t>one </a:t>
            </a:r>
            <a:r>
              <a:rPr lang="en-US" dirty="0" smtClean="0"/>
              <a:t>form.</a:t>
            </a:r>
          </a:p>
          <a:p>
            <a:r>
              <a:rPr lang="en-US" dirty="0" smtClean="0"/>
              <a:t>Polymorphism </a:t>
            </a:r>
            <a:r>
              <a:rPr lang="en-US" dirty="0"/>
              <a:t>plays a main role in allocate objects having different internal </a:t>
            </a:r>
            <a:r>
              <a:rPr lang="en-US" dirty="0" smtClean="0"/>
              <a:t>structures </a:t>
            </a:r>
            <a:r>
              <a:rPr lang="en-US" dirty="0"/>
              <a:t>to share the same external interface. </a:t>
            </a:r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Polymorphism</a:t>
            </a:r>
          </a:p>
        </p:txBody>
      </p:sp>
    </p:spTree>
    <p:extLst>
      <p:ext uri="{BB962C8B-B14F-4D97-AF65-F5344CB8AC3E}">
        <p14:creationId xmlns:p14="http://schemas.microsoft.com/office/powerpoint/2010/main" val="2610444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means that a general class of operations may be accessed in the same manner even though specific activities associated with each operation may differ. </a:t>
            </a:r>
          </a:p>
          <a:p>
            <a:r>
              <a:rPr lang="en-US" dirty="0"/>
              <a:t>Polymorphism is broadly used in implementing inheritance. 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Polymorphism</a:t>
            </a:r>
          </a:p>
        </p:txBody>
      </p:sp>
    </p:spTree>
    <p:extLst>
      <p:ext uri="{BB962C8B-B14F-4D97-AF65-F5344CB8AC3E}">
        <p14:creationId xmlns:p14="http://schemas.microsoft.com/office/powerpoint/2010/main" val="2620365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Overloading happens on methods. It means that a method does a specific job according to the parameter that the user provides.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Polymorphism</a:t>
            </a:r>
          </a:p>
        </p:txBody>
      </p:sp>
      <p:pic>
        <p:nvPicPr>
          <p:cNvPr id="1026" name="Picture 2" descr="Method Overloading, Overriding and Hid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836" y="2865344"/>
            <a:ext cx="5838825" cy="2732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9959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Compile </a:t>
            </a:r>
            <a:r>
              <a:rPr lang="en-IN" dirty="0"/>
              <a:t>Time </a:t>
            </a:r>
            <a:r>
              <a:rPr lang="en-IN" dirty="0" smtClean="0"/>
              <a:t>Polymorphism</a:t>
            </a:r>
          </a:p>
          <a:p>
            <a:pPr lvl="1"/>
            <a:r>
              <a:rPr lang="en-US" dirty="0"/>
              <a:t>Compile time polymorphism is method and operators overloading. It is also called early binding.</a:t>
            </a:r>
          </a:p>
          <a:p>
            <a:pPr lvl="1"/>
            <a:r>
              <a:rPr lang="en-US" dirty="0" smtClean="0"/>
              <a:t>In </a:t>
            </a:r>
            <a:r>
              <a:rPr lang="en-US" dirty="0"/>
              <a:t>method overloading method performs the different task at the different input parameters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There is no limit to how many overload of a method you can have. 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Polymorphism</a:t>
            </a:r>
          </a:p>
        </p:txBody>
      </p:sp>
    </p:spTree>
    <p:extLst>
      <p:ext uri="{BB962C8B-B14F-4D97-AF65-F5344CB8AC3E}">
        <p14:creationId xmlns:p14="http://schemas.microsoft.com/office/powerpoint/2010/main" val="4238584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88831" y="1564319"/>
            <a:ext cx="10515601" cy="4333845"/>
          </a:xfrm>
        </p:spPr>
        <p:txBody>
          <a:bodyPr/>
          <a:lstStyle/>
          <a:p>
            <a:r>
              <a:rPr lang="en-US" dirty="0"/>
              <a:t>Runtime Time </a:t>
            </a:r>
            <a:r>
              <a:rPr lang="en-US" dirty="0" smtClean="0"/>
              <a:t>Polymorphism</a:t>
            </a:r>
          </a:p>
          <a:p>
            <a:pPr lvl="1"/>
            <a:r>
              <a:rPr lang="en-US" dirty="0" smtClean="0"/>
              <a:t>Runtime </a:t>
            </a:r>
            <a:r>
              <a:rPr lang="en-US" dirty="0"/>
              <a:t>time polymorphism is done using inheritance and virtual functions. Method overriding is called runtime polymorphism. It is also called late </a:t>
            </a:r>
            <a:r>
              <a:rPr lang="en-US" dirty="0" smtClean="0"/>
              <a:t>binding.</a:t>
            </a:r>
          </a:p>
          <a:p>
            <a:pPr lvl="1"/>
            <a:r>
              <a:rPr lang="en-US" dirty="0" smtClean="0"/>
              <a:t>When </a:t>
            </a:r>
            <a:r>
              <a:rPr lang="en-US" dirty="0"/>
              <a:t>overriding a method, you change the behavior of the method for the derived class.  Overloading a method simply involves having another method </a:t>
            </a:r>
            <a:r>
              <a:rPr lang="en-US" dirty="0" smtClean="0"/>
              <a:t>with </a:t>
            </a:r>
            <a:r>
              <a:rPr lang="en-US" dirty="0"/>
              <a:t>the same prototype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Whereas </a:t>
            </a:r>
            <a:r>
              <a:rPr lang="en-US" b="1" dirty="0" smtClean="0"/>
              <a:t>Overriding</a:t>
            </a:r>
            <a:r>
              <a:rPr lang="en-US" dirty="0" smtClean="0"/>
              <a:t> means changing the functionality of a method without changing the signature. </a:t>
            </a:r>
          </a:p>
          <a:p>
            <a:pPr lvl="1"/>
            <a:r>
              <a:rPr lang="en-US" dirty="0" smtClean="0"/>
              <a:t>This is done by using virtual/override keywords.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Polymorphism</a:t>
            </a:r>
          </a:p>
        </p:txBody>
      </p:sp>
    </p:spTree>
    <p:extLst>
      <p:ext uri="{BB962C8B-B14F-4D97-AF65-F5344CB8AC3E}">
        <p14:creationId xmlns:p14="http://schemas.microsoft.com/office/powerpoint/2010/main" val="3827527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Derived class contains data and methods defined in the original class</a:t>
            </a:r>
          </a:p>
          <a:p>
            <a:r>
              <a:rPr lang="en-US" dirty="0"/>
              <a:t>Polymorphism</a:t>
            </a:r>
          </a:p>
          <a:p>
            <a:pPr lvl="1"/>
            <a:r>
              <a:rPr lang="en-US" dirty="0"/>
              <a:t>Using the same method or property name to indicate different implementations</a:t>
            </a:r>
          </a:p>
          <a:p>
            <a:pPr lvl="1"/>
            <a:r>
              <a:rPr lang="en-US" dirty="0"/>
              <a:t>Derived class can override and hide methods and data from the base class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Concept of Function Overriding</a:t>
            </a:r>
          </a:p>
        </p:txBody>
      </p:sp>
    </p:spTree>
    <p:extLst>
      <p:ext uri="{BB962C8B-B14F-4D97-AF65-F5344CB8AC3E}">
        <p14:creationId xmlns:p14="http://schemas.microsoft.com/office/powerpoint/2010/main" val="311992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Contd.,</a:t>
            </a:r>
            <a:endParaRPr lang="en-IN" dirty="0"/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888397" y="1844465"/>
            <a:ext cx="4885508" cy="432632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>
            <a:noAutofit/>
          </a:bodyPr>
          <a:lstStyle/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using System;</a:t>
            </a:r>
            <a:endParaRPr lang="en-US" sz="1793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class 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Car </a:t>
            </a:r>
            <a:endParaRPr lang="en-US" sz="1793" b="1" noProof="1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public Car() 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 Name = "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NoName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";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NumberOfDoors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3; 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 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public Car(string name,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numberOfDoors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 Name = name;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NumberOfDoors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numberOfDoors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 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public Car(string name) 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 Name = name;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NumberOfDoors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0; 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 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6462927" y="1844465"/>
            <a:ext cx="4885508" cy="432632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>
            <a:noAutofit/>
          </a:bodyPr>
          <a:lstStyle/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public Car(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numberOfDoors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 Name = "";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NumberOfDoors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numberOfDoors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ODLExce</a:t>
            </a:r>
            <a:endParaRPr lang="en-IN" sz="1793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static void Main(string[]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Car c1 = new Car(); 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Car c2 = new Car( 3 ); 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Car c3 = new Car( "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MyName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" ); 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Car c4 = new Car( "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MyName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", 4 );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(c1.NumberOfDoors );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(c1.Name );</a:t>
            </a:r>
          </a:p>
          <a:p>
            <a:r>
              <a:rPr lang="en-IN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sz="1793" b="1" noProof="1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407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dirty="0"/>
              <a:t>Virtual keyword is used for generating a virtual path for its derived classes on implementing method overriding</a:t>
            </a:r>
            <a:r>
              <a:rPr lang="en-US" dirty="0" smtClean="0"/>
              <a:t>.</a:t>
            </a:r>
          </a:p>
          <a:p>
            <a:r>
              <a:rPr lang="en-US" dirty="0"/>
              <a:t>Polymorphism provides a way for a subclass to define its own version of a method defined by its base class, using the process termed </a:t>
            </a:r>
            <a:r>
              <a:rPr lang="en-US" i="1" dirty="0"/>
              <a:t>method </a:t>
            </a:r>
            <a:r>
              <a:rPr lang="en-US" i="1" dirty="0" smtClean="0"/>
              <a:t>overriding</a:t>
            </a:r>
            <a:r>
              <a:rPr lang="en-US" dirty="0" smtClean="0"/>
              <a:t> </a:t>
            </a:r>
            <a:r>
              <a:rPr lang="en-US" dirty="0"/>
              <a:t>runtime </a:t>
            </a:r>
            <a:r>
              <a:rPr lang="en-US" dirty="0" smtClean="0"/>
              <a:t>polymorphism Causes </a:t>
            </a:r>
            <a:r>
              <a:rPr lang="en-US" dirty="0"/>
              <a:t>late </a:t>
            </a:r>
            <a:r>
              <a:rPr lang="en-US" dirty="0" smtClean="0"/>
              <a:t>binding.</a:t>
            </a:r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New keyword is also used for polymorphism but in the case of method overriding</a:t>
            </a:r>
            <a:r>
              <a:rPr lang="en-US" dirty="0" smtClean="0"/>
              <a:t>.</a:t>
            </a:r>
          </a:p>
          <a:p>
            <a:r>
              <a:rPr lang="en-US" dirty="0"/>
              <a:t>New keyword</a:t>
            </a:r>
            <a:r>
              <a:rPr lang="en-US" dirty="0" smtClean="0"/>
              <a:t> </a:t>
            </a:r>
            <a:r>
              <a:rPr lang="en-US" dirty="0"/>
              <a:t>is compile-time polymorphism Causes early </a:t>
            </a:r>
            <a:r>
              <a:rPr lang="en-US" dirty="0" smtClean="0"/>
              <a:t>binding.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virtual and override Keywords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0789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Method </a:t>
            </a:r>
            <a:r>
              <a:rPr lang="en-IN" dirty="0" err="1" smtClean="0"/>
              <a:t>Overhiding</a:t>
            </a:r>
            <a:endParaRPr lang="en-IN" dirty="0"/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849884" y="1882944"/>
            <a:ext cx="4885508" cy="359518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>
            <a:noAutofit/>
          </a:bodyPr>
          <a:lstStyle/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class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GroupAgent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{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public void show()  {    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("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GroupAgent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Created !!!");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Console.ReadLine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class Agent :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GroupAgent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{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public new void show()      {           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("Agent Created !!!!");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Console.ReadLine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6450048" y="1882943"/>
            <a:ext cx="4885508" cy="359518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>
            <a:noAutofit/>
          </a:bodyPr>
          <a:lstStyle/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class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endParaRPr lang="en-IN" sz="1793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{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public static void Main()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GroupAgent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a1 = new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GroupAgent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a1.show();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Agent b1 = new Agent();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b1.show();</a:t>
            </a:r>
          </a:p>
          <a:p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GroupAgent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a2 = new Agent();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a2.show();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01" y="1902437"/>
            <a:ext cx="10485672" cy="3710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1866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 Overriding</a:t>
            </a: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849884" y="1882943"/>
            <a:ext cx="4885508" cy="35695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>
            <a:noAutofit/>
          </a:bodyPr>
          <a:lstStyle/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class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GroupAgent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{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public virtual  void show()  {    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("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GroupAgent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Created !!!");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Console.ReadLine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class Agent :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GroupAgent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{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public override void show() {           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("Agent Created !!!!");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Console.ReadLine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6450048" y="1882942"/>
            <a:ext cx="4885508" cy="356953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>
            <a:noAutofit/>
          </a:bodyPr>
          <a:lstStyle/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class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endParaRPr lang="en-IN" sz="1793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{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public static void Main()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GroupAgent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a1 = new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GroupAgent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a1.show();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Agent b1 = new Agent();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b1.show();</a:t>
            </a:r>
          </a:p>
          <a:p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GroupAgent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a2 = new Agent();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a2.show();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884" y="1882943"/>
            <a:ext cx="10485672" cy="3974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30752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abstract class cannot be instantiated. The purpose of an abstract class is to provide a common definition of a base class that multiple derived classes can share. 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Abstract Class, </a:t>
            </a:r>
            <a:r>
              <a:rPr lang="en-US" dirty="0" smtClean="0"/>
              <a:t>Abstract Methods &amp; </a:t>
            </a:r>
            <a:r>
              <a:rPr lang="en-US" dirty="0"/>
              <a:t>Sealed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0812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that a </a:t>
            </a:r>
            <a:r>
              <a:rPr lang="en-US" i="1" dirty="0"/>
              <a:t>sealed </a:t>
            </a:r>
            <a:r>
              <a:rPr lang="en-US" dirty="0"/>
              <a:t>class cannot be extended by other classes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A </a:t>
            </a:r>
            <a:r>
              <a:rPr lang="en-US" dirty="0"/>
              <a:t>sealed class is class that cannot be inherited. </a:t>
            </a:r>
            <a:endParaRPr lang="en-US" dirty="0" smtClean="0"/>
          </a:p>
          <a:p>
            <a:r>
              <a:rPr lang="en-US" dirty="0" smtClean="0"/>
              <a:t>When </a:t>
            </a:r>
            <a:r>
              <a:rPr lang="en-US" dirty="0"/>
              <a:t>you mark a class as sealed using the sealed keyword, any attempts by </a:t>
            </a:r>
            <a:r>
              <a:rPr lang="en-US" dirty="0" smtClean="0"/>
              <a:t>the other classes to derive from it will fail.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Sealed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7450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sealed method prevents a derived class from further overriding of method in the next level derived class. </a:t>
            </a:r>
          </a:p>
          <a:p>
            <a:r>
              <a:rPr lang="en-US" dirty="0"/>
              <a:t> The method declaration specified with sealed modifier must also include the override modifier.</a:t>
            </a:r>
            <a:endParaRPr lang="en-IN" dirty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Contd.,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4701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also sealed to prevent from further overriding the method.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Contd.,</a:t>
            </a:r>
            <a:endParaRPr lang="en-IN" dirty="0"/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957791" y="2747676"/>
            <a:ext cx="4885508" cy="341047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>
            <a:noAutofit/>
          </a:bodyPr>
          <a:lstStyle/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class Agent :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GroupAgent</a:t>
            </a:r>
            <a:endParaRPr lang="en-IN" sz="1793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{</a:t>
            </a:r>
          </a:p>
          <a:p>
            <a:r>
              <a:rPr lang="en-US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public sealed override void show()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("Agent Created !!!!");</a:t>
            </a:r>
          </a:p>
          <a:p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Console.ReadLine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  <a:endParaRPr lang="en-US" sz="1793" b="1" noProof="1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6014435" y="2747674"/>
            <a:ext cx="5081300" cy="341047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>
            <a:noAutofit/>
          </a:bodyPr>
          <a:lstStyle/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class Booking : Agent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{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public override void show()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("Booking Created !!!!");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Console.ReadLine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  <a:endParaRPr lang="en-US" sz="1793" b="1" noProof="1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5992419" y="2747674"/>
            <a:ext cx="5125330" cy="342311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>
            <a:noAutofit/>
          </a:bodyPr>
          <a:lstStyle/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class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endParaRPr lang="en-IN" sz="1793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{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public static void Main()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GroupAgent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a1 = new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GroupAgent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a1.show();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Agent b1 = new Agent();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b1.show();</a:t>
            </a:r>
          </a:p>
          <a:p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GroupAgent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a2 = new Agent();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a2.show();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791" y="2645121"/>
            <a:ext cx="10159958" cy="3525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3199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4" grpId="0" animBg="1"/>
      <p:bldP spid="5" grpId="0" animBg="1"/>
      <p:bldP spid="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Contd.,</a:t>
            </a:r>
            <a:endParaRPr lang="en-IN" dirty="0"/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862886" y="1873716"/>
            <a:ext cx="4980414" cy="327090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>
            <a:noAutofit/>
          </a:bodyPr>
          <a:lstStyle/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class Agent :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GroupAgent</a:t>
            </a:r>
            <a:endParaRPr lang="en-IN" sz="1793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{</a:t>
            </a:r>
          </a:p>
          <a:p>
            <a:r>
              <a:rPr lang="en-US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public sealed override void show()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("Agent Created !!!!");</a:t>
            </a:r>
          </a:p>
          <a:p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Console.ReadLine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  <a:endParaRPr lang="en-US" sz="1793" b="1" noProof="1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6429166" y="1873715"/>
            <a:ext cx="4885508" cy="32709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>
            <a:noAutofit/>
          </a:bodyPr>
          <a:lstStyle/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class Booking : Agent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{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public  new void show()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("Booking Created !!!!");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Console.ReadLine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  <a:endParaRPr lang="en-US" sz="1793" b="1" noProof="1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6429168" y="1875433"/>
            <a:ext cx="4870021" cy="310244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>
            <a:noAutofit/>
          </a:bodyPr>
          <a:lstStyle/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class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{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public static void Main()   {</a:t>
            </a:r>
          </a:p>
          <a:p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GroupAgent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a1 = new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GroupAgent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a1.show();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Agent b1 = new Agent();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b1.show();</a:t>
            </a:r>
          </a:p>
          <a:p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GroupAgent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a2 = new Agent();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a2.show();</a:t>
            </a:r>
          </a:p>
          <a:p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GroupAgent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a3 = new Booking();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a3.show();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695" y="1721418"/>
            <a:ext cx="10451791" cy="3410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0887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4" grpId="0" animBg="1"/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1538</TotalTime>
  <Words>1993</Words>
  <Application>Microsoft Office PowerPoint</Application>
  <PresentationFormat>Widescreen</PresentationFormat>
  <Paragraphs>449</Paragraphs>
  <Slides>50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Arial</vt:lpstr>
      <vt:lpstr>Calibri</vt:lpstr>
      <vt:lpstr>Calibri Light</vt:lpstr>
      <vt:lpstr>Courier New</vt:lpstr>
      <vt:lpstr>Office Theme</vt:lpstr>
      <vt:lpstr>Day-3</vt:lpstr>
      <vt:lpstr>OOPs Concepts</vt:lpstr>
      <vt:lpstr>Class</vt:lpstr>
      <vt:lpstr>Class</vt:lpstr>
      <vt:lpstr>Object</vt:lpstr>
      <vt:lpstr>Object</vt:lpstr>
      <vt:lpstr>Constructor and Destructor</vt:lpstr>
      <vt:lpstr>Constructor and Destructor</vt:lpstr>
      <vt:lpstr>Constructor and Destructor</vt:lpstr>
      <vt:lpstr>Constructor and Destructor</vt:lpstr>
      <vt:lpstr>Constructor and Destructor</vt:lpstr>
      <vt:lpstr>Constructor and Destructor</vt:lpstr>
      <vt:lpstr>Constructor and Destructor</vt:lpstr>
      <vt:lpstr>Enumeration</vt:lpstr>
      <vt:lpstr>Enumeration</vt:lpstr>
      <vt:lpstr>Enumeration</vt:lpstr>
      <vt:lpstr>Enumeration</vt:lpstr>
      <vt:lpstr>Enumeration</vt:lpstr>
      <vt:lpstr>Enumeration</vt:lpstr>
      <vt:lpstr>Inheritance</vt:lpstr>
      <vt:lpstr>Inheritance</vt:lpstr>
      <vt:lpstr>Inheritance</vt:lpstr>
      <vt:lpstr>Inheritance</vt:lpstr>
      <vt:lpstr>Inheritance</vt:lpstr>
      <vt:lpstr>Inheritance</vt:lpstr>
      <vt:lpstr>Inheritance</vt:lpstr>
      <vt:lpstr>Inheritance</vt:lpstr>
      <vt:lpstr>Inheritance</vt:lpstr>
      <vt:lpstr>Inheritance</vt:lpstr>
      <vt:lpstr>Inheritance</vt:lpstr>
      <vt:lpstr>Inheritance</vt:lpstr>
      <vt:lpstr>Inheritance</vt:lpstr>
      <vt:lpstr>Inheritance</vt:lpstr>
      <vt:lpstr>Inheritance</vt:lpstr>
      <vt:lpstr>C#'s access modifiers</vt:lpstr>
      <vt:lpstr>Polymorphism</vt:lpstr>
      <vt:lpstr>Polymorphism</vt:lpstr>
      <vt:lpstr>Polymorphism</vt:lpstr>
      <vt:lpstr>Polymorphism</vt:lpstr>
      <vt:lpstr>Polymorphism</vt:lpstr>
      <vt:lpstr>Concept of Function Overriding</vt:lpstr>
      <vt:lpstr>Contd.,</vt:lpstr>
      <vt:lpstr>The virtual and override Keywords</vt:lpstr>
      <vt:lpstr>Method Overhiding</vt:lpstr>
      <vt:lpstr>Method Overriding</vt:lpstr>
      <vt:lpstr>Abstract Class, Abstract Methods &amp; Sealed Class</vt:lpstr>
      <vt:lpstr>Sealed Class</vt:lpstr>
      <vt:lpstr>Contd.,</vt:lpstr>
      <vt:lpstr>Contd.,</vt:lpstr>
      <vt:lpstr>Contd.,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Day-2</dc:title>
  <dc:creator>Windows User</dc:creator>
  <cp:lastModifiedBy>Microsoft account</cp:lastModifiedBy>
  <cp:revision>5</cp:revision>
  <dcterms:created xsi:type="dcterms:W3CDTF">2021-09-29T14:21:58Z</dcterms:created>
  <dcterms:modified xsi:type="dcterms:W3CDTF">2026-02-19T04:42:17Z</dcterms:modified>
</cp:coreProperties>
</file>